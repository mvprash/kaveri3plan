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103120"/>
            <a:ext cx="5943600" cy="5943600"/>
          </a:xfrm>
          <a:prstGeom prst="ellipse">
            <a:avLst/>
          </a:prstGeom>
          <a:solidFill>
            <a:srgbClr val="141A47"/>
          </a:solidFill>
          <a:ln/>
        </p:spPr>
      </p:sp>
      <p:sp>
        <p:nvSpPr>
          <p:cNvPr id="3" name="Shape 1"/>
          <p:cNvSpPr/>
          <p:nvPr/>
        </p:nvSpPr>
        <p:spPr>
          <a:xfrm>
            <a:off x="-2377440" y="4206240"/>
            <a:ext cx="4937760" cy="4937760"/>
          </a:xfrm>
          <a:prstGeom prst="ellipse">
            <a:avLst/>
          </a:prstGeom>
          <a:solidFill>
            <a:srgbClr val="141A47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96596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KAVERI 3.0  ·  DOCUMENT REGISTRATION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377440"/>
            <a:ext cx="10789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Requirement Discussion — Daily Summary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57200" y="35204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Acts · Rules · Sections · Notifications · Pain Points · Committee Suggestions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59893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Aug – 02 Sep 2026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63093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Discussions · Daily Reports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9184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Discussion Timeline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96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working sessions covered in this deck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11274552" cy="1140714"/>
          </a:xfrm>
          <a:prstGeom prst="roundRect">
            <a:avLst>
              <a:gd name="adj" fmla="val 6413"/>
            </a:avLst>
          </a:prstGeom>
          <a:solidFill>
            <a:srgbClr val="FFFFFF"/>
          </a:solidFill>
          <a:ln w="12700">
            <a:solidFill>
              <a:srgbClr val="DDE3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6D6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941957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941957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71600" y="1673352"/>
            <a:ext cx="2103120" cy="9944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27-08-2026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566160" y="1673352"/>
            <a:ext cx="7708392" cy="9944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 core — Registration, Appointment, Status tracking (process walkthrough)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57200" y="2942082"/>
            <a:ext cx="11274552" cy="1140714"/>
          </a:xfrm>
          <a:prstGeom prst="roundRect">
            <a:avLst>
              <a:gd name="adj" fmla="val 6413"/>
            </a:avLst>
          </a:prstGeom>
          <a:solidFill>
            <a:srgbClr val="FFFFFF"/>
          </a:solidFill>
          <a:ln w="12700">
            <a:solidFill>
              <a:srgbClr val="DDE3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6D6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85800" y="3283839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3283839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371600" y="3015234"/>
            <a:ext cx="2103120" cy="9944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28-08-2026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566160" y="3015234"/>
            <a:ext cx="7708392" cy="9944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 core (contd.) — SR approval workflow, slot booking, payment, stamp/guidance value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57200" y="4283964"/>
            <a:ext cx="11274552" cy="1140714"/>
          </a:xfrm>
          <a:prstGeom prst="roundRect">
            <a:avLst>
              <a:gd name="adj" fmla="val 6413"/>
            </a:avLst>
          </a:prstGeom>
          <a:solidFill>
            <a:srgbClr val="FFFFFF"/>
          </a:solidFill>
          <a:ln w="12700">
            <a:solidFill>
              <a:srgbClr val="DDE3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6D6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85800" y="4625721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4625721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371600" y="4357116"/>
            <a:ext cx="2103120" cy="9944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01-09-2026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566160" y="4357116"/>
            <a:ext cx="7708392" cy="9944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Guideline value calculation, Valuation Module (CVC) and GIS valuation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57200" y="5625846"/>
            <a:ext cx="11274552" cy="1140714"/>
          </a:xfrm>
          <a:prstGeom prst="roundRect">
            <a:avLst>
              <a:gd name="adj" fmla="val 6413"/>
            </a:avLst>
          </a:prstGeom>
          <a:solidFill>
            <a:srgbClr val="FFFFFF"/>
          </a:solidFill>
          <a:ln w="12700">
            <a:solidFill>
              <a:srgbClr val="DDE3F2"/>
            </a:solidFill>
            <a:prstDash val="solid"/>
          </a:ln>
          <a:effectLst>
            <a:outerShdw sx="100000" sy="100000" kx="0" ky="0" algn="bl" rotWithShape="0" blurRad="76200" dist="25400" dir="5400000">
              <a:srgbClr val="9AA6D6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85800" y="5967603"/>
            <a:ext cx="457200" cy="45720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5967603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371600" y="5698998"/>
            <a:ext cx="2103120" cy="9944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02-09-2026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3566160" y="5698998"/>
            <a:ext cx="7708392" cy="9944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17(1)/(2)/(3) filing, Old pending release, e-filing from Govt / Institutional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46720" y="3291840"/>
            <a:ext cx="6400800" cy="6400800"/>
          </a:xfrm>
          <a:prstGeom prst="ellipse">
            <a:avLst/>
          </a:prstGeom>
          <a:solidFill>
            <a:srgbClr val="141A4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745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9601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 August 2026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342900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 core: Registration, Appointment, Status tracking — current issues &amp; process walkthrough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4709160"/>
            <a:ext cx="10058400" cy="18288"/>
          </a:xfrm>
          <a:prstGeom prst="rect">
            <a:avLst/>
          </a:prstGeom>
          <a:solidFill>
            <a:srgbClr val="4A5490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48920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889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ATTENDEES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516636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7C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Kaveri IT Cell · AIGR Comp · Project Manager · Assistant Manager (CMS)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060704" y="329184"/>
            <a:ext cx="106710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Committee Suggestions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060704" y="841248"/>
            <a:ext cx="10671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96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walkthrough — improvement points raised for Registration, Appointment &amp; Status tracking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3605784" cy="2263140"/>
          </a:xfrm>
          <a:prstGeom prst="roundRect">
            <a:avLst>
              <a:gd name="adj" fmla="val 2828"/>
            </a:avLst>
          </a:prstGeom>
          <a:solidFill>
            <a:srgbClr val="FFFFFF"/>
          </a:solidFill>
          <a:ln w="12700">
            <a:solidFill>
              <a:srgbClr val="DDE3F2"/>
            </a:solidFill>
            <a:prstDash val="solid"/>
          </a:ln>
          <a:effectLst>
            <a:outerShdw sx="100000" sy="100000" kx="0" ky="0" algn="bl" rotWithShape="0" blurRad="63500" dist="25400" dir="5400000">
              <a:srgbClr val="9AA6D6">
                <a:alpha val="2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58368" y="1783080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" y="17830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43000" y="1746504"/>
            <a:ext cx="27371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 Classification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13232" y="2258568"/>
            <a:ext cx="3093720" cy="14401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30" dirty="0">
                <a:solidFill>
                  <a:srgbClr val="1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standard dropdowns with an intuitive, requirement-based selection interface for Article / Sub-Article choice.</a:t>
            </a:r>
            <a:endParaRPr lang="en-US" sz="1030" dirty="0"/>
          </a:p>
        </p:txBody>
      </p:sp>
      <p:sp>
        <p:nvSpPr>
          <p:cNvPr id="11" name="Shape 9"/>
          <p:cNvSpPr/>
          <p:nvPr/>
        </p:nvSpPr>
        <p:spPr>
          <a:xfrm>
            <a:off x="4291584" y="1600200"/>
            <a:ext cx="3605784" cy="2263140"/>
          </a:xfrm>
          <a:prstGeom prst="roundRect">
            <a:avLst>
              <a:gd name="adj" fmla="val 2828"/>
            </a:avLst>
          </a:prstGeom>
          <a:solidFill>
            <a:srgbClr val="FFFFFF"/>
          </a:solidFill>
          <a:ln w="12700">
            <a:solidFill>
              <a:srgbClr val="DDE3F2"/>
            </a:solidFill>
            <a:prstDash val="solid"/>
          </a:ln>
          <a:effectLst>
            <a:outerShdw sx="100000" sy="100000" kx="0" ky="0" algn="bl" rotWithShape="0" blurRad="63500" dist="25400" dir="5400000">
              <a:srgbClr val="9AA6D6">
                <a:alpha val="2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492752" y="1783080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4492752" y="17830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977384" y="1746504"/>
            <a:ext cx="27371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Village Index Selection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47616" y="2258568"/>
            <a:ext cx="3093720" cy="14401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30" dirty="0">
                <a:solidFill>
                  <a:srgbClr val="1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geofencing for location accuracy; integrate with KSRSAC to auto-populate Index-II village details.</a:t>
            </a:r>
            <a:endParaRPr lang="en-US" sz="1030" dirty="0"/>
          </a:p>
        </p:txBody>
      </p:sp>
      <p:sp>
        <p:nvSpPr>
          <p:cNvPr id="16" name="Shape 14"/>
          <p:cNvSpPr/>
          <p:nvPr/>
        </p:nvSpPr>
        <p:spPr>
          <a:xfrm>
            <a:off x="8125968" y="1600200"/>
            <a:ext cx="3605784" cy="2263140"/>
          </a:xfrm>
          <a:prstGeom prst="roundRect">
            <a:avLst>
              <a:gd name="adj" fmla="val 2828"/>
            </a:avLst>
          </a:prstGeom>
          <a:solidFill>
            <a:srgbClr val="FFFFFF"/>
          </a:solidFill>
          <a:ln w="12700">
            <a:solidFill>
              <a:srgbClr val="DDE3F2"/>
            </a:solidFill>
            <a:prstDash val="solid"/>
          </a:ln>
          <a:effectLst>
            <a:outerShdw sx="100000" sy="100000" kx="0" ky="0" algn="bl" rotWithShape="0" blurRad="63500" dist="25400" dir="5400000">
              <a:srgbClr val="9AA6D6">
                <a:alpha val="2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327136" y="1783080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8" name="Text 16"/>
          <p:cNvSpPr/>
          <p:nvPr/>
        </p:nvSpPr>
        <p:spPr>
          <a:xfrm>
            <a:off x="8327136" y="17830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811768" y="1746504"/>
            <a:ext cx="27371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Property Details Interface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382000" y="2258568"/>
            <a:ext cx="3093720" cy="14401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30" dirty="0">
                <a:solidFill>
                  <a:srgbClr val="1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the East-West / North-South text fields for agricultural land; show a visual property map with boundary directions instead.</a:t>
            </a:r>
            <a:endParaRPr lang="en-US" sz="1030" dirty="0"/>
          </a:p>
        </p:txBody>
      </p:sp>
      <p:sp>
        <p:nvSpPr>
          <p:cNvPr id="21" name="Shape 19"/>
          <p:cNvSpPr/>
          <p:nvPr/>
        </p:nvSpPr>
        <p:spPr>
          <a:xfrm>
            <a:off x="457200" y="4091940"/>
            <a:ext cx="3605784" cy="2263140"/>
          </a:xfrm>
          <a:prstGeom prst="roundRect">
            <a:avLst>
              <a:gd name="adj" fmla="val 2828"/>
            </a:avLst>
          </a:prstGeom>
          <a:solidFill>
            <a:srgbClr val="FFFFFF"/>
          </a:solidFill>
          <a:ln w="12700">
            <a:solidFill>
              <a:srgbClr val="DDE3F2"/>
            </a:solidFill>
            <a:prstDash val="solid"/>
          </a:ln>
          <a:effectLst>
            <a:outerShdw sx="100000" sy="100000" kx="0" ky="0" algn="bl" rotWithShape="0" blurRad="63500" dist="25400" dir="5400000">
              <a:srgbClr val="9AA6D6">
                <a:alpha val="2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58368" y="4274820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3" name="Text 21"/>
          <p:cNvSpPr/>
          <p:nvPr/>
        </p:nvSpPr>
        <p:spPr>
          <a:xfrm>
            <a:off x="658368" y="42748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143000" y="4238244"/>
            <a:ext cx="27371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Party Information Interface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13232" y="4750308"/>
            <a:ext cx="3093720" cy="14401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30" dirty="0">
                <a:solidFill>
                  <a:srgbClr val="1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role labels by transaction type (Seller/Purchaser, Donor/Donee); Aadhaar OTP SMS templates; auto-fill gender from salutation; hide schedule allocation where not needed.</a:t>
            </a:r>
            <a:endParaRPr lang="en-US" sz="1030" dirty="0"/>
          </a:p>
        </p:txBody>
      </p:sp>
      <p:sp>
        <p:nvSpPr>
          <p:cNvPr id="26" name="Shape 24"/>
          <p:cNvSpPr/>
          <p:nvPr/>
        </p:nvSpPr>
        <p:spPr>
          <a:xfrm>
            <a:off x="4291584" y="4091940"/>
            <a:ext cx="3605784" cy="2263140"/>
          </a:xfrm>
          <a:prstGeom prst="roundRect">
            <a:avLst>
              <a:gd name="adj" fmla="val 2828"/>
            </a:avLst>
          </a:prstGeom>
          <a:solidFill>
            <a:srgbClr val="FFFFFF"/>
          </a:solidFill>
          <a:ln w="12700">
            <a:solidFill>
              <a:srgbClr val="DDE3F2"/>
            </a:solidFill>
            <a:prstDash val="solid"/>
          </a:ln>
          <a:effectLst>
            <a:outerShdw sx="100000" sy="100000" kx="0" ky="0" algn="bl" rotWithShape="0" blurRad="63500" dist="25400" dir="5400000">
              <a:srgbClr val="9AA6D6">
                <a:alpha val="2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492752" y="4274820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8" name="Text 26"/>
          <p:cNvSpPr/>
          <p:nvPr/>
        </p:nvSpPr>
        <p:spPr>
          <a:xfrm>
            <a:off x="4492752" y="42748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4977384" y="4238244"/>
            <a:ext cx="27371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Property Valuation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547616" y="4750308"/>
            <a:ext cx="3093720" cy="14401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30" dirty="0">
                <a:solidFill>
                  <a:srgbClr val="1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Hide the base valuation rate from citizens — capture only physical characteristics (commercial / residential / dry / wet).</a:t>
            </a:r>
            <a:endParaRPr lang="en-US" sz="1030" dirty="0"/>
          </a:p>
        </p:txBody>
      </p:sp>
      <p:sp>
        <p:nvSpPr>
          <p:cNvPr id="31" name="Shape 29"/>
          <p:cNvSpPr/>
          <p:nvPr/>
        </p:nvSpPr>
        <p:spPr>
          <a:xfrm>
            <a:off x="8125968" y="4091940"/>
            <a:ext cx="3605784" cy="2263140"/>
          </a:xfrm>
          <a:prstGeom prst="roundRect">
            <a:avLst>
              <a:gd name="adj" fmla="val 2828"/>
            </a:avLst>
          </a:prstGeom>
          <a:solidFill>
            <a:srgbClr val="FFFFFF"/>
          </a:solidFill>
          <a:ln w="12700">
            <a:solidFill>
              <a:srgbClr val="DDE3F2"/>
            </a:solidFill>
            <a:prstDash val="solid"/>
          </a:ln>
          <a:effectLst>
            <a:outerShdw sx="100000" sy="100000" kx="0" ky="0" algn="bl" rotWithShape="0" blurRad="63500" dist="25400" dir="5400000">
              <a:srgbClr val="9AA6D6">
                <a:alpha val="2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8327136" y="4274820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3" name="Text 31"/>
          <p:cNvSpPr/>
          <p:nvPr/>
        </p:nvSpPr>
        <p:spPr>
          <a:xfrm>
            <a:off x="8327136" y="42748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8811768" y="4238244"/>
            <a:ext cx="27371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 &amp; Submission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8382000" y="4750308"/>
            <a:ext cx="3093720" cy="14401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30" dirty="0">
                <a:solidFill>
                  <a:srgbClr val="1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Consideration Amount label to change dynamically by document type; make the summary preview mandatory before final submission.</a:t>
            </a:r>
            <a:endParaRPr lang="en-US" sz="1030" dirty="0"/>
          </a:p>
        </p:txBody>
      </p:sp>
      <p:sp>
        <p:nvSpPr>
          <p:cNvPr id="36" name="Text 34"/>
          <p:cNvSpPr/>
          <p:nvPr/>
        </p:nvSpPr>
        <p:spPr>
          <a:xfrm>
            <a:off x="8257032" y="647395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596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· 27-08-2026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060704" y="329184"/>
            <a:ext cx="106710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Primary Acts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060704" y="841248"/>
            <a:ext cx="10671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96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framework underlying Registration, Appointment &amp; Status tracking</a:t>
            </a:r>
            <a:endParaRPr lang="en-US" sz="12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36192"/>
          <a:ext cx="11274552" cy="4709160"/>
        </p:xfrm>
        <a:graphic>
          <a:graphicData uri="http://schemas.openxmlformats.org/drawingml/2006/table">
            <a:tbl>
              <a:tblPr/>
              <a:tblGrid>
                <a:gridCol w="2926080"/>
                <a:gridCol w="1737360"/>
                <a:gridCol w="6611112"/>
              </a:tblGrid>
              <a:tr h="7848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Sections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Relevance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7848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Registration Act, 1908 (Central Act 16 of 1908)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Secs. 17–22, 23, 25, 28–35, 51–52, 58–61, 71–77, 78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Compulsory / optional registration; presentation time &amp; place; examination; endorsements &amp; Sec.60 certificate; refusal / appeal; fees — core Registration &amp; Status tracking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848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Registration Act, 1908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Secs. 5–7, 10–12, 28–31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Districts / sub-districts; Registrars &amp; Sub-Registrars; place of registration — Appointment office selection &amp; jurisdiction routing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</a:tr>
              <a:tr h="7848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Registration (Karnataka Amendment) Act, 2023 (Karnataka Act 47 of 2024)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Secs. 22-B, 22-C, 22-D, 81-A, 81-B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Refusal / cancellation of forged or prohibited documents; appeal; penalties — registration intake validation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848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Karnataka Stamp Act, 1957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Secs. 3, 10, 33–39, 45-A, Schedule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Stamp duty chargeable; payment modes; impounding; undervaluation reference — touched in 28-08 discussion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</a:tr>
              <a:tr h="7848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Transfer of Property Act, 1882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Sec. 54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Sale of immovable property of value &gt; ₹100 requires a registered instrument — drives Article / transaction-type selection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8257032" y="647395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596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· 27-08-2026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060704" y="329184"/>
            <a:ext cx="106710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Primary Rules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060704" y="841248"/>
            <a:ext cx="10671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96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Karnataka Registration Rules, 1965 (+ Stamp Rules)</a:t>
            </a:r>
            <a:endParaRPr lang="en-US" sz="12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36192"/>
          <a:ext cx="11274552" cy="4709160"/>
        </p:xfrm>
        <a:graphic>
          <a:graphicData uri="http://schemas.openxmlformats.org/drawingml/2006/table">
            <a:tbl>
              <a:tblPr/>
              <a:tblGrid>
                <a:gridCol w="3291840"/>
                <a:gridCol w="2468880"/>
                <a:gridCol w="5513832"/>
              </a:tblGrid>
              <a:tr h="67273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Provisions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Relevance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67273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Karnataka Registration Rules, 1965 — Ch. II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Rules 3, 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Office hours &amp; holidays — Appointment / slot calendar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273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Karnataka Registration Rules, 1965 — Ch. VI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Rules 13–15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Territorial divisions; survey / city survey description — Village Index &amp; property details (KSRSAC / GIS)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</a:tr>
              <a:tr h="67273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Karnataka Registration Rules, 1965 — Ch. IX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Rules 37, 40–46, 51–55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Office of registration; presentation; examination; endorsement; suspension; condonation — Registration &amp; Status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273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Karnataka Registration Rules, 1965 — Ch. XII / XVI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Rules 71–73, 78–79, 94, 104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Executant examination; thumb impression / photo; endorsements; Sec.60 certificate — Registration completion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</a:tr>
              <a:tr h="67273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Karnataka Registration Rules, 1965 — Ch. XVII / XXV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Rules 110–118, 175–188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Receipts; return of document; appeal against refusal — Status tracking termini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273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Karnataka Stamp Rules, 1958 / e-Stamping Rules, 2009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Stamp payment procedures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Impressed / franking / e-Stamp at presentation — Payment visibility (28-08)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8257032" y="647395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596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· 27-08-2026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57200" cy="45720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060704" y="329184"/>
            <a:ext cx="106710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Notifications / Amendments</a:t>
            </a:r>
            <a:endParaRPr lang="en-US" sz="2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36192"/>
          <a:ext cx="11274552" cy="4709160"/>
        </p:xfrm>
        <a:graphic>
          <a:graphicData uri="http://schemas.openxmlformats.org/drawingml/2006/table">
            <a:tbl>
              <a:tblPr/>
              <a:tblGrid>
                <a:gridCol w="3657600"/>
                <a:gridCol w="3776472"/>
                <a:gridCol w="3840480"/>
              </a:tblGrid>
              <a:tr h="9418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Instrument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Effect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Relevance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9418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RGN 2/2002-03 (1 Apr 2002; w.e.f. 4 Apr 2002)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 19-A document sheets; Rules 22-A–22-C; Rule 40 photograph / digital photo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 format &amp; photo at presentation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418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RD 403 ESR 85 (27 May 1986), amended by RD/46/MNMU/2025 (29 Aug 2025)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Table of Registration Fees under Sec.78 — fee revision w.e.f. 31 Aug 2025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Registration fee calculator / payment amount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</a:tr>
              <a:tr h="9418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RD 380 MUNOMU 2008 (8 Apr 2009)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Karnataka Stamp (Payment of Duty by Means of e-Stamping) Rules, 2009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e-Stamp payment &amp; verification at SRO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418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Stamp Act Sec.45-B / Undervaluation Rules, 1977 (GSR 81)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CVC market value guidelines; Sec.45-A reference / Form 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Guidance value &amp; undervaluation / impound (noted 28-08)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257032" y="647395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596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· 27-08-2026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57200" cy="45720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060704" y="329184"/>
            <a:ext cx="106710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Pain Points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060704" y="841248"/>
            <a:ext cx="10671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96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ServiceDesk tickets mapped to Registration, Appointment &amp; Status tracking</a:t>
            </a:r>
            <a:endParaRPr lang="en-US" sz="12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36192"/>
          <a:ext cx="11274552" cy="4709160"/>
        </p:xfrm>
        <a:graphic>
          <a:graphicData uri="http://schemas.openxmlformats.org/drawingml/2006/table">
            <a:tbl>
              <a:tblPr/>
              <a:tblGrid>
                <a:gridCol w="4114800"/>
                <a:gridCol w="7159752"/>
              </a:tblGrid>
              <a:tr h="523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Pain Point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Evidence (sample tickets)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23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Article / sub-article selection &amp; instrument mapping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Release Deed article issue; wrong stamp duty for partition / gift sub-articles (17714, 31257, 93306)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3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Village / Index / road master gaps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Village index absent / split; wrong road names; Survey No. not fetched from Bhoomi (13949, 95135, 20170, 29600)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</a:tr>
              <a:tr h="523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Property schedule / boundary capture fails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Unable to save property schedule; cannot continue after 11E Sketch (24450, 24247, 95367)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3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Party information save / display errors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Party info not saving; claimant details missing; executant name shows "None" (30276, 25784, 22789)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</a:tr>
              <a:tr h="523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Property valuation / fee after valuation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 valuation blank; fee zero after valuate; Save disabled (29357, 28596, 26292)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3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Pre-submission summary / review broken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Summary not generating; wrong consideration / market value in summary (27360, 6187, 31168)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</a:tr>
              <a:tr h="523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Appointment / schedule after intake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Unable to schedule appointment; schedule option missing after payment (27283, 30478, 28812)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3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 / step stuck after registration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 7 "Check &amp; Register" disabled; stuck in Step 5; pending shows in Step 1 not Minute Book (94299, 23243, 22599)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8257032" y="647395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596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· 27-08-2026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46720" y="3291840"/>
            <a:ext cx="6400800" cy="6400800"/>
          </a:xfrm>
          <a:prstGeom prst="ellipse">
            <a:avLst/>
          </a:prstGeom>
          <a:solidFill>
            <a:srgbClr val="141A4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745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9601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 August 2026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342900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 core (continued): SR approval workflow, slot booking, payment visibility, stamp duty &amp; guidance value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4709160"/>
            <a:ext cx="10058400" cy="18288"/>
          </a:xfrm>
          <a:prstGeom prst="rect">
            <a:avLst/>
          </a:prstGeom>
          <a:solidFill>
            <a:srgbClr val="4A5490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48920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889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ATTENDEES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516636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7C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Kaveri IT Cell · AIGR Comp · Project Manager · Assistant Manager (CMS)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060704" y="329184"/>
            <a:ext cx="106710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Committee Suggestions (1/2)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060704" y="841248"/>
            <a:ext cx="10671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96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SR-level workflow, scheduling &amp; payment improvements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3605784" cy="2263140"/>
          </a:xfrm>
          <a:prstGeom prst="roundRect">
            <a:avLst>
              <a:gd name="adj" fmla="val 2828"/>
            </a:avLst>
          </a:prstGeom>
          <a:solidFill>
            <a:srgbClr val="FFFFFF"/>
          </a:solidFill>
          <a:ln w="12700">
            <a:solidFill>
              <a:srgbClr val="DDE3F2"/>
            </a:solidFill>
            <a:prstDash val="solid"/>
          </a:ln>
          <a:effectLst>
            <a:outerShdw sx="100000" sy="100000" kx="0" ky="0" algn="bl" rotWithShape="0" blurRad="63500" dist="25400" dir="5400000">
              <a:srgbClr val="9AA6D6">
                <a:alpha val="2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58368" y="1783080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" y="17830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43000" y="1746504"/>
            <a:ext cx="27371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SR Level Approval Workflow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13232" y="2258568"/>
            <a:ext cx="3093720" cy="14401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30" dirty="0">
                <a:solidFill>
                  <a:srgbClr val="1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action buttons at first SR approval: “Send to Applicant for Payment” and “Send Back for Correction”; hide payment option in employee login after a correction send-back.</a:t>
            </a:r>
            <a:endParaRPr lang="en-US" sz="1030" dirty="0"/>
          </a:p>
        </p:txBody>
      </p:sp>
      <p:sp>
        <p:nvSpPr>
          <p:cNvPr id="11" name="Shape 9"/>
          <p:cNvSpPr/>
          <p:nvPr/>
        </p:nvSpPr>
        <p:spPr>
          <a:xfrm>
            <a:off x="4291584" y="1600200"/>
            <a:ext cx="3605784" cy="2263140"/>
          </a:xfrm>
          <a:prstGeom prst="roundRect">
            <a:avLst>
              <a:gd name="adj" fmla="val 2828"/>
            </a:avLst>
          </a:prstGeom>
          <a:solidFill>
            <a:srgbClr val="FFFFFF"/>
          </a:solidFill>
          <a:ln w="12700">
            <a:solidFill>
              <a:srgbClr val="DDE3F2"/>
            </a:solidFill>
            <a:prstDash val="solid"/>
          </a:ln>
          <a:effectLst>
            <a:outerShdw sx="100000" sy="100000" kx="0" ky="0" algn="bl" rotWithShape="0" blurRad="63500" dist="25400" dir="5400000">
              <a:srgbClr val="9AA6D6">
                <a:alpha val="2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492752" y="1783080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4492752" y="17830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977384" y="1746504"/>
            <a:ext cx="27371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SRO Road Selection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47616" y="2258568"/>
            <a:ext cx="3093720" cy="14401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30" dirty="0">
                <a:solidFill>
                  <a:srgbClr val="1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under-valuation &amp; impound workflow for SRO-selected roads in Version 3.0.</a:t>
            </a:r>
            <a:endParaRPr lang="en-US" sz="1030" dirty="0"/>
          </a:p>
        </p:txBody>
      </p:sp>
      <p:sp>
        <p:nvSpPr>
          <p:cNvPr id="16" name="Shape 14"/>
          <p:cNvSpPr/>
          <p:nvPr/>
        </p:nvSpPr>
        <p:spPr>
          <a:xfrm>
            <a:off x="8125968" y="1600200"/>
            <a:ext cx="3605784" cy="2263140"/>
          </a:xfrm>
          <a:prstGeom prst="roundRect">
            <a:avLst>
              <a:gd name="adj" fmla="val 2828"/>
            </a:avLst>
          </a:prstGeom>
          <a:solidFill>
            <a:srgbClr val="FFFFFF"/>
          </a:solidFill>
          <a:ln w="12700">
            <a:solidFill>
              <a:srgbClr val="DDE3F2"/>
            </a:solidFill>
            <a:prstDash val="solid"/>
          </a:ln>
          <a:effectLst>
            <a:outerShdw sx="100000" sy="100000" kx="0" ky="0" algn="bl" rotWithShape="0" blurRad="63500" dist="25400" dir="5400000">
              <a:srgbClr val="9AA6D6">
                <a:alpha val="2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327136" y="1783080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8" name="Text 16"/>
          <p:cNvSpPr/>
          <p:nvPr/>
        </p:nvSpPr>
        <p:spPr>
          <a:xfrm>
            <a:off x="8327136" y="17830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811768" y="1746504"/>
            <a:ext cx="27371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Date &amp; Time Format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382000" y="2258568"/>
            <a:ext cx="3093720" cy="14401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30" dirty="0">
                <a:solidFill>
                  <a:srgbClr val="1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the date/time display from 24-hour to 12-hour format.</a:t>
            </a:r>
            <a:endParaRPr lang="en-US" sz="1030" dirty="0"/>
          </a:p>
        </p:txBody>
      </p:sp>
      <p:sp>
        <p:nvSpPr>
          <p:cNvPr id="21" name="Shape 19"/>
          <p:cNvSpPr/>
          <p:nvPr/>
        </p:nvSpPr>
        <p:spPr>
          <a:xfrm>
            <a:off x="457200" y="4091940"/>
            <a:ext cx="3605784" cy="2263140"/>
          </a:xfrm>
          <a:prstGeom prst="roundRect">
            <a:avLst>
              <a:gd name="adj" fmla="val 2828"/>
            </a:avLst>
          </a:prstGeom>
          <a:solidFill>
            <a:srgbClr val="FFFFFF"/>
          </a:solidFill>
          <a:ln w="12700">
            <a:solidFill>
              <a:srgbClr val="DDE3F2"/>
            </a:solidFill>
            <a:prstDash val="solid"/>
          </a:ln>
          <a:effectLst>
            <a:outerShdw sx="100000" sy="100000" kx="0" ky="0" algn="bl" rotWithShape="0" blurRad="63500" dist="25400" dir="5400000">
              <a:srgbClr val="9AA6D6">
                <a:alpha val="2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58368" y="4274820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3" name="Text 21"/>
          <p:cNvSpPr/>
          <p:nvPr/>
        </p:nvSpPr>
        <p:spPr>
          <a:xfrm>
            <a:off x="658368" y="42748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143000" y="4238244"/>
            <a:ext cx="27371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Slot Booking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13232" y="4750308"/>
            <a:ext cx="3093720" cy="14401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30" dirty="0">
                <a:solidFill>
                  <a:srgbClr val="1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tatkal slot booking; percentage-based slot amount; reschedule-with-fine (provision to be studied further).</a:t>
            </a:r>
            <a:endParaRPr lang="en-US" sz="1030" dirty="0"/>
          </a:p>
        </p:txBody>
      </p:sp>
      <p:sp>
        <p:nvSpPr>
          <p:cNvPr id="26" name="Shape 24"/>
          <p:cNvSpPr/>
          <p:nvPr/>
        </p:nvSpPr>
        <p:spPr>
          <a:xfrm>
            <a:off x="4291584" y="4091940"/>
            <a:ext cx="3605784" cy="2263140"/>
          </a:xfrm>
          <a:prstGeom prst="roundRect">
            <a:avLst>
              <a:gd name="adj" fmla="val 2828"/>
            </a:avLst>
          </a:prstGeom>
          <a:solidFill>
            <a:srgbClr val="FFFFFF"/>
          </a:solidFill>
          <a:ln w="12700">
            <a:solidFill>
              <a:srgbClr val="DDE3F2"/>
            </a:solidFill>
            <a:prstDash val="solid"/>
          </a:ln>
          <a:effectLst>
            <a:outerShdw sx="100000" sy="100000" kx="0" ky="0" algn="bl" rotWithShape="0" blurRad="63500" dist="25400" dir="5400000">
              <a:srgbClr val="9AA6D6">
                <a:alpha val="2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492752" y="4274820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8" name="Text 26"/>
          <p:cNvSpPr/>
          <p:nvPr/>
        </p:nvSpPr>
        <p:spPr>
          <a:xfrm>
            <a:off x="4492752" y="42748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4977384" y="4238244"/>
            <a:ext cx="27371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Payment Visibility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547616" y="4750308"/>
            <a:ext cx="3093720" cy="14401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30" dirty="0">
                <a:solidFill>
                  <a:srgbClr val="1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made in front of the Sub-Registrar should be shown more prominently to the citizen.</a:t>
            </a:r>
            <a:endParaRPr lang="en-US" sz="1030" dirty="0"/>
          </a:p>
        </p:txBody>
      </p:sp>
      <p:sp>
        <p:nvSpPr>
          <p:cNvPr id="31" name="Text 29"/>
          <p:cNvSpPr/>
          <p:nvPr/>
        </p:nvSpPr>
        <p:spPr>
          <a:xfrm>
            <a:off x="8257032" y="647395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596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· 28-08-2026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060704" y="329184"/>
            <a:ext cx="106710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Committee Suggestions (2/2)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060704" y="841248"/>
            <a:ext cx="10671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96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handling, calculation study &amp; summary rework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5522976" cy="1432560"/>
          </a:xfrm>
          <a:prstGeom prst="roundRect">
            <a:avLst>
              <a:gd name="adj" fmla="val 4468"/>
            </a:avLst>
          </a:prstGeom>
          <a:solidFill>
            <a:srgbClr val="FFFFFF"/>
          </a:solidFill>
          <a:ln w="12700">
            <a:solidFill>
              <a:srgbClr val="DDE3F2"/>
            </a:solidFill>
            <a:prstDash val="solid"/>
          </a:ln>
          <a:effectLst>
            <a:outerShdw sx="100000" sy="100000" kx="0" ky="0" algn="bl" rotWithShape="0" blurRad="63500" dist="25400" dir="5400000">
              <a:srgbClr val="9AA6D6">
                <a:alpha val="2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58368" y="1783080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" y="17830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43000" y="1746504"/>
            <a:ext cx="46542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Withdrawal Workflow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13232" y="2258568"/>
            <a:ext cx="5010912" cy="609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30" dirty="0">
                <a:solidFill>
                  <a:srgbClr val="1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Simplify the withdrawal path from allocation application to DEO; workflow to be prepared.</a:t>
            </a:r>
            <a:endParaRPr lang="en-US" sz="1030" dirty="0"/>
          </a:p>
        </p:txBody>
      </p:sp>
      <p:sp>
        <p:nvSpPr>
          <p:cNvPr id="11" name="Shape 9"/>
          <p:cNvSpPr/>
          <p:nvPr/>
        </p:nvSpPr>
        <p:spPr>
          <a:xfrm>
            <a:off x="6208776" y="1600200"/>
            <a:ext cx="5522976" cy="1432560"/>
          </a:xfrm>
          <a:prstGeom prst="roundRect">
            <a:avLst>
              <a:gd name="adj" fmla="val 4468"/>
            </a:avLst>
          </a:prstGeom>
          <a:solidFill>
            <a:srgbClr val="FFFFFF"/>
          </a:solidFill>
          <a:ln w="12700">
            <a:solidFill>
              <a:srgbClr val="DDE3F2"/>
            </a:solidFill>
            <a:prstDash val="solid"/>
          </a:ln>
          <a:effectLst>
            <a:outerShdw sx="100000" sy="100000" kx="0" ky="0" algn="bl" rotWithShape="0" blurRad="63500" dist="25400" dir="5400000">
              <a:srgbClr val="9AA6D6">
                <a:alpha val="2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09944" y="1783080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6409944" y="17830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894576" y="1746504"/>
            <a:ext cx="46542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 Type Naming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64808" y="2258568"/>
            <a:ext cx="5010912" cy="609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30" dirty="0">
                <a:solidFill>
                  <a:srgbClr val="1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Rename “Application Type” to “Transaction Type” in the DEO login.</a:t>
            </a:r>
            <a:endParaRPr lang="en-US" sz="1030" dirty="0"/>
          </a:p>
        </p:txBody>
      </p:sp>
      <p:sp>
        <p:nvSpPr>
          <p:cNvPr id="16" name="Shape 14"/>
          <p:cNvSpPr/>
          <p:nvPr/>
        </p:nvSpPr>
        <p:spPr>
          <a:xfrm>
            <a:off x="457200" y="3261360"/>
            <a:ext cx="5522976" cy="1432560"/>
          </a:xfrm>
          <a:prstGeom prst="roundRect">
            <a:avLst>
              <a:gd name="adj" fmla="val 4468"/>
            </a:avLst>
          </a:prstGeom>
          <a:solidFill>
            <a:srgbClr val="FFFFFF"/>
          </a:solidFill>
          <a:ln w="12700">
            <a:solidFill>
              <a:srgbClr val="DDE3F2"/>
            </a:solidFill>
            <a:prstDash val="solid"/>
          </a:ln>
          <a:effectLst>
            <a:outerShdw sx="100000" sy="100000" kx="0" ky="0" algn="bl" rotWithShape="0" blurRad="63500" dist="25400" dir="5400000">
              <a:srgbClr val="9AA6D6">
                <a:alpha val="2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58368" y="3444240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8" name="Text 16"/>
          <p:cNvSpPr/>
          <p:nvPr/>
        </p:nvSpPr>
        <p:spPr>
          <a:xfrm>
            <a:off x="658368" y="34442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143000" y="3407664"/>
            <a:ext cx="46542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 Number Display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13232" y="3919728"/>
            <a:ext cx="5010912" cy="609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30" dirty="0">
                <a:solidFill>
                  <a:srgbClr val="1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the application number consistently throughout the entire application flow.</a:t>
            </a:r>
            <a:endParaRPr lang="en-US" sz="1030" dirty="0"/>
          </a:p>
        </p:txBody>
      </p:sp>
      <p:sp>
        <p:nvSpPr>
          <p:cNvPr id="21" name="Shape 19"/>
          <p:cNvSpPr/>
          <p:nvPr/>
        </p:nvSpPr>
        <p:spPr>
          <a:xfrm>
            <a:off x="6208776" y="3261360"/>
            <a:ext cx="5522976" cy="1432560"/>
          </a:xfrm>
          <a:prstGeom prst="roundRect">
            <a:avLst>
              <a:gd name="adj" fmla="val 4468"/>
            </a:avLst>
          </a:prstGeom>
          <a:solidFill>
            <a:srgbClr val="FFFFFF"/>
          </a:solidFill>
          <a:ln w="12700">
            <a:solidFill>
              <a:srgbClr val="DDE3F2"/>
            </a:solidFill>
            <a:prstDash val="solid"/>
          </a:ln>
          <a:effectLst>
            <a:outerShdw sx="100000" sy="100000" kx="0" ky="0" algn="bl" rotWithShape="0" blurRad="63500" dist="25400" dir="5400000">
              <a:srgbClr val="9AA6D6">
                <a:alpha val="2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09944" y="3444240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3" name="Text 21"/>
          <p:cNvSpPr/>
          <p:nvPr/>
        </p:nvSpPr>
        <p:spPr>
          <a:xfrm>
            <a:off x="6409944" y="34442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894576" y="3407664"/>
            <a:ext cx="46542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Calculations (to study)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464808" y="3919728"/>
            <a:ext cx="5010912" cy="609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30" dirty="0">
                <a:solidFill>
                  <a:srgbClr val="1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the Stamp Act for duty / registrar-fee calculation, and the Valuation Rules / Gazette for guidance-value calculation.</a:t>
            </a:r>
            <a:endParaRPr lang="en-US" sz="1030" dirty="0"/>
          </a:p>
        </p:txBody>
      </p:sp>
      <p:sp>
        <p:nvSpPr>
          <p:cNvPr id="26" name="Shape 24"/>
          <p:cNvSpPr/>
          <p:nvPr/>
        </p:nvSpPr>
        <p:spPr>
          <a:xfrm>
            <a:off x="457200" y="4922520"/>
            <a:ext cx="5522976" cy="1432560"/>
          </a:xfrm>
          <a:prstGeom prst="roundRect">
            <a:avLst>
              <a:gd name="adj" fmla="val 4468"/>
            </a:avLst>
          </a:prstGeom>
          <a:solidFill>
            <a:srgbClr val="FFFFFF"/>
          </a:solidFill>
          <a:ln w="12700">
            <a:solidFill>
              <a:srgbClr val="DDE3F2"/>
            </a:solidFill>
            <a:prstDash val="solid"/>
          </a:ln>
          <a:effectLst>
            <a:outerShdw sx="100000" sy="100000" kx="0" ky="0" algn="bl" rotWithShape="0" blurRad="63500" dist="25400" dir="5400000">
              <a:srgbClr val="9AA6D6">
                <a:alpha val="2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58368" y="5105400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8" name="Text 26"/>
          <p:cNvSpPr/>
          <p:nvPr/>
        </p:nvSpPr>
        <p:spPr>
          <a:xfrm>
            <a:off x="658368" y="51054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143000" y="5068824"/>
            <a:ext cx="46542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13232" y="5580888"/>
            <a:ext cx="5010912" cy="609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30" dirty="0">
                <a:solidFill>
                  <a:srgbClr val="1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Rework the summary screen and display the document number within it.</a:t>
            </a:r>
            <a:endParaRPr lang="en-US" sz="1030" dirty="0"/>
          </a:p>
        </p:txBody>
      </p:sp>
      <p:sp>
        <p:nvSpPr>
          <p:cNvPr id="31" name="Text 29"/>
          <p:cNvSpPr/>
          <p:nvPr/>
        </p:nvSpPr>
        <p:spPr>
          <a:xfrm>
            <a:off x="8257032" y="647395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596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· 28-08-2026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060704" y="329184"/>
            <a:ext cx="106710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Acts, Rules &amp; Notifications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060704" y="841248"/>
            <a:ext cx="10671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96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statutory framework discussed on 27-08 applies to today's SR-workflow topics</a:t>
            </a:r>
            <a:endParaRPr lang="en-US" sz="12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11274552" cy="4343400"/>
        </p:xfrm>
        <a:graphic>
          <a:graphicData uri="http://schemas.openxmlformats.org/drawingml/2006/table">
            <a:tbl>
              <a:tblPr/>
              <a:tblGrid>
                <a:gridCol w="2377440"/>
                <a:gridCol w="8897112"/>
              </a:tblGrid>
              <a:tr h="10858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Instruments carried forward from 27-08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10858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Registration Act, 1908 (Secs. 5–7,10–12,17–22,23,25,28–35,51–52,58–61,71–77,78)  ·  Registration (Karnataka Amendment) Act, 2023 (Secs. 22-B–22-D, 81-A, 81-B)  ·  Karnataka Stamp Act, 1957 (Secs. 3,10,33–39,45-A, Schedule)  ·  Transfer of Property Act, 1882 (Sec. 54)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858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Karnataka Registration Rules, 1965 — Ch. II, VI, IX, XII/XVI, XVII/XXV  ·  Karnataka Stamp Rules, 1958 / e-Stamping Rules, 2009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</a:tr>
              <a:tr h="10858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Notifications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RGN 2/2002-03  ·  RD 403 ESR 85 as amended by RD/46/MNMU/2025 (fee revision, 31 Aug 2025)  ·  RD 380 MUNOMU 2008 (e-Stamping Rules, 2009)  ·  Stamp Act Sec.45-B / Undervaluation Rules, 1977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6007608"/>
            <a:ext cx="11274552" cy="566928"/>
          </a:xfrm>
          <a:prstGeom prst="roundRect">
            <a:avLst>
              <a:gd name="adj" fmla="val 9677"/>
            </a:avLst>
          </a:prstGeom>
          <a:solidFill>
            <a:srgbClr val="FFF6E0"/>
          </a:solidFill>
          <a:ln w="9525">
            <a:solidFill>
              <a:srgbClr val="F2B13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94360" y="6007608"/>
            <a:ext cx="110002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4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Cross-reference (28-08): Detailed study of the Stamp Act Schedule and CVC / Undervaluation Rules was flagged in the meeting (items 2, 9). Full legal tables for guideline value &amp; CVC are carried into the 01-09-2026 discussion.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8257032" y="647395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596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· 28-08-2026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57200" cy="45720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060704" y="329184"/>
            <a:ext cx="106710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Pain Points (1/2)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060704" y="841248"/>
            <a:ext cx="10671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96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 approval, payment &amp; scheduling issues</a:t>
            </a:r>
            <a:endParaRPr lang="en-US" sz="12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36192"/>
          <a:ext cx="11274552" cy="4709160"/>
        </p:xfrm>
        <a:graphic>
          <a:graphicData uri="http://schemas.openxmlformats.org/drawingml/2006/table">
            <a:tbl>
              <a:tblPr/>
              <a:tblGrid>
                <a:gridCol w="4114800"/>
                <a:gridCol w="7159752"/>
              </a:tblGrid>
              <a:tr h="9418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Pain Point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Evidence (sample tickets)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9418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SR send-to-payment / send-back-for-correction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Unable to send to citizen for payment after verification; sent-back apps still ask payment ₹0 (94523, 30960, 88309)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418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Payment visibility &amp; failures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Unable to make payment; “Something went wrong”; paid but still shows pending (29349, 94275, 92384)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</a:tr>
              <a:tr h="9418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Slot booking / tatkal / reschedule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Unable to schedule appointment; time-slot issue; unable to reschedule (27283-P1, 30841, 91929)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418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Withdrawal workflow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Withdraw not available for rejected app; citizen unable to withdraw; withdrawn app still pending in DEO (93043, 24685, 9494)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8257032" y="647395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596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· 28-08-2026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57200" cy="45720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060704" y="329184"/>
            <a:ext cx="106710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Pain Points (2/2)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060704" y="841248"/>
            <a:ext cx="10671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96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 calculation, guidance value &amp; status-step issues</a:t>
            </a:r>
            <a:endParaRPr lang="en-US" sz="125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36192"/>
          <a:ext cx="11274552" cy="4709160"/>
        </p:xfrm>
        <a:graphic>
          <a:graphicData uri="http://schemas.openxmlformats.org/drawingml/2006/table">
            <a:tbl>
              <a:tblPr/>
              <a:tblGrid>
                <a:gridCol w="4114800"/>
                <a:gridCol w="7159752"/>
              </a:tblGrid>
              <a:tr h="11772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Pain Point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Evidence (sample tickets)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11772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Stamp duty &amp; registration fee calculation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Unable to calculate duty / fee (23369); partition / gift article wrong duty; fee zero after valuation (31257, 28596)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1772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Guidance value / undervaluation &amp; impound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Pending for Sec.45-A undervaluation; CVC rates not displaying; rural building valued at TMC/CMC rates (93336, 31481, 29393)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</a:tr>
              <a:tr h="11772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Summary / document number / status-step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Summary not generating; DSC / SR name missing at Step 9; app number inconsistent across logins (27360, 95322, 28586)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8257032" y="647395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596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· 28-08-2026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46720" y="3291840"/>
            <a:ext cx="6400800" cy="6400800"/>
          </a:xfrm>
          <a:prstGeom prst="ellipse">
            <a:avLst/>
          </a:prstGeom>
          <a:solidFill>
            <a:srgbClr val="141A4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745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9601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 September 2026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342900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Guideline value calculation, Valuation Module (CVC) and GIS 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4709160"/>
            <a:ext cx="10058400" cy="18288"/>
          </a:xfrm>
          <a:prstGeom prst="rect">
            <a:avLst/>
          </a:prstGeom>
          <a:solidFill>
            <a:srgbClr val="4A5490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48920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889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ATTENDEES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516636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7C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Kaveri IT Cell · DIGR – Valuation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060704" y="329184"/>
            <a:ext cx="106710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Guideline Value Calculation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060704" y="841248"/>
            <a:ext cx="10671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96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Acts, Rules &amp; supporting provisions</a:t>
            </a:r>
            <a:endParaRPr lang="en-US" sz="125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36192"/>
          <a:ext cx="11274552" cy="4709160"/>
        </p:xfrm>
        <a:graphic>
          <a:graphicData uri="http://schemas.openxmlformats.org/drawingml/2006/table">
            <a:tbl>
              <a:tblPr/>
              <a:tblGrid>
                <a:gridCol w="1554480"/>
                <a:gridCol w="3474720"/>
                <a:gridCol w="6245352"/>
              </a:tblGrid>
              <a:tr h="7848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Instrument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Relevance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7848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Karnataka Stamp Act, 1957 — Sec. 45-A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SRO compares consideration with published market-value guidelines; if undervalued, estimates value, collects extra duty, or refers to the Deputy Commissioner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848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Karnataka Stamp Act, 1957 — Sec. 45-B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Authority to estimate, publish &amp; revise market value guideline rates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</a:tr>
              <a:tr h="7848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Karnataka Stamp Act, 1957 — Sec. 3 + Schedule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Stamp duty is ad valorem on market value for listed instruments (conveyance, gift, exchange, etc.)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848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Karnataka Stamp (Prevention of Undervaluation of Instruments) Rules, 1977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Procedure + Form I (property particulars / market value)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</a:tr>
              <a:tr h="7848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Supporting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Registration Rules 13–15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Survey / territorial description needed to pick the correct guideline rate for a property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8257032" y="647395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596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· 01-09-2026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060704" y="329184"/>
            <a:ext cx="106710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Valuation Data Entry Module (CVC)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060704" y="841248"/>
            <a:ext cx="10671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96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Acts &amp; Rules governing the Central Valuation Committee</a:t>
            </a:r>
            <a:endParaRPr lang="en-US" sz="125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11274552" cy="4343400"/>
        </p:xfrm>
        <a:graphic>
          <a:graphicData uri="http://schemas.openxmlformats.org/drawingml/2006/table">
            <a:tbl>
              <a:tblPr/>
              <a:tblGrid>
                <a:gridCol w="1554480"/>
                <a:gridCol w="3474720"/>
                <a:gridCol w="6245352"/>
              </a:tblGrid>
              <a:tr h="6204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Instrument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Relevance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6204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Stamp Act, 1957 — Sec. 45-B (primary)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 constitutes the Central Valuation Committee (CVC) under IGR &amp; Commissioner of Stamps; CVC estimates / publishes / revises guideline rates; may form district / sub-district sub-committees; final policy authority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04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Stamp Act, 1957 — Sec. 2(ac)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Defines “Central Valuation Committee”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</a:tr>
              <a:tr h="6204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Stamp Act, 1957 — Sec. 45-A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CVC-published guidelines are applied at registration for stamp duty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04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Undervaluation Rules, 1977 (GSR 81 / RD 73 EST 74)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Operational rules when Sec.45-A is invoked (Form I, DC order, appeal)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</a:tr>
              <a:tr h="6204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Notification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 8 of 2003 (w.e.f. 1-4-2003)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Substituted / strengthened the Sec.45-B CVC framework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04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Notification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RD 264 MUNOMU 99 (18-8-1999)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Amendments to the Undervaluation Rules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6007608"/>
            <a:ext cx="11274552" cy="566928"/>
          </a:xfrm>
          <a:prstGeom prst="roundRect">
            <a:avLst>
              <a:gd name="adj" fmla="val 9677"/>
            </a:avLst>
          </a:prstGeom>
          <a:solidFill>
            <a:srgbClr val="FFF6E0"/>
          </a:solidFill>
          <a:ln w="9525">
            <a:solidFill>
              <a:srgbClr val="F2B13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94360" y="6007608"/>
            <a:ext cx="110002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4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GIS valuation is an implementation layer on top of CVC guideline rates, integrated with KSRSAC (Karnataka State Remote Sensing Applications Centre).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8257032" y="647395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596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· 01-09-2026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57200" cy="45720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060704" y="329184"/>
            <a:ext cx="106710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Pain Points (1/2)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060704" y="841248"/>
            <a:ext cx="10671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96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Guideline value display &amp; calculation failures</a:t>
            </a:r>
            <a:endParaRPr lang="en-US" sz="125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36192"/>
          <a:ext cx="11274552" cy="4709160"/>
        </p:xfrm>
        <a:graphic>
          <a:graphicData uri="http://schemas.openxmlformats.org/drawingml/2006/table">
            <a:tbl>
              <a:tblPr/>
              <a:tblGrid>
                <a:gridCol w="4114800"/>
                <a:gridCol w="7159752"/>
              </a:tblGrid>
              <a:tr h="67273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Pain Point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Evidence (sample tickets)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67273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Wrong / blank guideline value shown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 value blank on sale deed; not showing for agri land; wrong value (29357, 29532, 31438)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273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Wrong building rate for rural properties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Rural land valued on TMC / CMC rates instead of rural rates (29393)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</a:tr>
              <a:tr h="67273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Unit-level valuation fails (gunta / area)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Valuation for 1 gunta not showing; gunta / cent conversion issues (31788, 24718)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273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Duty / fee calculator fails after valuation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Unable to calculate duty &amp; fee; fee zero, Save disabled (23369, 28596)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</a:tr>
              <a:tr h="67273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Adjudicated Sec.45-A value not respected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Summary shows higher market value than the DR-adjudicated 45-A value (10531, 31773)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273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Instrument-specific gaps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market-value estimation path for trust deed; partition / gift duty wrong (31534, 31257)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8257032" y="647395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596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· 01-09-2026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57200" cy="45720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060704" y="329184"/>
            <a:ext cx="106710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Pain Points (2/2)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060704" y="841248"/>
            <a:ext cx="10671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96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CVC module, revaluation &amp; undervaluation workflow issues</a:t>
            </a:r>
            <a:endParaRPr lang="en-US" sz="125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36192"/>
          <a:ext cx="11274552" cy="4709160"/>
        </p:xfrm>
        <a:graphic>
          <a:graphicData uri="http://schemas.openxmlformats.org/drawingml/2006/table">
            <a:tbl>
              <a:tblPr/>
              <a:tblGrid>
                <a:gridCol w="4114800"/>
                <a:gridCol w="7159752"/>
              </a:tblGrid>
              <a:tr h="7848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Pain Point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Evidence (sample tickets)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7848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CVC rates missing in SR / Citizen login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Rates not displaying in SR &amp; citizen login (31481-P1, 31521)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848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Cannot correct CVC rates in Citizen login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Rate-correction request in citizen login (21795)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</a:tr>
              <a:tr h="7848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Generic CVC module failures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“CVC issue”; payment issue after CVC (15278, 31574-P1)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848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Revaluation / send-back workflow broken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 stuck after moving for revaluation; SR cannot send further after evaluation (23267, 30960)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</a:tr>
              <a:tr h="7848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Undervaluation (45-A) data / payment stuck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Data-fetch failure; unable to pay; pending in Kaveri-1 (25098, 31071, 27140)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8257032" y="647395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596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· 01-09-2026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060704" y="329184"/>
            <a:ext cx="106710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Committee Suggestions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060704" y="841248"/>
            <a:ext cx="10671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96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distilled into user-story themes (01-09 discussion)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3605784" cy="4754880"/>
          </a:xfrm>
          <a:prstGeom prst="roundRect">
            <a:avLst>
              <a:gd name="adj" fmla="val 1775"/>
            </a:avLst>
          </a:prstGeom>
          <a:solidFill>
            <a:srgbClr val="FFFFFF"/>
          </a:solidFill>
          <a:ln w="12700">
            <a:solidFill>
              <a:srgbClr val="DDE3F2"/>
            </a:solidFill>
            <a:prstDash val="solid"/>
          </a:ln>
          <a:effectLst>
            <a:outerShdw sx="100000" sy="100000" kx="0" ky="0" algn="bl" rotWithShape="0" blurRad="63500" dist="25400" dir="5400000">
              <a:srgbClr val="9AA6D6">
                <a:alpha val="2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58368" y="1783080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" y="17830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43000" y="1746504"/>
            <a:ext cx="27371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Guideline Value Calculation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13232" y="2258568"/>
            <a:ext cx="309372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30" dirty="0">
                <a:solidFill>
                  <a:srgbClr val="1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consideration vs. Sec.45-B market guidelines (Sec.45-A); apply official published / revised rates, not ad-hoc figures; calculate duty ad valorem per Schedule; capture Form I for 45-A references; use Registration Rules 13–15 survey data to pick the right guideline rate.</a:t>
            </a:r>
            <a:endParaRPr lang="en-US" sz="1030" dirty="0"/>
          </a:p>
        </p:txBody>
      </p:sp>
      <p:sp>
        <p:nvSpPr>
          <p:cNvPr id="11" name="Shape 9"/>
          <p:cNvSpPr/>
          <p:nvPr/>
        </p:nvSpPr>
        <p:spPr>
          <a:xfrm>
            <a:off x="4291584" y="1600200"/>
            <a:ext cx="3605784" cy="4754880"/>
          </a:xfrm>
          <a:prstGeom prst="roundRect">
            <a:avLst>
              <a:gd name="adj" fmla="val 1775"/>
            </a:avLst>
          </a:prstGeom>
          <a:solidFill>
            <a:srgbClr val="FFFFFF"/>
          </a:solidFill>
          <a:ln w="12700">
            <a:solidFill>
              <a:srgbClr val="DDE3F2"/>
            </a:solidFill>
            <a:prstDash val="solid"/>
          </a:ln>
          <a:effectLst>
            <a:outerShdw sx="100000" sy="100000" kx="0" ky="0" algn="bl" rotWithShape="0" blurRad="63500" dist="25400" dir="5400000">
              <a:srgbClr val="9AA6D6">
                <a:alpha val="2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492752" y="1783080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4492752" y="17830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977384" y="1746504"/>
            <a:ext cx="27371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Valuation Module (CVC)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47616" y="2258568"/>
            <a:ext cx="309372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30" dirty="0">
                <a:solidFill>
                  <a:srgbClr val="1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CVC as the final policy / methodology authority (incl. district sub-committees); let CVC officers enter, update &amp; publish guideline rates so they never go missing in SR / citizen screens; honour the DR's adjudicated Sec.45-A value over an auto-higher figure; run Form I → DC determination → appeal per the 1977 Rules.</a:t>
            </a:r>
            <a:endParaRPr lang="en-US" sz="1030" dirty="0"/>
          </a:p>
        </p:txBody>
      </p:sp>
      <p:sp>
        <p:nvSpPr>
          <p:cNvPr id="16" name="Shape 14"/>
          <p:cNvSpPr/>
          <p:nvPr/>
        </p:nvSpPr>
        <p:spPr>
          <a:xfrm>
            <a:off x="8125968" y="1600200"/>
            <a:ext cx="3605784" cy="4754880"/>
          </a:xfrm>
          <a:prstGeom prst="roundRect">
            <a:avLst>
              <a:gd name="adj" fmla="val 1775"/>
            </a:avLst>
          </a:prstGeom>
          <a:solidFill>
            <a:srgbClr val="FFFFFF"/>
          </a:solidFill>
          <a:ln w="12700">
            <a:solidFill>
              <a:srgbClr val="DDE3F2"/>
            </a:solidFill>
            <a:prstDash val="solid"/>
          </a:ln>
          <a:effectLst>
            <a:outerShdw sx="100000" sy="100000" kx="0" ky="0" algn="bl" rotWithShape="0" blurRad="63500" dist="25400" dir="5400000">
              <a:srgbClr val="9AA6D6">
                <a:alpha val="2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327136" y="1783080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8" name="Text 16"/>
          <p:cNvSpPr/>
          <p:nvPr/>
        </p:nvSpPr>
        <p:spPr>
          <a:xfrm>
            <a:off x="8327136" y="17830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811768" y="1746504"/>
            <a:ext cx="27371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GIS Valuation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382000" y="2258568"/>
            <a:ext cx="309372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30" dirty="0">
                <a:solidFill>
                  <a:srgbClr val="1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Locate the property on GIS / KSRSAC and apply the matching CVC guideline rate for that spot — not a neighbouring village / road / urban slab; map survey no., Pot Hissa &amp; territorial division to the GIS layer for small extents (e.g. 1 gunta); keep village, road &amp; survey masters aligned across Kaveri, CVC and KSRSAC.</a:t>
            </a:r>
            <a:endParaRPr lang="en-US" sz="1030" dirty="0"/>
          </a:p>
        </p:txBody>
      </p:sp>
      <p:sp>
        <p:nvSpPr>
          <p:cNvPr id="21" name="Text 19"/>
          <p:cNvSpPr/>
          <p:nvPr/>
        </p:nvSpPr>
        <p:spPr>
          <a:xfrm>
            <a:off x="8257032" y="647395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596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· 01-09-2026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46720" y="3291840"/>
            <a:ext cx="6400800" cy="6400800"/>
          </a:xfrm>
          <a:prstGeom prst="ellipse">
            <a:avLst/>
          </a:prstGeom>
          <a:solidFill>
            <a:srgbClr val="141A4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745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9601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 September 2026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342900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17(2) &amp; Rule 17(3) filing, Old pending release module, e-filing from Govt / Institutional, Rule 17(1)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4709160"/>
            <a:ext cx="10058400" cy="18288"/>
          </a:xfrm>
          <a:prstGeom prst="rect">
            <a:avLst/>
          </a:prstGeom>
          <a:solidFill>
            <a:srgbClr val="4A5490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48920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889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ATTENDEES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516636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7C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Kaveri IT Cell · AIGR Computers team</a:t>
            </a:r>
            <a:endParaRPr lang="en-US" sz="12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060704" y="329184"/>
            <a:ext cx="106710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Primary Acts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060704" y="841248"/>
            <a:ext cx="10671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96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basis for Rule 17 filing, old pending release &amp; institutional e-filing</a:t>
            </a:r>
            <a:endParaRPr lang="en-US" sz="125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36192"/>
          <a:ext cx="11274552" cy="4709160"/>
        </p:xfrm>
        <a:graphic>
          <a:graphicData uri="http://schemas.openxmlformats.org/drawingml/2006/table">
            <a:tbl>
              <a:tblPr/>
              <a:tblGrid>
                <a:gridCol w="2743200"/>
                <a:gridCol w="4023360"/>
                <a:gridCol w="4507992"/>
              </a:tblGrid>
              <a:tr h="11772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Sections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Relevance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11772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Registration Act, 1908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Secs.19,62 (translations/copies → R17(ii)) · Sec.21 (maps/plans → R17(i) Pt.II) · Secs.64–67 (memoranda → R17(i) Pt.I) · Secs.23,25,34 (delay/fine → old pending) · Sec.33 (impounding → pending) · Secs.71–77 (refusal/appeal → pending) · Sec.88 (Govt officer execution) · Sec.89 (orders/certificates to registering officers) · Secs.90–91 (exemption/inspection)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Backbone for Rule 17 filing, old pending &amp; institutional e-filing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1772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Karnataka Stamp Act, 1957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Secs. 33–39, 45-A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Impounding / undervaluation — documents held pending until duty adjudicated / paid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</a:tr>
              <a:tr h="11772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Related filing statutes (via Rule 17 Parts III–V)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Land Acquisition Act · Karnataka Land Improvement Loans Act, 1963 · Karnataka Agriculturists Loans Act, 1963 · Karnataka Co-operative Societies Act, 1959 (Sec. 85-A)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 instruments filed into Book 1 supplements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8257032" y="647395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596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 · 02-09-2026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060704" y="329184"/>
            <a:ext cx="106710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Rules — Rule 17 Filing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060704" y="841248"/>
            <a:ext cx="10671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96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Karnataka Registration Rules, 1965</a:t>
            </a:r>
            <a:endParaRPr lang="en-US" sz="125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36192"/>
          <a:ext cx="11274552" cy="4709160"/>
        </p:xfrm>
        <a:graphic>
          <a:graphicData uri="http://schemas.openxmlformats.org/drawingml/2006/table">
            <a:tbl>
              <a:tblPr/>
              <a:tblGrid>
                <a:gridCol w="3017520"/>
                <a:gridCol w="8257032"/>
              </a:tblGrid>
              <a:tr h="58864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Covers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8864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 17(i) Part 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Supplements to Book 1 for Secs. 64–67 memoranda (institutional / memo filing)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864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 17(i) Part II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Copies of maps / plans (Sec. 21)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</a:tr>
              <a:tr h="58864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 17(i) Part III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Court / Revenue sale certificates; Land Acquisition statements from the DC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864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 17(i) Part IV &amp; V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Instruments / collateral securities under the Karnataka Land Improvement &amp; Agriculturists Loans Acts, 1963; instruments from Land Development Banks (Sec.85-A, Co-op Societies Act)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</a:tr>
              <a:tr h="58864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 17(i) Part VI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Court Charge Creation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864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 17(ii) — module Rule 17(2)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Separate file for copies &amp; translations (Secs.19,62 / Rule 12(1)); cross-referenced to the register entry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</a:tr>
              <a:tr h="58864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 17(iii) — module Rule 17(3)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Separate file for cancellation / modification / rectification communications on filed or registered papers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8257032" y="647395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596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 · 02-09-2026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060704" y="329184"/>
            <a:ext cx="106710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Rules — Old Pending Release &amp; Govt / Institutional e-Filing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060704" y="841248"/>
            <a:ext cx="10671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96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Karnataka Registration Rules, 1965</a:t>
            </a:r>
            <a:endParaRPr lang="en-US" sz="125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36192"/>
          <a:ext cx="11274552" cy="4709160"/>
        </p:xfrm>
        <a:graphic>
          <a:graphicData uri="http://schemas.openxmlformats.org/drawingml/2006/table">
            <a:tbl>
              <a:tblPr/>
              <a:tblGrid>
                <a:gridCol w="2651760"/>
                <a:gridCol w="2286000"/>
                <a:gridCol w="6336792"/>
              </a:tblGrid>
              <a:tr h="67273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Relevance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67273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Old Pending Release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 23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Minute Book — notes suspension, refusal, summons, withdrawal, stamp impound, out-of-hours receipt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273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Old Pending Release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 24 + Forms 9,10,11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Daily Register; registers of impounded / unclaimed / deficient-fee documents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</a:tr>
              <a:tr h="67273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Old Pending Release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Rules 46, 51–55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Suspension for delay fine or stamp impounding; fine rates; condonation of delay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273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Old Pending Release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Rules 110–118 / Rule 116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Receipts; return of document; registration after stamp adjudication; release of impounded document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</a:tr>
              <a:tr h="67273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Govt / Institutional e-filing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 40(i)–(iii)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Normal docs presented in person (except Sec.89); Sec.88(2) docs via messenger with Govt covering letter; not accepted by post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273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Govt / Institutional e-filing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Rules 41–45, Rule 12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Examination, defects, presentation endorsement; filing of copies/translations (links to Rule 17(ii))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8257032" y="647395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596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 · 02-09-2026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57200" cy="45720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060704" y="329184"/>
            <a:ext cx="106710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Notifications / Amendments</a:t>
            </a:r>
            <a:endParaRPr lang="en-US" sz="26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36192"/>
          <a:ext cx="11274552" cy="4709160"/>
        </p:xfrm>
        <a:graphic>
          <a:graphicData uri="http://schemas.openxmlformats.org/drawingml/2006/table">
            <a:tbl>
              <a:tblPr/>
              <a:tblGrid>
                <a:gridCol w="4297680"/>
                <a:gridCol w="6976872"/>
              </a:tblGrid>
              <a:tr h="67273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Notification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Effect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67273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Karnataka Registration Rules, 1965 (under Registration Act Sec. 69)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Parent instrument for Rule 17 &amp; pending procedures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273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RGN 2/2002-03 (1 Apr 2002; w.e.f. 4 Apr 2002)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 19-A document sheets; Rules 22-A–22-C; Rule 40 photo — applies to institutional filings too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</a:tr>
              <a:tr h="67273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RGN/287/02-03 (29 Mar 2003)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 sheet specifications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273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Karnataka Registration (Amendment) Rules, 1971 (+ later GSRs)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Amendments to Rule 17 Parts IV–V &amp; related filing text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</a:tr>
              <a:tr h="67273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Stamp / fee notifications (e.g. RD/46/MNMU/2025)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Fee columns on pending-release screens — not the filing authority itself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273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Registration (Karnataka Amendment) Act, 2023 (Act 47 of 2024)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Secs. 22-B–22-D — refusal / cancellation can generate Rule 17(iii)-type communications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257032" y="647395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596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 · 02-09-2026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57200" cy="45720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060704" y="329184"/>
            <a:ext cx="106710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Pain Points — Rule 17(2) / Rule 17(3) Filing</a:t>
            </a:r>
            <a:endParaRPr lang="en-US" sz="26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36192"/>
          <a:ext cx="11274552" cy="4709160"/>
        </p:xfrm>
        <a:graphic>
          <a:graphicData uri="http://schemas.openxmlformats.org/drawingml/2006/table">
            <a:tbl>
              <a:tblPr/>
              <a:tblGrid>
                <a:gridCol w="4114800"/>
                <a:gridCol w="7159752"/>
              </a:tblGrid>
              <a:tr h="7848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Pain Point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Evidence (sample tickets)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7848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 17(3) filing cannot be saved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30558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848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 17(3) endorsement sheet not generated in DEO login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95069, 94894, 94647 (pending count 1)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</a:tr>
              <a:tr h="7848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 17(3) / null-and-void entry problems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 No.05436/2012-13 null &amp; void; generic Rule 17(3) issue (30223, 22825-P1)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848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 17(iii) filing unclear / not working in Kaveri 2.0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13048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</a:tr>
              <a:tr h="7848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 17 Part-VI entry not clearly supported / mapped in K2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16176; Rule 17 not enabled per Special Collector order (16501-P1)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257032" y="647395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596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 · 02-09-2026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57200" cy="45720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060704" y="329184"/>
            <a:ext cx="106710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Pain Points — Old Pending Release Module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060704" y="841248"/>
            <a:ext cx="10671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96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Categorized under Pending Document Registration</a:t>
            </a:r>
            <a:endParaRPr lang="en-US" sz="125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36192"/>
          <a:ext cx="11274552" cy="4709160"/>
        </p:xfrm>
        <a:graphic>
          <a:graphicData uri="http://schemas.openxmlformats.org/drawingml/2006/table">
            <a:tbl>
              <a:tblPr/>
              <a:tblGrid>
                <a:gridCol w="4114800"/>
                <a:gridCol w="7159752"/>
              </a:tblGrid>
              <a:tr h="67273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Pain Point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Evidence (sample tickets)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67273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Cannot release pending documents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Multiple tickets across offices (17870, 7911, 27481, 27696, 30254)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273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Cannot retrieve / import Kaveri-1 pending docs into K2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“No Property Details Found”; K1 import issue (11104, 24116, 30957)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</a:tr>
              <a:tr h="67273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Pending shows in wrong place (not Minute Book)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Pending app in SR Step 1 instead of Minute Book; K1 release shows in Citizen Book Appointment (22599, 26982)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273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Pending for condonation of delay stuck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Condonation + 45-A pending cluster (18075, 93336)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</a:tr>
              <a:tr h="67273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45-A undervaluation pending cannot be released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 cluster — wrong step; pending still got registration number (13204, 25815, 19525)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273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After release, fee / challan / J-slip integration broken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Blank stamp/fee/challan columns; J-slip not sent (30156, 21405)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8257032" y="647395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596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 · 02-09-2026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57200" cy="45720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060704" y="329184"/>
            <a:ext cx="106710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Pain Points — e-Filing from Govt / Institutional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060704" y="841248"/>
            <a:ext cx="10671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96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FRUITS · Court / institutional orders · Memo filing</a:t>
            </a:r>
            <a:endParaRPr lang="en-US" sz="125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36192"/>
          <a:ext cx="11274552" cy="4709160"/>
        </p:xfrm>
        <a:graphic>
          <a:graphicData uri="http://schemas.openxmlformats.org/drawingml/2006/table">
            <a:tbl>
              <a:tblPr/>
              <a:tblGrid>
                <a:gridCol w="4114800"/>
                <a:gridCol w="7159752"/>
              </a:tblGrid>
              <a:tr h="67273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Pain Point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Evidence (sample tickets)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67273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FRUITS — application not visible in SR login though bank shows submitted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15467, 10061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273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FRUITS — SRO code not mapped; owner name truncated; DSC fails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24581, 25107, 28216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</a:tr>
              <a:tr h="67273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Court order — not reflecting in citizen login after dept entry; OTP / cancel failures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5184, 94903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273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Court order — wrong survey / wrong jurisdiction after save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29744, 43971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</a:tr>
              <a:tr h="67273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Memo filing — unable to file memo K1 → K2; not received at destination SRO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8354, 29153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273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Memo filing — general filing failures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18566, 23172, 27438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t">
                    <a:lnL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B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8257032" y="647395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596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 · 02-09-2026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6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060704" y="329184"/>
            <a:ext cx="106710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Committee Suggestions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060704" y="841248"/>
            <a:ext cx="106710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96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distilled into user-story themes (02-09 discussion)  ·  plus one open query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5522976" cy="2263140"/>
          </a:xfrm>
          <a:prstGeom prst="roundRect">
            <a:avLst>
              <a:gd name="adj" fmla="val 2828"/>
            </a:avLst>
          </a:prstGeom>
          <a:solidFill>
            <a:srgbClr val="FFFFFF"/>
          </a:solidFill>
          <a:ln w="12700">
            <a:solidFill>
              <a:srgbClr val="DDE3F2"/>
            </a:solidFill>
            <a:prstDash val="solid"/>
          </a:ln>
          <a:effectLst>
            <a:outerShdw sx="100000" sy="100000" kx="0" ky="0" algn="bl" rotWithShape="0" blurRad="63500" dist="25400" dir="5400000">
              <a:srgbClr val="9AA6D6">
                <a:alpha val="2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58368" y="1783080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" y="17830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43000" y="1746504"/>
            <a:ext cx="46542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Rule 17(i) — Book 1 Supplements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13232" y="2258568"/>
            <a:ext cx="5010912" cy="14401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30" dirty="0">
                <a:solidFill>
                  <a:srgbClr val="1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court / revenue / bank / maps / memo papers into the correct Book-1 supplement part so institutional filings land in the right official folder; let Govt / Court / Bank senders submit sale certificates, Land Acquisition statements, loan papers or maps without treating them as a normal citizen deed.</a:t>
            </a:r>
            <a:endParaRPr lang="en-US" sz="1030" dirty="0"/>
          </a:p>
        </p:txBody>
      </p:sp>
      <p:sp>
        <p:nvSpPr>
          <p:cNvPr id="11" name="Shape 9"/>
          <p:cNvSpPr/>
          <p:nvPr/>
        </p:nvSpPr>
        <p:spPr>
          <a:xfrm>
            <a:off x="6208776" y="1600200"/>
            <a:ext cx="5522976" cy="2263140"/>
          </a:xfrm>
          <a:prstGeom prst="roundRect">
            <a:avLst>
              <a:gd name="adj" fmla="val 2828"/>
            </a:avLst>
          </a:prstGeom>
          <a:solidFill>
            <a:srgbClr val="FFFFFF"/>
          </a:solidFill>
          <a:ln w="12700">
            <a:solidFill>
              <a:srgbClr val="DDE3F2"/>
            </a:solidFill>
            <a:prstDash val="solid"/>
          </a:ln>
          <a:effectLst>
            <a:outerShdw sx="100000" sy="100000" kx="0" ky="0" algn="bl" rotWithShape="0" blurRad="63500" dist="25400" dir="5400000">
              <a:srgbClr val="9AA6D6">
                <a:alpha val="2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09944" y="1783080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6409944" y="17830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894576" y="1746504"/>
            <a:ext cx="46542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Rule 17(ii) — Copies &amp; Translations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64808" y="2258568"/>
            <a:ext cx="5010912" cy="14401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30" dirty="0">
                <a:solidFill>
                  <a:srgbClr val="1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a citizen submit a translation / copy when the document is in an unknown language (Sec.19/62); store it in a separate Rule 17(ii) file linked to the register entry so extra papers are preserved and retrievable.</a:t>
            </a:r>
            <a:endParaRPr lang="en-US" sz="1030" dirty="0"/>
          </a:p>
        </p:txBody>
      </p:sp>
      <p:sp>
        <p:nvSpPr>
          <p:cNvPr id="16" name="Shape 14"/>
          <p:cNvSpPr/>
          <p:nvPr/>
        </p:nvSpPr>
        <p:spPr>
          <a:xfrm>
            <a:off x="457200" y="4091940"/>
            <a:ext cx="5522976" cy="2263140"/>
          </a:xfrm>
          <a:prstGeom prst="roundRect">
            <a:avLst>
              <a:gd name="adj" fmla="val 2828"/>
            </a:avLst>
          </a:prstGeom>
          <a:solidFill>
            <a:srgbClr val="FFFFFF"/>
          </a:solidFill>
          <a:ln w="12700">
            <a:solidFill>
              <a:srgbClr val="DDE3F2"/>
            </a:solidFill>
            <a:prstDash val="solid"/>
          </a:ln>
          <a:effectLst>
            <a:outerShdw sx="100000" sy="100000" kx="0" ky="0" algn="bl" rotWithShape="0" blurRad="63500" dist="25400" dir="5400000">
              <a:srgbClr val="9AA6D6">
                <a:alpha val="2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58368" y="4274820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8" name="Text 16"/>
          <p:cNvSpPr/>
          <p:nvPr/>
        </p:nvSpPr>
        <p:spPr>
          <a:xfrm>
            <a:off x="658368" y="42748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143000" y="4238244"/>
            <a:ext cx="46542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Rule 17(iii) — Cancel / Modify / Correct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13232" y="4750308"/>
            <a:ext cx="5010912" cy="14401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30" dirty="0">
                <a:solidFill>
                  <a:srgbClr val="1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another department / court / revenue officer send a cancellation, modification or rectification communication for an already filed / registered paper; file it under Rule 17(iii) and cross-link to the original entry so later searches show the change.</a:t>
            </a:r>
            <a:endParaRPr lang="en-US" sz="1030" dirty="0"/>
          </a:p>
        </p:txBody>
      </p:sp>
      <p:sp>
        <p:nvSpPr>
          <p:cNvPr id="21" name="Shape 19"/>
          <p:cNvSpPr/>
          <p:nvPr/>
        </p:nvSpPr>
        <p:spPr>
          <a:xfrm>
            <a:off x="6208776" y="4091940"/>
            <a:ext cx="5522976" cy="2263140"/>
          </a:xfrm>
          <a:prstGeom prst="roundRect">
            <a:avLst>
              <a:gd name="adj" fmla="val 2828"/>
            </a:avLst>
          </a:prstGeom>
          <a:solidFill>
            <a:srgbClr val="FFFFFF"/>
          </a:solidFill>
          <a:ln w="12700">
            <a:solidFill>
              <a:srgbClr val="DDE3F2"/>
            </a:solidFill>
            <a:prstDash val="solid"/>
          </a:ln>
          <a:effectLst>
            <a:outerShdw sx="100000" sy="100000" kx="0" ky="0" algn="bl" rotWithShape="0" blurRad="63500" dist="25400" dir="5400000">
              <a:srgbClr val="9AA6D6">
                <a:alpha val="2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09944" y="4274820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3" name="Text 21"/>
          <p:cNvSpPr/>
          <p:nvPr/>
        </p:nvSpPr>
        <p:spPr>
          <a:xfrm>
            <a:off x="6409944" y="42748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894576" y="4238244"/>
            <a:ext cx="46542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 Query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464808" y="4750308"/>
            <a:ext cx="5010912" cy="14401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30" dirty="0">
                <a:solidFill>
                  <a:srgbClr val="1A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paperless, whether the template should be generated for the required languages.</a:t>
            </a:r>
            <a:endParaRPr lang="en-US" sz="1030" dirty="0"/>
          </a:p>
        </p:txBody>
      </p:sp>
      <p:sp>
        <p:nvSpPr>
          <p:cNvPr id="26" name="Text 24"/>
          <p:cNvSpPr/>
          <p:nvPr/>
        </p:nvSpPr>
        <p:spPr>
          <a:xfrm>
            <a:off x="8257032" y="647395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596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 · 02-09-2026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560320" y="-2377440"/>
            <a:ext cx="5943600" cy="5943600"/>
          </a:xfrm>
          <a:prstGeom prst="ellipse">
            <a:avLst/>
          </a:prstGeom>
          <a:solidFill>
            <a:srgbClr val="141A4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Cross-Cutting Themes &amp; Next Steps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patterns across the four requirement-discussion sessions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146304" cy="146304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691640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4E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Valuation &amp; Sec.45-A undervaluation (guideline value, CVC rates, DR adjudication) recur across 27-08, 28-08 &amp; 01-09 discussions.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2304288"/>
            <a:ext cx="146304" cy="146304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258568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4E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Payment, slot booking &amp; SR approval workflow issues run through both 27-08 and 28-08 sessions.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57200" y="2871216"/>
            <a:ext cx="146304" cy="146304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825496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4E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accuracy and status/step tracking surface as pain points in almost every day's walkthrough.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3438144"/>
            <a:ext cx="146304" cy="146304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3392424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4E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release &amp; institutional filing (Rule 17, K1→K2 migration, FRUITS / Court / Memo) form a distinct cluster on 02-09.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57200" y="4005072"/>
            <a:ext cx="146304" cy="146304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959352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4E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legal anchors throughout: Registration Act 1908, Karnataka Registration Rules 1965, Karnataka Stamp Act 1957 &amp; Undervaluation Rules 1977, the 2023 Karnataka Amendment Act, and fee notification RD/46/MNMU/2025.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57200" y="4663440"/>
            <a:ext cx="10058400" cy="18288"/>
          </a:xfrm>
          <a:prstGeom prst="rect">
            <a:avLst/>
          </a:prstGeom>
          <a:solidFill>
            <a:srgbClr val="4A5490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48006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SUGGESTED NEXT STEPS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57200" y="5120640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C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Consolidate the Acts / Rules / Sections mapping above into the BRD's legal-traceability annexure.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5440680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C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Prioritise pain-point clusters by ServiceDesk ticket volume (valuation, payment/slot, pending release).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5760720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C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Carry forward open items — stamp-duty/guidance-value study, tatkal reschedule-with-fine, paperless template languages — into the next discussion.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2026-09-04T14:27:44Z</dcterms:created>
  <dcterms:modified xsi:type="dcterms:W3CDTF">2026-09-04T14:27:44Z</dcterms:modified>
</cp:coreProperties>
</file>