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123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400" b="1" dirty="0">
                <a:solidFill>
                  <a:srgbClr val="0F4C5C"/>
                </a:solidFill>
                <a:latin typeface="Cambria" pitchFamily="34" charset="0"/>
                <a:ea typeface="Cambria" pitchFamily="34" charset="-122"/>
                <a:cs typeface="Cambria" pitchFamily="34" charset="-120"/>
              </a:rPr>
              <a:t>Service Actions &amp; Governing Rules</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marL="0" indent="0">
              <a:buNone/>
            </a:pPr>
            <a:r>
              <a:rPr lang="en-US" sz="1500" i="1" dirty="0">
                <a:solidFill>
                  <a:srgbClr val="5B6770"/>
                </a:solidFill>
                <a:latin typeface="Calibri" pitchFamily="34" charset="0"/>
                <a:ea typeface="Calibri" pitchFamily="34" charset="-122"/>
                <a:cs typeface="Calibri" pitchFamily="34" charset="-120"/>
              </a:rPr>
              <a:t>Department of Stamps &amp; Registration, Karnataka — KCSR and Registration Act, 1908</a:t>
            </a:r>
            <a:endParaRPr lang="en-US" sz="1500" dirty="0"/>
          </a:p>
        </p:txBody>
      </p:sp>
      <p:sp>
        <p:nvSpPr>
          <p:cNvPr id="4" name="Shape 2"/>
          <p:cNvSpPr/>
          <p:nvPr/>
        </p:nvSpPr>
        <p:spPr>
          <a:xfrm>
            <a:off x="457200" y="1417320"/>
            <a:ext cx="11274552" cy="530352"/>
          </a:xfrm>
          <a:prstGeom prst="roundRect">
            <a:avLst>
              <a:gd name="adj" fmla="val 10345"/>
            </a:avLst>
          </a:prstGeom>
          <a:solidFill>
            <a:srgbClr val="EEF4F5"/>
          </a:solidFill>
          <a:ln w="12700">
            <a:solidFill>
              <a:srgbClr val="EEF4F5"/>
            </a:solidFill>
            <a:prstDash val="solid"/>
          </a:ln>
        </p:spPr>
      </p:sp>
      <p:sp>
        <p:nvSpPr>
          <p:cNvPr id="5" name="Shape 3"/>
          <p:cNvSpPr/>
          <p:nvPr/>
        </p:nvSpPr>
        <p:spPr>
          <a:xfrm>
            <a:off x="594360" y="1490472"/>
            <a:ext cx="384048" cy="384048"/>
          </a:xfrm>
          <a:prstGeom prst="ellipse">
            <a:avLst/>
          </a:prstGeom>
          <a:solidFill>
            <a:srgbClr val="0F4C5C"/>
          </a:solidFill>
          <a:ln w="12700">
            <a:solidFill>
              <a:srgbClr val="0F4C5C"/>
            </a:solidFill>
            <a:prstDash val="solid"/>
          </a:ln>
        </p:spPr>
      </p:sp>
      <p:sp>
        <p:nvSpPr>
          <p:cNvPr id="6" name="Text 4"/>
          <p:cNvSpPr txBox="1"/>
          <p:nvPr/>
        </p:nvSpPr>
        <p:spPr>
          <a:xfrm>
            <a:off x="594360"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43000" y="1417320"/>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Employment / Appointment</a:t>
            </a:r>
            <a:endParaRPr lang="en-US" sz="1500" dirty="0"/>
          </a:p>
        </p:txBody>
      </p:sp>
      <p:sp>
        <p:nvSpPr>
          <p:cNvPr id="8" name="Text 6"/>
          <p:cNvSpPr txBox="1"/>
          <p:nvPr/>
        </p:nvSpPr>
        <p:spPr>
          <a:xfrm>
            <a:off x="3383280" y="1417320"/>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Art. 309 · KSCS Act 1978 · Reg. Act S.3, S.6</a:t>
            </a:r>
            <a:endParaRPr lang="en-US" sz="1300" dirty="0"/>
          </a:p>
        </p:txBody>
      </p:sp>
      <p:sp>
        <p:nvSpPr>
          <p:cNvPr id="9" name="Text 7"/>
          <p:cNvSpPr txBox="1"/>
          <p:nvPr/>
        </p:nvSpPr>
        <p:spPr>
          <a:xfrm>
            <a:off x="6126480" y="1417320"/>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KSCS Act Sec. 3 r/w 8; KCS (General Recruitment) Rules 1977; Dept. C&amp;R Rules; IGR – Reg. Act S.3; Registrars &amp; Sub-Registrars – S.6</a:t>
            </a:r>
            <a:endParaRPr lang="en-US" sz="1100" dirty="0"/>
          </a:p>
        </p:txBody>
      </p:sp>
      <p:sp>
        <p:nvSpPr>
          <p:cNvPr id="10" name="Shape 8"/>
          <p:cNvSpPr/>
          <p:nvPr/>
        </p:nvSpPr>
        <p:spPr>
          <a:xfrm>
            <a:off x="457200" y="2039112"/>
            <a:ext cx="11274552" cy="530352"/>
          </a:xfrm>
          <a:prstGeom prst="roundRect">
            <a:avLst>
              <a:gd name="adj" fmla="val 10345"/>
            </a:avLst>
          </a:prstGeom>
          <a:solidFill>
            <a:srgbClr val="EEF4F5"/>
          </a:solidFill>
          <a:ln w="12700">
            <a:solidFill>
              <a:srgbClr val="EEF4F5"/>
            </a:solidFill>
            <a:prstDash val="solid"/>
          </a:ln>
        </p:spPr>
      </p:sp>
      <p:sp>
        <p:nvSpPr>
          <p:cNvPr id="11" name="Shape 9"/>
          <p:cNvSpPr/>
          <p:nvPr/>
        </p:nvSpPr>
        <p:spPr>
          <a:xfrm>
            <a:off x="594360" y="2112264"/>
            <a:ext cx="384048" cy="384048"/>
          </a:xfrm>
          <a:prstGeom prst="ellipse">
            <a:avLst/>
          </a:prstGeom>
          <a:solidFill>
            <a:srgbClr val="0F4C5C"/>
          </a:solidFill>
          <a:ln w="12700">
            <a:solidFill>
              <a:srgbClr val="0F4C5C"/>
            </a:solidFill>
            <a:prstDash val="solid"/>
          </a:ln>
        </p:spPr>
      </p:sp>
      <p:sp>
        <p:nvSpPr>
          <p:cNvPr id="12" name="Text 10"/>
          <p:cNvSpPr txBox="1"/>
          <p:nvPr/>
        </p:nvSpPr>
        <p:spPr>
          <a:xfrm>
            <a:off x="594360" y="21122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143000" y="2039112"/>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Transfer</a:t>
            </a:r>
            <a:endParaRPr lang="en-US" sz="1500" dirty="0"/>
          </a:p>
        </p:txBody>
      </p:sp>
      <p:sp>
        <p:nvSpPr>
          <p:cNvPr id="14" name="Text 12"/>
          <p:cNvSpPr txBox="1"/>
          <p:nvPr/>
        </p:nvSpPr>
        <p:spPr>
          <a:xfrm>
            <a:off x="3383280" y="2039112"/>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KCSR Rule 20-A</a:t>
            </a:r>
            <a:endParaRPr lang="en-US" sz="1300" dirty="0"/>
          </a:p>
        </p:txBody>
      </p:sp>
      <p:sp>
        <p:nvSpPr>
          <p:cNvPr id="15" name="Text 13"/>
          <p:cNvSpPr txBox="1"/>
          <p:nvPr/>
        </p:nvSpPr>
        <p:spPr>
          <a:xfrm>
            <a:off x="6126480" y="2039112"/>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R.8(49) definition; DPAR transfer guidelines (G.O. 07.06.2013 &amp; annual orders); DPAR circular 10.07.2026 on posting</a:t>
            </a:r>
            <a:endParaRPr lang="en-US" sz="1100" dirty="0"/>
          </a:p>
        </p:txBody>
      </p:sp>
      <p:sp>
        <p:nvSpPr>
          <p:cNvPr id="16" name="Shape 14"/>
          <p:cNvSpPr/>
          <p:nvPr/>
        </p:nvSpPr>
        <p:spPr>
          <a:xfrm>
            <a:off x="457200" y="2660904"/>
            <a:ext cx="11274552" cy="530352"/>
          </a:xfrm>
          <a:prstGeom prst="roundRect">
            <a:avLst>
              <a:gd name="adj" fmla="val 10345"/>
            </a:avLst>
          </a:prstGeom>
          <a:solidFill>
            <a:srgbClr val="EEF4F5"/>
          </a:solidFill>
          <a:ln w="12700">
            <a:solidFill>
              <a:srgbClr val="EEF4F5"/>
            </a:solidFill>
            <a:prstDash val="solid"/>
          </a:ln>
        </p:spPr>
      </p:sp>
      <p:sp>
        <p:nvSpPr>
          <p:cNvPr id="17" name="Shape 15"/>
          <p:cNvSpPr/>
          <p:nvPr/>
        </p:nvSpPr>
        <p:spPr>
          <a:xfrm>
            <a:off x="594360" y="2734056"/>
            <a:ext cx="384048" cy="384048"/>
          </a:xfrm>
          <a:prstGeom prst="ellipse">
            <a:avLst/>
          </a:prstGeom>
          <a:solidFill>
            <a:srgbClr val="0F4C5C"/>
          </a:solidFill>
          <a:ln w="12700">
            <a:solidFill>
              <a:srgbClr val="0F4C5C"/>
            </a:solidFill>
            <a:prstDash val="solid"/>
          </a:ln>
        </p:spPr>
      </p:sp>
      <p:sp>
        <p:nvSpPr>
          <p:cNvPr id="18" name="Text 16"/>
          <p:cNvSpPr txBox="1"/>
          <p:nvPr/>
        </p:nvSpPr>
        <p:spPr>
          <a:xfrm>
            <a:off x="594360" y="27340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143000" y="2660904"/>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Relieving</a:t>
            </a:r>
            <a:endParaRPr lang="en-US" sz="1500" dirty="0"/>
          </a:p>
        </p:txBody>
      </p:sp>
      <p:sp>
        <p:nvSpPr>
          <p:cNvPr id="20" name="Text 18"/>
          <p:cNvSpPr txBox="1"/>
          <p:nvPr/>
        </p:nvSpPr>
        <p:spPr>
          <a:xfrm>
            <a:off x="3383280" y="2660904"/>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KCSR Rules 12 &amp; 23</a:t>
            </a:r>
            <a:endParaRPr lang="en-US" sz="1300" dirty="0"/>
          </a:p>
        </p:txBody>
      </p:sp>
      <p:sp>
        <p:nvSpPr>
          <p:cNvPr id="21" name="Text 19"/>
          <p:cNvSpPr txBox="1"/>
          <p:nvPr/>
        </p:nvSpPr>
        <p:spPr>
          <a:xfrm>
            <a:off x="6126480" y="2660904"/>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Charge made over at HQ, both officers present (R.12); forenoon/afternoon (R.23); report charge details to HO (IGR circular)</a:t>
            </a:r>
            <a:endParaRPr lang="en-US" sz="1100" dirty="0"/>
          </a:p>
        </p:txBody>
      </p:sp>
      <p:sp>
        <p:nvSpPr>
          <p:cNvPr id="22" name="Shape 20"/>
          <p:cNvSpPr/>
          <p:nvPr/>
        </p:nvSpPr>
        <p:spPr>
          <a:xfrm>
            <a:off x="457200" y="3282696"/>
            <a:ext cx="11274552" cy="530352"/>
          </a:xfrm>
          <a:prstGeom prst="roundRect">
            <a:avLst>
              <a:gd name="adj" fmla="val 10345"/>
            </a:avLst>
          </a:prstGeom>
          <a:solidFill>
            <a:srgbClr val="EEF4F5"/>
          </a:solidFill>
          <a:ln w="12700">
            <a:solidFill>
              <a:srgbClr val="EEF4F5"/>
            </a:solidFill>
            <a:prstDash val="solid"/>
          </a:ln>
        </p:spPr>
      </p:sp>
      <p:sp>
        <p:nvSpPr>
          <p:cNvPr id="23" name="Shape 21"/>
          <p:cNvSpPr/>
          <p:nvPr/>
        </p:nvSpPr>
        <p:spPr>
          <a:xfrm>
            <a:off x="594360" y="3355848"/>
            <a:ext cx="384048" cy="384048"/>
          </a:xfrm>
          <a:prstGeom prst="ellipse">
            <a:avLst/>
          </a:prstGeom>
          <a:solidFill>
            <a:srgbClr val="0F4C5C"/>
          </a:solidFill>
          <a:ln w="12700">
            <a:solidFill>
              <a:srgbClr val="0F4C5C"/>
            </a:solidFill>
            <a:prstDash val="solid"/>
          </a:ln>
        </p:spPr>
      </p:sp>
      <p:sp>
        <p:nvSpPr>
          <p:cNvPr id="24" name="Text 22"/>
          <p:cNvSpPr txBox="1"/>
          <p:nvPr/>
        </p:nvSpPr>
        <p:spPr>
          <a:xfrm>
            <a:off x="594360" y="33558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1143000" y="3282696"/>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Joining</a:t>
            </a:r>
            <a:endParaRPr lang="en-US" sz="1500" dirty="0"/>
          </a:p>
        </p:txBody>
      </p:sp>
      <p:sp>
        <p:nvSpPr>
          <p:cNvPr id="26" name="Text 24"/>
          <p:cNvSpPr txBox="1"/>
          <p:nvPr/>
        </p:nvSpPr>
        <p:spPr>
          <a:xfrm>
            <a:off x="3383280" y="3282696"/>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KCSR Chapter VII · IGR Circular</a:t>
            </a:r>
            <a:endParaRPr lang="en-US" sz="1300" dirty="0"/>
          </a:p>
        </p:txBody>
      </p:sp>
      <p:sp>
        <p:nvSpPr>
          <p:cNvPr id="27" name="Text 25"/>
          <p:cNvSpPr txBox="1"/>
          <p:nvPr/>
        </p:nvSpPr>
        <p:spPr>
          <a:xfrm>
            <a:off x="6126480" y="3282696"/>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R.8(24) definition; pay from date of taking charge (R.23); Movement Order from HO before joining — IGR Circular 21.12.2024</a:t>
            </a:r>
            <a:endParaRPr lang="en-US" sz="1100" dirty="0"/>
          </a:p>
        </p:txBody>
      </p:sp>
      <p:sp>
        <p:nvSpPr>
          <p:cNvPr id="28" name="Shape 26"/>
          <p:cNvSpPr/>
          <p:nvPr/>
        </p:nvSpPr>
        <p:spPr>
          <a:xfrm>
            <a:off x="457200" y="3904488"/>
            <a:ext cx="11274552" cy="530352"/>
          </a:xfrm>
          <a:prstGeom prst="roundRect">
            <a:avLst>
              <a:gd name="adj" fmla="val 10345"/>
            </a:avLst>
          </a:prstGeom>
          <a:solidFill>
            <a:srgbClr val="EEF4F5"/>
          </a:solidFill>
          <a:ln w="12700">
            <a:solidFill>
              <a:srgbClr val="EEF4F5"/>
            </a:solidFill>
            <a:prstDash val="solid"/>
          </a:ln>
        </p:spPr>
      </p:sp>
      <p:sp>
        <p:nvSpPr>
          <p:cNvPr id="29" name="Shape 27"/>
          <p:cNvSpPr/>
          <p:nvPr/>
        </p:nvSpPr>
        <p:spPr>
          <a:xfrm>
            <a:off x="594360" y="3977640"/>
            <a:ext cx="384048" cy="384048"/>
          </a:xfrm>
          <a:prstGeom prst="ellipse">
            <a:avLst/>
          </a:prstGeom>
          <a:solidFill>
            <a:srgbClr val="0F4C5C"/>
          </a:solidFill>
          <a:ln w="12700">
            <a:solidFill>
              <a:srgbClr val="0F4C5C"/>
            </a:solidFill>
            <a:prstDash val="solid"/>
          </a:ln>
        </p:spPr>
      </p:sp>
      <p:sp>
        <p:nvSpPr>
          <p:cNvPr id="30" name="Text 28"/>
          <p:cNvSpPr txBox="1"/>
          <p:nvPr/>
        </p:nvSpPr>
        <p:spPr>
          <a:xfrm>
            <a:off x="594360" y="3977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1143000" y="3904488"/>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Leave</a:t>
            </a:r>
            <a:endParaRPr lang="en-US" sz="1500" dirty="0"/>
          </a:p>
        </p:txBody>
      </p:sp>
      <p:sp>
        <p:nvSpPr>
          <p:cNvPr id="32" name="Text 30"/>
          <p:cNvSpPr txBox="1"/>
          <p:nvPr/>
        </p:nvSpPr>
        <p:spPr>
          <a:xfrm>
            <a:off x="3383280" y="3904488"/>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KCSR Chapter X</a:t>
            </a:r>
            <a:endParaRPr lang="en-US" sz="1300" dirty="0"/>
          </a:p>
        </p:txBody>
      </p:sp>
      <p:sp>
        <p:nvSpPr>
          <p:cNvPr id="33" name="Text 31"/>
          <p:cNvSpPr txBox="1"/>
          <p:nvPr/>
        </p:nvSpPr>
        <p:spPr>
          <a:xfrm>
            <a:off x="6126480" y="3904488"/>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EL – R.112 · HPL – R.114 · Commuted – R.116 · LND – R.117 · EOL – R.118; Casual leave under G.Os</a:t>
            </a:r>
            <a:endParaRPr lang="en-US" sz="1100" dirty="0"/>
          </a:p>
        </p:txBody>
      </p:sp>
      <p:sp>
        <p:nvSpPr>
          <p:cNvPr id="34" name="Shape 32"/>
          <p:cNvSpPr/>
          <p:nvPr/>
        </p:nvSpPr>
        <p:spPr>
          <a:xfrm>
            <a:off x="457200" y="4526280"/>
            <a:ext cx="11274552" cy="530352"/>
          </a:xfrm>
          <a:prstGeom prst="roundRect">
            <a:avLst>
              <a:gd name="adj" fmla="val 10345"/>
            </a:avLst>
          </a:prstGeom>
          <a:solidFill>
            <a:srgbClr val="EEF4F5"/>
          </a:solidFill>
          <a:ln w="12700">
            <a:solidFill>
              <a:srgbClr val="EEF4F5"/>
            </a:solidFill>
            <a:prstDash val="solid"/>
          </a:ln>
        </p:spPr>
      </p:sp>
      <p:sp>
        <p:nvSpPr>
          <p:cNvPr id="35" name="Shape 33"/>
          <p:cNvSpPr/>
          <p:nvPr/>
        </p:nvSpPr>
        <p:spPr>
          <a:xfrm>
            <a:off x="594360" y="4599432"/>
            <a:ext cx="384048" cy="384048"/>
          </a:xfrm>
          <a:prstGeom prst="ellipse">
            <a:avLst/>
          </a:prstGeom>
          <a:solidFill>
            <a:srgbClr val="0F4C5C"/>
          </a:solidFill>
          <a:ln w="12700">
            <a:solidFill>
              <a:srgbClr val="0F4C5C"/>
            </a:solidFill>
            <a:prstDash val="solid"/>
          </a:ln>
        </p:spPr>
      </p:sp>
      <p:sp>
        <p:nvSpPr>
          <p:cNvPr id="36" name="Text 34"/>
          <p:cNvSpPr txBox="1"/>
          <p:nvPr/>
        </p:nvSpPr>
        <p:spPr>
          <a:xfrm>
            <a:off x="594360" y="45994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1143000" y="4526280"/>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Additional Charge</a:t>
            </a:r>
            <a:endParaRPr lang="en-US" sz="1500" dirty="0"/>
          </a:p>
        </p:txBody>
      </p:sp>
      <p:sp>
        <p:nvSpPr>
          <p:cNvPr id="38" name="Text 36"/>
          <p:cNvSpPr txBox="1"/>
          <p:nvPr/>
        </p:nvSpPr>
        <p:spPr>
          <a:xfrm>
            <a:off x="3383280" y="4526280"/>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KCSR R.68 · Reg. Act S.10–12</a:t>
            </a:r>
            <a:endParaRPr lang="en-US" sz="1300" dirty="0"/>
          </a:p>
        </p:txBody>
      </p:sp>
      <p:sp>
        <p:nvSpPr>
          <p:cNvPr id="39" name="Text 37"/>
          <p:cNvSpPr txBox="1"/>
          <p:nvPr/>
        </p:nvSpPr>
        <p:spPr>
          <a:xfrm>
            <a:off x="6126480" y="4526280"/>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Charge allowance (R.68); current duties charge (R.32); in-charge Registrar S.10/11; in-charge Sub-Registrar S.12</a:t>
            </a:r>
            <a:endParaRPr lang="en-US" sz="1100" dirty="0"/>
          </a:p>
        </p:txBody>
      </p:sp>
      <p:sp>
        <p:nvSpPr>
          <p:cNvPr id="40" name="Shape 38"/>
          <p:cNvSpPr/>
          <p:nvPr/>
        </p:nvSpPr>
        <p:spPr>
          <a:xfrm>
            <a:off x="457200" y="5148072"/>
            <a:ext cx="11274552" cy="530352"/>
          </a:xfrm>
          <a:prstGeom prst="roundRect">
            <a:avLst>
              <a:gd name="adj" fmla="val 10345"/>
            </a:avLst>
          </a:prstGeom>
          <a:solidFill>
            <a:srgbClr val="EEF4F5"/>
          </a:solidFill>
          <a:ln w="12700">
            <a:solidFill>
              <a:srgbClr val="EEF4F5"/>
            </a:solidFill>
            <a:prstDash val="solid"/>
          </a:ln>
        </p:spPr>
      </p:sp>
      <p:sp>
        <p:nvSpPr>
          <p:cNvPr id="41" name="Shape 39"/>
          <p:cNvSpPr/>
          <p:nvPr/>
        </p:nvSpPr>
        <p:spPr>
          <a:xfrm>
            <a:off x="594360" y="5221224"/>
            <a:ext cx="384048" cy="384048"/>
          </a:xfrm>
          <a:prstGeom prst="ellipse">
            <a:avLst/>
          </a:prstGeom>
          <a:solidFill>
            <a:srgbClr val="0F4C5C"/>
          </a:solidFill>
          <a:ln w="12700">
            <a:solidFill>
              <a:srgbClr val="0F4C5C"/>
            </a:solidFill>
            <a:prstDash val="solid"/>
          </a:ln>
        </p:spPr>
      </p:sp>
      <p:sp>
        <p:nvSpPr>
          <p:cNvPr id="42" name="Text 40"/>
          <p:cNvSpPr txBox="1"/>
          <p:nvPr/>
        </p:nvSpPr>
        <p:spPr>
          <a:xfrm>
            <a:off x="594360" y="52212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3" name="Text 41"/>
          <p:cNvSpPr txBox="1"/>
          <p:nvPr/>
        </p:nvSpPr>
        <p:spPr>
          <a:xfrm>
            <a:off x="1143000" y="5148072"/>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Audit</a:t>
            </a:r>
            <a:endParaRPr lang="en-US" sz="1500" dirty="0"/>
          </a:p>
        </p:txBody>
      </p:sp>
      <p:sp>
        <p:nvSpPr>
          <p:cNvPr id="44" name="Text 42"/>
          <p:cNvSpPr txBox="1"/>
          <p:nvPr/>
        </p:nvSpPr>
        <p:spPr>
          <a:xfrm>
            <a:off x="3383280" y="5148072"/>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Art. 149/151 · CAG Act 1971</a:t>
            </a:r>
            <a:endParaRPr lang="en-US" sz="1300" dirty="0"/>
          </a:p>
        </p:txBody>
      </p:sp>
      <p:sp>
        <p:nvSpPr>
          <p:cNvPr id="45" name="Text 43"/>
          <p:cNvSpPr txBox="1"/>
          <p:nvPr/>
        </p:nvSpPr>
        <p:spPr>
          <a:xfrm>
            <a:off x="6126480" y="5148072"/>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Accountant General — Sec. 13 (expenditure), Sec. 16 (receipts), Sec. 18 (inspection, records)</a:t>
            </a:r>
            <a:endParaRPr lang="en-US" sz="1100" dirty="0"/>
          </a:p>
        </p:txBody>
      </p:sp>
      <p:sp>
        <p:nvSpPr>
          <p:cNvPr id="46" name="Shape 44"/>
          <p:cNvSpPr/>
          <p:nvPr/>
        </p:nvSpPr>
        <p:spPr>
          <a:xfrm>
            <a:off x="457200" y="5769864"/>
            <a:ext cx="11274552" cy="530352"/>
          </a:xfrm>
          <a:prstGeom prst="roundRect">
            <a:avLst>
              <a:gd name="adj" fmla="val 10345"/>
            </a:avLst>
          </a:prstGeom>
          <a:solidFill>
            <a:srgbClr val="EEF4F5"/>
          </a:solidFill>
          <a:ln w="12700">
            <a:solidFill>
              <a:srgbClr val="EEF4F5"/>
            </a:solidFill>
            <a:prstDash val="solid"/>
          </a:ln>
        </p:spPr>
      </p:sp>
      <p:sp>
        <p:nvSpPr>
          <p:cNvPr id="47" name="Shape 45"/>
          <p:cNvSpPr/>
          <p:nvPr/>
        </p:nvSpPr>
        <p:spPr>
          <a:xfrm>
            <a:off x="594360" y="5843016"/>
            <a:ext cx="384048" cy="384048"/>
          </a:xfrm>
          <a:prstGeom prst="ellipse">
            <a:avLst/>
          </a:prstGeom>
          <a:solidFill>
            <a:srgbClr val="0F4C5C"/>
          </a:solidFill>
          <a:ln w="12700">
            <a:solidFill>
              <a:srgbClr val="0F4C5C"/>
            </a:solidFill>
            <a:prstDash val="solid"/>
          </a:ln>
        </p:spPr>
      </p:sp>
      <p:sp>
        <p:nvSpPr>
          <p:cNvPr id="48" name="Text 46"/>
          <p:cNvSpPr txBox="1"/>
          <p:nvPr/>
        </p:nvSpPr>
        <p:spPr>
          <a:xfrm>
            <a:off x="594360" y="58430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9" name="Text 47"/>
          <p:cNvSpPr txBox="1"/>
          <p:nvPr/>
        </p:nvSpPr>
        <p:spPr>
          <a:xfrm>
            <a:off x="1143000" y="5769864"/>
            <a:ext cx="2194560" cy="530352"/>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Investigation</a:t>
            </a:r>
            <a:endParaRPr lang="en-US" sz="1500" dirty="0"/>
          </a:p>
        </p:txBody>
      </p:sp>
      <p:sp>
        <p:nvSpPr>
          <p:cNvPr id="50" name="Text 48"/>
          <p:cNvSpPr txBox="1"/>
          <p:nvPr/>
        </p:nvSpPr>
        <p:spPr>
          <a:xfrm>
            <a:off x="3383280" y="5769864"/>
            <a:ext cx="2651760" cy="530352"/>
          </a:xfrm>
          <a:prstGeom prst="rect">
            <a:avLst/>
          </a:prstGeom>
          <a:noFill/>
          <a:ln/>
        </p:spPr>
        <p:txBody>
          <a:bodyPr wrap="square" lIns="0" tIns="0" rIns="0" bIns="0" rtlCol="0" anchor="ctr"/>
          <a:lstStyle/>
          <a:p>
            <a:pPr marL="0" indent="0">
              <a:buNone/>
            </a:pPr>
            <a:r>
              <a:rPr lang="en-US" sz="1300" b="1" dirty="0">
                <a:solidFill>
                  <a:srgbClr val="E36414"/>
                </a:solidFill>
                <a:latin typeface="Calibri" pitchFamily="34" charset="0"/>
                <a:ea typeface="Calibri" pitchFamily="34" charset="-122"/>
                <a:cs typeface="Calibri" pitchFamily="34" charset="-120"/>
              </a:rPr>
              <a:t>KL Act 1984 · PC Act 1988 · IT Act 2025</a:t>
            </a:r>
            <a:endParaRPr lang="en-US" sz="1300" dirty="0"/>
          </a:p>
        </p:txBody>
      </p:sp>
      <p:sp>
        <p:nvSpPr>
          <p:cNvPr id="51" name="Text 49"/>
          <p:cNvSpPr txBox="1"/>
          <p:nvPr/>
        </p:nvSpPr>
        <p:spPr>
          <a:xfrm>
            <a:off x="6126480" y="5769864"/>
            <a:ext cx="5440680" cy="530352"/>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Lokayukta — KL Act S.7, 9, 10–12; Lokayukta Police — PC Act S.7, 13, 17, 17A; Income Tax — S.247 (2025) / S.131, 133A, 285BA (1961)</a:t>
            </a:r>
            <a:endParaRPr lang="en-US" sz="1100" dirty="0"/>
          </a:p>
        </p:txBody>
      </p:sp>
      <p:sp>
        <p:nvSpPr>
          <p:cNvPr id="52" name="Text 50"/>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100" i="1" dirty="0">
                <a:solidFill>
                  <a:srgbClr val="5B6770"/>
                </a:solidFill>
                <a:latin typeface="Calibri" pitchFamily="34" charset="0"/>
                <a:ea typeface="Calibri" pitchFamily="34" charset="-122"/>
                <a:cs typeface="Calibri" pitchFamily="34" charset="-120"/>
              </a:rPr>
              <a:t>Each service action is detailed on the following slides with the relevant extracts. Verify rule numbers against the latest editions before citing in official orders.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1</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Employment / Appointment</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Legal basis of employment and appointment of registering officers</a:t>
            </a:r>
            <a:endParaRPr lang="en-US" sz="1300" dirty="0"/>
          </a:p>
        </p:txBody>
      </p:sp>
      <p:sp>
        <p:nvSpPr>
          <p:cNvPr id="6" name="Shape 4"/>
          <p:cNvSpPr/>
          <p:nvPr/>
        </p:nvSpPr>
        <p:spPr>
          <a:xfrm>
            <a:off x="457200" y="1737360"/>
            <a:ext cx="3605784" cy="2171700"/>
          </a:xfrm>
          <a:prstGeom prst="roundRect">
            <a:avLst>
              <a:gd name="adj" fmla="val 3368"/>
            </a:avLst>
          </a:prstGeom>
          <a:solidFill>
            <a:srgbClr val="EEF4F5"/>
          </a:solidFill>
          <a:ln w="12700">
            <a:solidFill>
              <a:srgbClr val="EEF4F5"/>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Constitution — Art. 309 (proviso)</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"...it shall be competent for ... the Governor of a State or such person as he may direct in the case of services and posts in connection with the affairs of the State, to make rules regulating the recruitment, and the conditions of service of persons appointed, to such services and posts until provision in that behalf is made by or under an Act of the appropriate Legislature..."</a:t>
            </a:r>
            <a:endParaRPr lang="en-US" sz="1200" dirty="0"/>
          </a:p>
        </p:txBody>
      </p:sp>
      <p:sp>
        <p:nvSpPr>
          <p:cNvPr id="10" name="Shape 8"/>
          <p:cNvSpPr/>
          <p:nvPr/>
        </p:nvSpPr>
        <p:spPr>
          <a:xfrm>
            <a:off x="4291584" y="1737360"/>
            <a:ext cx="3605784" cy="2171700"/>
          </a:xfrm>
          <a:prstGeom prst="roundRect">
            <a:avLst>
              <a:gd name="adj" fmla="val 3368"/>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KSCS Act, 1978 — Sec. 3(1)</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"Subject to the provisions of this Act, the State Government may, by notification, make rules — (a) specifying the different categories of posts ... and the scale of pay admissible to each such category; (b) for regulation of the recruitment and conditions of service of persons appointed to public services..."</a:t>
            </a:r>
            <a:endParaRPr lang="en-US" sz="1200" dirty="0"/>
          </a:p>
        </p:txBody>
      </p:sp>
      <p:sp>
        <p:nvSpPr>
          <p:cNvPr id="14" name="Shape 12"/>
          <p:cNvSpPr/>
          <p:nvPr/>
        </p:nvSpPr>
        <p:spPr>
          <a:xfrm>
            <a:off x="8125968" y="1737360"/>
            <a:ext cx="3605784" cy="2171700"/>
          </a:xfrm>
          <a:prstGeom prst="roundRect">
            <a:avLst>
              <a:gd name="adj" fmla="val 3368"/>
            </a:avLst>
          </a:prstGeom>
          <a:solidFill>
            <a:srgbClr val="EEF4F5"/>
          </a:solidFill>
          <a:ln w="12700">
            <a:solidFill>
              <a:srgbClr val="EEF4F5"/>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KSCS Act, 1978 — Sec. 8</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State Government may, by notification, make rules to carry out the purposes of this Act."</a:t>
            </a:r>
            <a:endParaRPr lang="en-US" sz="1400" dirty="0"/>
          </a:p>
        </p:txBody>
      </p:sp>
      <p:sp>
        <p:nvSpPr>
          <p:cNvPr id="18" name="Shape 16"/>
          <p:cNvSpPr/>
          <p:nvPr/>
        </p:nvSpPr>
        <p:spPr>
          <a:xfrm>
            <a:off x="457200" y="4091940"/>
            <a:ext cx="3605784" cy="2171700"/>
          </a:xfrm>
          <a:prstGeom prst="roundRect">
            <a:avLst>
              <a:gd name="adj" fmla="val 3368"/>
            </a:avLst>
          </a:prstGeom>
          <a:solidFill>
            <a:srgbClr val="EEF4F5"/>
          </a:solidFill>
          <a:ln w="12700">
            <a:solidFill>
              <a:srgbClr val="EEF4F5"/>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Registration Act, 1908 — Sec. 3(1)</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State Government shall appoint an officer to be the Inspector-General of Registration for the territories subject to such Government."</a:t>
            </a:r>
            <a:endParaRPr lang="en-US" sz="1400" dirty="0"/>
          </a:p>
        </p:txBody>
      </p:sp>
      <p:sp>
        <p:nvSpPr>
          <p:cNvPr id="22" name="Shape 20"/>
          <p:cNvSpPr/>
          <p:nvPr/>
        </p:nvSpPr>
        <p:spPr>
          <a:xfrm>
            <a:off x="4291584" y="4091940"/>
            <a:ext cx="3605784" cy="2171700"/>
          </a:xfrm>
          <a:prstGeom prst="roundRect">
            <a:avLst>
              <a:gd name="adj" fmla="val 3368"/>
            </a:avLst>
          </a:prstGeom>
          <a:solidFill>
            <a:srgbClr val="EEF4F5"/>
          </a:solidFill>
          <a:ln w="12700">
            <a:solidFill>
              <a:srgbClr val="EEF4F5"/>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Registration Act, 1908 — Sec. 6</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"The State Government may appoint such persons, whether public officers or not, as it thinks proper, to be Registrars of the several districts, and to be Sub-Registrars of the several sub-districts, formed as aforesaid, respectively."</a:t>
            </a:r>
            <a:endParaRPr lang="en-US" sz="13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Rules made under these powers</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 KCS (General Recruitment) Rules, 1977</a:t>
            </a:r>
            <a:endParaRPr lang="en-US" sz="1300" dirty="0"/>
          </a:p>
          <a:p>
            <a:pPr marL="0" indent="0">
              <a:buNone/>
            </a:pPr>
            <a:r>
              <a:rPr lang="en-US" sz="1300" dirty="0">
                <a:solidFill>
                  <a:srgbClr val="1F2933"/>
                </a:solidFill>
                <a:latin typeface="Calibri" pitchFamily="34" charset="0"/>
                <a:ea typeface="Calibri" pitchFamily="34" charset="-122"/>
                <a:cs typeface="Calibri" pitchFamily="34" charset="-120"/>
              </a:rPr>
              <a:t>• Cadre &amp; Recruitment Rules — Dept. of Stamps &amp; Registration</a:t>
            </a:r>
            <a:endParaRPr lang="en-US" sz="1300" dirty="0"/>
          </a:p>
          <a:p>
            <a:pPr marL="0" indent="0">
              <a:buNone/>
            </a:pPr>
            <a:r>
              <a:rPr lang="en-US" sz="1300" dirty="0">
                <a:solidFill>
                  <a:srgbClr val="1F2933"/>
                </a:solidFill>
                <a:latin typeface="Calibri" pitchFamily="34" charset="0"/>
                <a:ea typeface="Calibri" pitchFamily="34" charset="-122"/>
                <a:cs typeface="Calibri" pitchFamily="34" charset="-120"/>
              </a:rPr>
              <a:t>• Karnataka Civil Services Rules (KCSR)</a:t>
            </a:r>
            <a:endParaRPr lang="en-US" sz="1300" dirty="0"/>
          </a:p>
          <a:p>
            <a:pPr marL="0" indent="0">
              <a:buNone/>
            </a:pPr>
            <a:r>
              <a:rPr lang="en-US" sz="1300" dirty="0">
                <a:solidFill>
                  <a:srgbClr val="1F2933"/>
                </a:solidFill>
                <a:latin typeface="Calibri" pitchFamily="34" charset="0"/>
                <a:ea typeface="Calibri" pitchFamily="34" charset="-122"/>
                <a:cs typeface="Calibri" pitchFamily="34" charset="-120"/>
              </a:rPr>
              <a:t>• KCS (CCA) Rules, 1957; KCS (Conduct) Rules, 2021</a:t>
            </a:r>
            <a:endParaRPr lang="en-US" sz="13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 marks omitted words. EXTRACT = quoted text; GIST = summary in plain words — verify against the official text before citing.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2</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Transfer</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Power to transfer, definition and Government guidelines</a:t>
            </a:r>
            <a:endParaRPr lang="en-US" sz="1300" dirty="0"/>
          </a:p>
        </p:txBody>
      </p:sp>
      <p:sp>
        <p:nvSpPr>
          <p:cNvPr id="6" name="Shape 4"/>
          <p:cNvSpPr/>
          <p:nvPr/>
        </p:nvSpPr>
        <p:spPr>
          <a:xfrm>
            <a:off x="457200" y="1737360"/>
            <a:ext cx="3605784" cy="2171700"/>
          </a:xfrm>
          <a:prstGeom prst="roundRect">
            <a:avLst>
              <a:gd name="adj" fmla="val 3368"/>
            </a:avLst>
          </a:prstGeom>
          <a:solidFill>
            <a:srgbClr val="EEF4F5"/>
          </a:solidFill>
          <a:ln w="12700">
            <a:solidFill>
              <a:srgbClr val="EEF4F5"/>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8(49) — Transfer (definition)</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"'Transfer' means the movement of a Government servant from one headquarters station in which he is employed to another such station, either (a) to take up the duties of a new post; or (b) in consequence of a change of his headquarters."</a:t>
            </a:r>
            <a:endParaRPr lang="en-US" sz="1400" dirty="0"/>
          </a:p>
        </p:txBody>
      </p:sp>
      <p:sp>
        <p:nvSpPr>
          <p:cNvPr id="10" name="Shape 8"/>
          <p:cNvSpPr/>
          <p:nvPr/>
        </p:nvSpPr>
        <p:spPr>
          <a:xfrm>
            <a:off x="4291584" y="1737360"/>
            <a:ext cx="3605784" cy="2171700"/>
          </a:xfrm>
          <a:prstGeom prst="roundRect">
            <a:avLst>
              <a:gd name="adj" fmla="val 3368"/>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20-A — Transfer from one post to another</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100" dirty="0">
                <a:solidFill>
                  <a:srgbClr val="1F2933"/>
                </a:solidFill>
                <a:latin typeface="Calibri" pitchFamily="34" charset="0"/>
                <a:ea typeface="Calibri" pitchFamily="34" charset="-122"/>
                <a:cs typeface="Calibri" pitchFamily="34" charset="-120"/>
              </a:rPr>
              <a:t>(1) "A Government servant may be transferred from one post to another, provided that except (i) as penalty imposed for misconduct, or (ii) on his written request, a Government servant shall not be transferred substantively to or, except in the case covered by Rule 66, appointed to officiate in a post carrying less pay..."</a:t>
            </a:r>
            <a:endParaRPr lang="en-US" sz="1100" dirty="0"/>
          </a:p>
          <a:p>
            <a:pPr marL="0" indent="0">
              <a:buNone/>
            </a:pPr>
            <a:r>
              <a:rPr lang="en-US" sz="1100" dirty="0">
                <a:solidFill>
                  <a:srgbClr val="1F2933"/>
                </a:solidFill>
                <a:latin typeface="Calibri" pitchFamily="34" charset="0"/>
                <a:ea typeface="Calibri" pitchFamily="34" charset="-122"/>
                <a:cs typeface="Calibri" pitchFamily="34" charset="-120"/>
              </a:rPr>
              <a:t>(2) Permits retransfer to the post on which he would hold a lien.</a:t>
            </a:r>
            <a:endParaRPr lang="en-US" sz="1100" dirty="0"/>
          </a:p>
        </p:txBody>
      </p:sp>
      <p:sp>
        <p:nvSpPr>
          <p:cNvPr id="14" name="Shape 12"/>
          <p:cNvSpPr/>
          <p:nvPr/>
        </p:nvSpPr>
        <p:spPr>
          <a:xfrm>
            <a:off x="8125968" y="1737360"/>
            <a:ext cx="3605784" cy="2171700"/>
          </a:xfrm>
          <a:prstGeom prst="roundRect">
            <a:avLst>
              <a:gd name="adj" fmla="val 3368"/>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Registration Act, 1908 — Sec. 6</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Registrars and Sub-Registrars are appointed (and posted) by the State Government under Sec. 6 — basis for posting orders of registering officers.</a:t>
            </a:r>
            <a:endParaRPr lang="en-US" sz="1400" dirty="0"/>
          </a:p>
        </p:txBody>
      </p:sp>
      <p:sp>
        <p:nvSpPr>
          <p:cNvPr id="18" name="Shape 16"/>
          <p:cNvSpPr/>
          <p:nvPr/>
        </p:nvSpPr>
        <p:spPr>
          <a:xfrm>
            <a:off x="457200" y="4091940"/>
            <a:ext cx="3605784" cy="2171700"/>
          </a:xfrm>
          <a:prstGeom prst="roundRect">
            <a:avLst>
              <a:gd name="adj" fmla="val 3368"/>
            </a:avLst>
          </a:prstGeom>
          <a:solidFill>
            <a:srgbClr val="F6F7F8"/>
          </a:solidFill>
          <a:ln w="12700">
            <a:solidFill>
              <a:srgbClr val="DDE1E4"/>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DPAR Transfer Guidelines</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G.O. No. DPAR 22 SeVaNe 2013 dated 07.06.2013, with orders issued for each year's general transfers — regulate the transfer period, limits and tenure for Group A–D employees.</a:t>
            </a:r>
            <a:endParaRPr lang="en-US" sz="1400" dirty="0"/>
          </a:p>
        </p:txBody>
      </p:sp>
      <p:sp>
        <p:nvSpPr>
          <p:cNvPr id="22" name="Shape 20"/>
          <p:cNvSpPr/>
          <p:nvPr/>
        </p:nvSpPr>
        <p:spPr>
          <a:xfrm>
            <a:off x="4291584" y="4091940"/>
            <a:ext cx="3605784" cy="2171700"/>
          </a:xfrm>
          <a:prstGeom prst="roundRect">
            <a:avLst>
              <a:gd name="adj" fmla="val 3368"/>
            </a:avLst>
          </a:prstGeom>
          <a:solidFill>
            <a:srgbClr val="F6F7F8"/>
          </a:solidFill>
          <a:ln w="12700">
            <a:solidFill>
              <a:srgbClr val="DDE1E4"/>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DPAR Circular dated 10.07.2026</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 transfer order must also specify the next posting. Where posting cannot be given (legal issues, suspension, inquiry), waiting should not exceed 1 month — up to 3 months only with the Chief Minister's prior approval. (as reported in the press)</a:t>
            </a:r>
            <a:endParaRPr lang="en-US" sz="13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IGR Circular dated 21.12.2024</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On transfer — or where a court stay / other order applies — obtain a Movement Order (ಚಲನಾದೇಶ) from Head Office before reporting to the new office. (Details: Joining slides)</a:t>
            </a:r>
            <a:endParaRPr lang="en-US" sz="14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 marks omitted words. EXTRACT = quoted text; GIST = summary in plain words — verify against the official text before citing.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3</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Relieving (Handing Over Charge)</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Where and how charge is made over, and its effect on pay</a:t>
            </a:r>
            <a:endParaRPr lang="en-US" sz="1300" dirty="0"/>
          </a:p>
        </p:txBody>
      </p:sp>
      <p:sp>
        <p:nvSpPr>
          <p:cNvPr id="6" name="Shape 4"/>
          <p:cNvSpPr/>
          <p:nvPr/>
        </p:nvSpPr>
        <p:spPr>
          <a:xfrm>
            <a:off x="457200" y="1737360"/>
            <a:ext cx="3605784" cy="4526280"/>
          </a:xfrm>
          <a:prstGeom prst="roundRect">
            <a:avLst>
              <a:gd name="adj" fmla="val 2029"/>
            </a:avLst>
          </a:prstGeom>
          <a:solidFill>
            <a:srgbClr val="EEF4F5"/>
          </a:solidFill>
          <a:ln w="12700">
            <a:solidFill>
              <a:srgbClr val="EEF4F5"/>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12 — Making over charge</a:t>
            </a:r>
            <a:endParaRPr lang="en-US" sz="1400" dirty="0"/>
          </a:p>
        </p:txBody>
      </p:sp>
      <p:sp>
        <p:nvSpPr>
          <p:cNvPr id="9" name="Text 7"/>
          <p:cNvSpPr txBox="1"/>
          <p:nvPr/>
        </p:nvSpPr>
        <p:spPr>
          <a:xfrm>
            <a:off x="640080" y="2395728"/>
            <a:ext cx="3240024" cy="375818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"Unless, for special recorded reasons which must be of a public nature, the authority under whose orders the transfer takes place, permits or requires it to be made in any particular case elsewhere, or otherwise, the charge of an office must be made over at its headquarters, both the relieving and the relieved Government servants being present."</a:t>
            </a:r>
            <a:endParaRPr lang="en-US" sz="1500" dirty="0"/>
          </a:p>
        </p:txBody>
      </p:sp>
      <p:sp>
        <p:nvSpPr>
          <p:cNvPr id="10" name="Shape 8"/>
          <p:cNvSpPr/>
          <p:nvPr/>
        </p:nvSpPr>
        <p:spPr>
          <a:xfrm>
            <a:off x="4291584" y="1737360"/>
            <a:ext cx="3605784" cy="4526280"/>
          </a:xfrm>
          <a:prstGeom prst="roundRect">
            <a:avLst>
              <a:gd name="adj" fmla="val 2029"/>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23 — Forenoon / afternoon</a:t>
            </a:r>
            <a:endParaRPr lang="en-US" sz="1400" dirty="0"/>
          </a:p>
        </p:txBody>
      </p:sp>
      <p:sp>
        <p:nvSpPr>
          <p:cNvPr id="13" name="Text 11"/>
          <p:cNvSpPr txBox="1"/>
          <p:nvPr/>
        </p:nvSpPr>
        <p:spPr>
          <a:xfrm>
            <a:off x="4474464" y="2395728"/>
            <a:ext cx="3240024" cy="375818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"The pay of a Government servant begins when he takes charge of the appointment in respect of which it is earned... If the charge is transferred afternoon, the transfer does not affect allowances until the next day."</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(12 noon is treated as forenoon.)</a:t>
            </a:r>
            <a:endParaRPr lang="en-US" sz="1500" dirty="0"/>
          </a:p>
        </p:txBody>
      </p:sp>
      <p:sp>
        <p:nvSpPr>
          <p:cNvPr id="14" name="Shape 12"/>
          <p:cNvSpPr/>
          <p:nvPr/>
        </p:nvSpPr>
        <p:spPr>
          <a:xfrm>
            <a:off x="8125968" y="1737360"/>
            <a:ext cx="3605784" cy="4526280"/>
          </a:xfrm>
          <a:prstGeom prst="roundRect">
            <a:avLst>
              <a:gd name="adj" fmla="val 2029"/>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IGR Circular 21.12.2024 — reporting to HO</a:t>
            </a:r>
            <a:endParaRPr lang="en-US" sz="1400" dirty="0"/>
          </a:p>
        </p:txBody>
      </p:sp>
      <p:sp>
        <p:nvSpPr>
          <p:cNvPr id="17" name="Text 15"/>
          <p:cNvSpPr txBox="1"/>
          <p:nvPr/>
        </p:nvSpPr>
        <p:spPr>
          <a:xfrm>
            <a:off x="8308848" y="2395728"/>
            <a:ext cx="3240024" cy="375818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Head Office noted it was not being informed to whom charge was handed over on relief (or from whom it was taken on joining). Officers must follow the Movement Order procedure; non-compliance invites disciplinary action.</a:t>
            </a:r>
            <a:endParaRPr lang="en-US" sz="1500" dirty="0"/>
          </a:p>
        </p:txBody>
      </p:sp>
      <p:sp>
        <p:nvSpPr>
          <p:cNvPr id="18" name="Text 16"/>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 marks omitted words. EXTRACT = quoted text; GIST = summary in plain words — verify against the official text before citing.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4</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Joining</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Joining time, commencement of pay and the department's Movement Order procedure</a:t>
            </a:r>
            <a:endParaRPr lang="en-US" sz="1300" dirty="0"/>
          </a:p>
        </p:txBody>
      </p:sp>
      <p:sp>
        <p:nvSpPr>
          <p:cNvPr id="6" name="Shape 4"/>
          <p:cNvSpPr/>
          <p:nvPr/>
        </p:nvSpPr>
        <p:spPr>
          <a:xfrm>
            <a:off x="457200" y="1737360"/>
            <a:ext cx="3605784" cy="4526280"/>
          </a:xfrm>
          <a:prstGeom prst="roundRect">
            <a:avLst>
              <a:gd name="adj" fmla="val 2029"/>
            </a:avLst>
          </a:prstGeom>
          <a:solidFill>
            <a:srgbClr val="EEF4F5"/>
          </a:solidFill>
          <a:ln w="12700">
            <a:solidFill>
              <a:srgbClr val="EEF4F5"/>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8(24) — Joining time (definition)</a:t>
            </a:r>
            <a:endParaRPr lang="en-US" sz="1400" dirty="0"/>
          </a:p>
        </p:txBody>
      </p:sp>
      <p:sp>
        <p:nvSpPr>
          <p:cNvPr id="9" name="Text 7"/>
          <p:cNvSpPr txBox="1"/>
          <p:nvPr/>
        </p:nvSpPr>
        <p:spPr>
          <a:xfrm>
            <a:off x="640080" y="2395728"/>
            <a:ext cx="3240024" cy="3758184"/>
          </a:xfrm>
          <a:prstGeom prst="rect">
            <a:avLst/>
          </a:prstGeom>
          <a:noFill/>
          <a:ln/>
        </p:spPr>
        <p:txBody>
          <a:bodyPr wrap="square" lIns="0" tIns="0" rIns="0" bIns="0" rtlCol="0" anchor="t"/>
          <a:lstStyle/>
          <a:p>
            <a:pPr marL="0" indent="0">
              <a:buNone/>
            </a:pPr>
            <a:r>
              <a:rPr lang="en-US" sz="1800" dirty="0">
                <a:solidFill>
                  <a:srgbClr val="1F2933"/>
                </a:solidFill>
                <a:latin typeface="Calibri" pitchFamily="34" charset="0"/>
                <a:ea typeface="Calibri" pitchFamily="34" charset="-122"/>
                <a:cs typeface="Calibri" pitchFamily="34" charset="-120"/>
              </a:rPr>
              <a:t>"'Joining time' means time allowed to a Government servant to join a new post or to travel to a station to which he is posted."</a:t>
            </a:r>
            <a:endParaRPr lang="en-US" sz="1800" dirty="0"/>
          </a:p>
        </p:txBody>
      </p:sp>
      <p:sp>
        <p:nvSpPr>
          <p:cNvPr id="10" name="Shape 8"/>
          <p:cNvSpPr/>
          <p:nvPr/>
        </p:nvSpPr>
        <p:spPr>
          <a:xfrm>
            <a:off x="4291584" y="1737360"/>
            <a:ext cx="3605784" cy="4526280"/>
          </a:xfrm>
          <a:prstGeom prst="roundRect">
            <a:avLst>
              <a:gd name="adj" fmla="val 2029"/>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23 — Pay on taking charge</a:t>
            </a:r>
            <a:endParaRPr lang="en-US" sz="1400" dirty="0"/>
          </a:p>
        </p:txBody>
      </p:sp>
      <p:sp>
        <p:nvSpPr>
          <p:cNvPr id="13" name="Text 11"/>
          <p:cNvSpPr txBox="1"/>
          <p:nvPr/>
        </p:nvSpPr>
        <p:spPr>
          <a:xfrm>
            <a:off x="4474464" y="2395728"/>
            <a:ext cx="3240024" cy="3758184"/>
          </a:xfrm>
          <a:prstGeom prst="rect">
            <a:avLst/>
          </a:prstGeom>
          <a:noFill/>
          <a:ln/>
        </p:spPr>
        <p:txBody>
          <a:bodyPr wrap="square" lIns="0" tIns="0" rIns="0" bIns="0" rtlCol="0" anchor="t"/>
          <a:lstStyle/>
          <a:p>
            <a:pPr marL="0" indent="0">
              <a:buNone/>
            </a:pPr>
            <a:r>
              <a:rPr lang="en-US" sz="1800" dirty="0">
                <a:solidFill>
                  <a:srgbClr val="1F2933"/>
                </a:solidFill>
                <a:latin typeface="Calibri" pitchFamily="34" charset="0"/>
                <a:ea typeface="Calibri" pitchFamily="34" charset="-122"/>
                <a:cs typeface="Calibri" pitchFamily="34" charset="-120"/>
              </a:rPr>
              <a:t>"The pay of a Government servant begins when he takes charge of the appointment in respect of which it is earned..."</a:t>
            </a:r>
            <a:endParaRPr lang="en-US" sz="1800" dirty="0"/>
          </a:p>
        </p:txBody>
      </p:sp>
      <p:sp>
        <p:nvSpPr>
          <p:cNvPr id="14" name="Shape 12"/>
          <p:cNvSpPr/>
          <p:nvPr/>
        </p:nvSpPr>
        <p:spPr>
          <a:xfrm>
            <a:off x="8125968" y="1737360"/>
            <a:ext cx="3605784" cy="4526280"/>
          </a:xfrm>
          <a:prstGeom prst="roundRect">
            <a:avLst>
              <a:gd name="adj" fmla="val 2029"/>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Chapter VII — Joining Time</a:t>
            </a:r>
            <a:endParaRPr lang="en-US" sz="1400" dirty="0"/>
          </a:p>
        </p:txBody>
      </p:sp>
      <p:sp>
        <p:nvSpPr>
          <p:cNvPr id="17" name="Text 15"/>
          <p:cNvSpPr txBox="1"/>
          <p:nvPr/>
        </p:nvSpPr>
        <p:spPr>
          <a:xfrm>
            <a:off x="8308848" y="2395728"/>
            <a:ext cx="3240024" cy="3758184"/>
          </a:xfrm>
          <a:prstGeom prst="rect">
            <a:avLst/>
          </a:prstGeom>
          <a:noFill/>
          <a:ln/>
        </p:spPr>
        <p:txBody>
          <a:bodyPr wrap="square" lIns="0" tIns="0" rIns="0" bIns="0" rtlCol="0" anchor="t"/>
          <a:lstStyle/>
          <a:p>
            <a:pPr marL="0" indent="0">
              <a:buNone/>
            </a:pPr>
            <a:r>
              <a:rPr lang="en-US" sz="1800" dirty="0">
                <a:solidFill>
                  <a:srgbClr val="1F2933"/>
                </a:solidFill>
                <a:latin typeface="Calibri" pitchFamily="34" charset="0"/>
                <a:ea typeface="Calibri" pitchFamily="34" charset="-122"/>
                <a:cs typeface="Calibri" pitchFamily="34" charset="-120"/>
              </a:rPr>
              <a:t>Covers admissibility of joining time on transfer, number of days (preparation &amp; journey), commencement, pay during joining time and consequences of overstay.</a:t>
            </a:r>
            <a:endParaRPr lang="en-US" sz="1800" dirty="0"/>
          </a:p>
        </p:txBody>
      </p:sp>
      <p:sp>
        <p:nvSpPr>
          <p:cNvPr id="18" name="Text 16"/>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Chapter VII text could not be verified online — gist only. "..." marks omitted words. EXTRACT = quoted text; GIST = summary in plain words — verify against the official text before citing.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720072" y="384048"/>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9720072" y="384048"/>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4</a:t>
            </a:r>
            <a:endParaRPr lang="en-US" sz="1100" dirty="0"/>
          </a:p>
        </p:txBody>
      </p:sp>
      <p:sp>
        <p:nvSpPr>
          <p:cNvPr id="4" name="Text 2"/>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Joining — IGR Circular (Movement Order)</a:t>
            </a:r>
            <a:endParaRPr lang="en-US" sz="2800" dirty="0"/>
          </a:p>
        </p:txBody>
      </p:sp>
      <p:sp>
        <p:nvSpPr>
          <p:cNvPr id="5" name="Text 3"/>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Department of Stamps &amp; Registration — procedure on transfer and on court orders</a:t>
            </a:r>
            <a:endParaRPr lang="en-US" sz="1400" dirty="0"/>
          </a:p>
        </p:txBody>
      </p:sp>
      <p:sp>
        <p:nvSpPr>
          <p:cNvPr id="6" name="Shape 4"/>
          <p:cNvSpPr/>
          <p:nvPr/>
        </p:nvSpPr>
        <p:spPr>
          <a:xfrm>
            <a:off x="457200" y="1371600"/>
            <a:ext cx="3566160" cy="4892040"/>
          </a:xfrm>
          <a:prstGeom prst="roundRect">
            <a:avLst>
              <a:gd name="adj" fmla="val 2051"/>
            </a:avLst>
          </a:prstGeom>
          <a:solidFill>
            <a:srgbClr val="0F4C5C"/>
          </a:solidFill>
          <a:ln w="12700">
            <a:solidFill>
              <a:srgbClr val="0F4C5C"/>
            </a:solidFill>
            <a:prstDash val="solid"/>
          </a:ln>
        </p:spPr>
      </p:sp>
      <p:sp>
        <p:nvSpPr>
          <p:cNvPr id="7" name="Text 5"/>
          <p:cNvSpPr txBox="1"/>
          <p:nvPr/>
        </p:nvSpPr>
        <p:spPr>
          <a:xfrm>
            <a:off x="685800" y="1554480"/>
            <a:ext cx="3108960" cy="4526280"/>
          </a:xfrm>
          <a:prstGeom prst="rect">
            <a:avLst/>
          </a:prstGeom>
          <a:noFill/>
          <a:ln/>
        </p:spPr>
        <p:txBody>
          <a:bodyPr wrap="square" lIns="0" tIns="0" rIns="0" bIns="0" rtlCol="0" anchor="t"/>
          <a:lstStyle/>
          <a:p>
            <a:pPr marL="0" indent="0">
              <a:buNone/>
            </a:pPr>
            <a:r>
              <a:rPr lang="en-US" sz="1100" b="1" dirty="0">
                <a:solidFill>
                  <a:srgbClr val="F4A261"/>
                </a:solidFill>
                <a:latin typeface="Calibri" pitchFamily="34" charset="0"/>
                <a:ea typeface="Calibri" pitchFamily="34" charset="-122"/>
                <a:cs typeface="Calibri" pitchFamily="34" charset="-120"/>
              </a:rPr>
              <a:t>Circular No.</a:t>
            </a:r>
            <a:endParaRPr lang="en-US" sz="1100" dirty="0"/>
          </a:p>
          <a:p>
            <a:pPr marL="0" indent="0">
              <a:spcAft>
                <a:spcPts val="1000"/>
              </a:spcAft>
              <a:buNone/>
            </a:pPr>
            <a:r>
              <a:rPr lang="en-US" sz="1300" dirty="0">
                <a:solidFill>
                  <a:srgbClr val="FFFFFF"/>
                </a:solidFill>
                <a:latin typeface="Nirmala UI" pitchFamily="34" charset="0"/>
                <a:ea typeface="Nirmala UI" pitchFamily="34" charset="-122"/>
                <a:cs typeface="Nirmala UI" pitchFamily="34" charset="-120"/>
              </a:rPr>
              <a:t>ಸಿಬ್ಬಂದಿ-2-160/2024-25/48458</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Date</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21.12.2024</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Issued by</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Inspector General of Registration &amp; Commissioner of Stamps, Kandaya Bhavan, Bengaluru</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Addressed to</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All District Registrars, HQ Assistants, Senior / Sub-Registrars and all staff</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Copy to</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Principal Secretary to Govt., Revenue Dept. (Stamps &amp; Registration)</a:t>
            </a:r>
            <a:endParaRPr lang="en-US" sz="1100" dirty="0"/>
          </a:p>
        </p:txBody>
      </p:sp>
      <p:sp>
        <p:nvSpPr>
          <p:cNvPr id="8" name="Shape 6"/>
          <p:cNvSpPr/>
          <p:nvPr/>
        </p:nvSpPr>
        <p:spPr>
          <a:xfrm>
            <a:off x="4251960" y="1371600"/>
            <a:ext cx="7479792" cy="1417320"/>
          </a:xfrm>
          <a:prstGeom prst="roundRect">
            <a:avLst>
              <a:gd name="adj" fmla="val 5161"/>
            </a:avLst>
          </a:prstGeom>
          <a:solidFill>
            <a:srgbClr val="EEF4F5"/>
          </a:solidFill>
          <a:ln w="12700">
            <a:solidFill>
              <a:srgbClr val="EEF4F5"/>
            </a:solidFill>
            <a:prstDash val="solid"/>
          </a:ln>
        </p:spPr>
      </p:sp>
      <p:sp>
        <p:nvSpPr>
          <p:cNvPr id="9" name="Text 7"/>
          <p:cNvSpPr txBox="1"/>
          <p:nvPr/>
        </p:nvSpPr>
        <p:spPr>
          <a:xfrm>
            <a:off x="4434840" y="1481328"/>
            <a:ext cx="7114032" cy="123444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Subject</a:t>
            </a:r>
            <a:endParaRPr lang="en-US" sz="1300" dirty="0"/>
          </a:p>
          <a:p>
            <a:pPr marL="0" indent="0">
              <a:buNone/>
            </a:pPr>
            <a:r>
              <a:rPr lang="en-US" sz="1200" dirty="0">
                <a:solidFill>
                  <a:srgbClr val="1F2933"/>
                </a:solidFill>
                <a:latin typeface="Nirmala UI" pitchFamily="34" charset="0"/>
                <a:ea typeface="Nirmala UI" pitchFamily="34" charset="-122"/>
                <a:cs typeface="Nirmala UI" pitchFamily="34" charset="-120"/>
              </a:rPr>
              <a:t>ವರ್ಗಾವಣೆಯ ಆದೇಶಗಳಿಗೆ ಸಂಬಂಧಿಸಿದಂತೆ, ಮಾನ್ಯ ನ್ಯಾಯಾಲಯದಿಂದ ಹೊರಡಿಸುವ ಆದೇಶಗಳಿಗೆ ಸಂಬಂಧಪಟ್ಟಂತೆ ಕೇಂದ್ರ ಕಛೇರಿಯಿಂದ ಚಲನಾದೇಶ (Movement Order) ಪಡೆದ ನಂತರ ಸಂಬಂಧಪಟ್ಟ ಕಛೇರಿಗಳಲ್ಲಿ ಕರ್ತವ್ಯಕ್ಕೆ ಹಾಜರಾಗುವ ಕುರಿತು.</a:t>
            </a:r>
            <a:endParaRPr lang="en-US" sz="1300" dirty="0"/>
          </a:p>
          <a:p>
            <a:pPr marL="0" indent="0">
              <a:buNone/>
            </a:pPr>
            <a:r>
              <a:rPr lang="en-US" sz="1200" i="1" dirty="0">
                <a:solidFill>
                  <a:srgbClr val="5B6770"/>
                </a:solidFill>
                <a:latin typeface="Calibri" pitchFamily="34" charset="0"/>
                <a:ea typeface="Calibri" pitchFamily="34" charset="-122"/>
                <a:cs typeface="Calibri" pitchFamily="34" charset="-120"/>
              </a:rPr>
              <a:t>Reporting for duty only after obtaining a Movement Order from Head Office — for transfer orders and orders of Hon'ble Courts.</a:t>
            </a:r>
            <a:endParaRPr lang="en-US" sz="1300" dirty="0"/>
          </a:p>
        </p:txBody>
      </p:sp>
      <p:sp>
        <p:nvSpPr>
          <p:cNvPr id="10" name="Shape 8"/>
          <p:cNvSpPr/>
          <p:nvPr/>
        </p:nvSpPr>
        <p:spPr>
          <a:xfrm>
            <a:off x="4251960" y="2926080"/>
            <a:ext cx="7479792" cy="1417320"/>
          </a:xfrm>
          <a:prstGeom prst="roundRect">
            <a:avLst>
              <a:gd name="adj" fmla="val 5161"/>
            </a:avLst>
          </a:prstGeom>
          <a:solidFill>
            <a:srgbClr val="FDF0E7"/>
          </a:solidFill>
          <a:ln w="12700">
            <a:solidFill>
              <a:srgbClr val="FDF0E7"/>
            </a:solidFill>
            <a:prstDash val="solid"/>
          </a:ln>
        </p:spPr>
      </p:sp>
      <p:sp>
        <p:nvSpPr>
          <p:cNvPr id="11" name="Text 9"/>
          <p:cNvSpPr txBox="1"/>
          <p:nvPr/>
        </p:nvSpPr>
        <p:spPr>
          <a:xfrm>
            <a:off x="4434840" y="3035808"/>
            <a:ext cx="7114032" cy="123444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Operative direction (extract)</a:t>
            </a:r>
            <a:endParaRPr lang="en-US" sz="1300" dirty="0"/>
          </a:p>
          <a:p>
            <a:pPr marL="0" indent="0">
              <a:buNone/>
            </a:pPr>
            <a:r>
              <a:rPr lang="en-US" sz="1200" dirty="0">
                <a:solidFill>
                  <a:srgbClr val="1F2933"/>
                </a:solidFill>
                <a:latin typeface="Nirmala UI" pitchFamily="34" charset="0"/>
                <a:ea typeface="Nirmala UI" pitchFamily="34" charset="-122"/>
                <a:cs typeface="Nirmala UI" pitchFamily="34" charset="-120"/>
              </a:rPr>
              <a:t>"ಇನ್ನು ಮುಂದೆ ಯಾವುದೇ ಅಧಿಕಾರಿ/ಸಿಬ್ಬಂದಿಯವರು ವರ್ಗಾವಣೆಯಾದ ಸಂದರ್ಭದಲ್ಲಿ ಹಾಗೂ ಮಾನ್ಯ ನ್ಯಾಯಾಲಯಗಳು ನೀಡುವ ತಡೆಯಾಜ್ಞೆ ಅಥವಾ ಇನ್ನಿತರ ಆದೇಶವಿದ್ದಲ್ಲಿ, ಕೇಂದ್ರ ಕಛೇರಿಯಿಂದ ತಪ್ಪದೇ ಚಲನಾದೇಶ (Movement Order) ಪಡೆಯತಕ್ಕದ್ದು, ನಂತರ ಸಂಬಂಧಪಟ್ಟ ಕಛೇರಿಗಳಲ್ಲಿ ಕರ್ತವ್ಯಕ್ಕೆ ವರದಿ ಮಾಡಿಕೊಳ್ಳತಕ್ಕದ್ದು."</a:t>
            </a:r>
            <a:endParaRPr lang="en-US" sz="1300" dirty="0"/>
          </a:p>
        </p:txBody>
      </p:sp>
      <p:sp>
        <p:nvSpPr>
          <p:cNvPr id="12" name="Shape 10"/>
          <p:cNvSpPr/>
          <p:nvPr/>
        </p:nvSpPr>
        <p:spPr>
          <a:xfrm>
            <a:off x="4251960" y="4480560"/>
            <a:ext cx="7479792" cy="1783080"/>
          </a:xfrm>
          <a:prstGeom prst="roundRect">
            <a:avLst>
              <a:gd name="adj" fmla="val 4103"/>
            </a:avLst>
          </a:prstGeom>
          <a:solidFill>
            <a:srgbClr val="EEF4F5"/>
          </a:solidFill>
          <a:ln w="12700">
            <a:solidFill>
              <a:srgbClr val="EEF4F5"/>
            </a:solidFill>
            <a:prstDash val="solid"/>
          </a:ln>
        </p:spPr>
      </p:sp>
      <p:sp>
        <p:nvSpPr>
          <p:cNvPr id="13" name="Text 11"/>
          <p:cNvSpPr txBox="1"/>
          <p:nvPr/>
        </p:nvSpPr>
        <p:spPr>
          <a:xfrm>
            <a:off x="4434840" y="4590288"/>
            <a:ext cx="7114032" cy="160020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Key points (English gist)</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Why: officials were joining directly on transfer / court stay orders without informing the HoD; Head Office was not told who took charge on joining or to whom charge was handed over on relief.</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Direction: on transfer, or on a court stay / other order, obtain a Movement Order from Head Office without fail — then report for duty at the concerned office.</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Compliance: to be followed strictly; failing which disciplinary action will be taken as per rules.</a:t>
            </a:r>
            <a:endParaRPr lang="en-US" sz="1300" dirty="0"/>
          </a:p>
        </p:txBody>
      </p:sp>
      <p:sp>
        <p:nvSpPr>
          <p:cNvPr id="14" name="Text 12"/>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Source: Circular of the IGR &amp; Commissioner of Stamps, No. ಸಿಬ್ಬಂದಿ-2-160/2024-25/48458 dated 21.12.2024 (scanned copy). English text is a translation/gist.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5</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Leave</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KCSR Chapter X — kinds of leave</a:t>
            </a:r>
            <a:endParaRPr lang="en-US" sz="1300" dirty="0"/>
          </a:p>
        </p:txBody>
      </p:sp>
      <p:sp>
        <p:nvSpPr>
          <p:cNvPr id="6" name="Shape 4"/>
          <p:cNvSpPr/>
          <p:nvPr/>
        </p:nvSpPr>
        <p:spPr>
          <a:xfrm>
            <a:off x="457200" y="1737360"/>
            <a:ext cx="3605784" cy="2171700"/>
          </a:xfrm>
          <a:prstGeom prst="roundRect">
            <a:avLst>
              <a:gd name="adj" fmla="val 3368"/>
            </a:avLst>
          </a:prstGeom>
          <a:solidFill>
            <a:srgbClr val="F6F7F8"/>
          </a:solidFill>
          <a:ln w="12700">
            <a:solidFill>
              <a:srgbClr val="DDE1E4"/>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Earned Leave — R.112</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Earned by duty and credited in advance; accumulates up to the prescribed maximum; encashment as per rules / Government orders.</a:t>
            </a:r>
            <a:endParaRPr lang="en-US" sz="1700" dirty="0"/>
          </a:p>
        </p:txBody>
      </p:sp>
      <p:sp>
        <p:nvSpPr>
          <p:cNvPr id="10" name="Shape 8"/>
          <p:cNvSpPr/>
          <p:nvPr/>
        </p:nvSpPr>
        <p:spPr>
          <a:xfrm>
            <a:off x="4291584" y="1737360"/>
            <a:ext cx="3605784" cy="2171700"/>
          </a:xfrm>
          <a:prstGeom prst="roundRect">
            <a:avLst>
              <a:gd name="adj" fmla="val 3368"/>
            </a:avLst>
          </a:prstGeom>
          <a:solidFill>
            <a:srgbClr val="F6F7F8"/>
          </a:solidFill>
          <a:ln w="12700">
            <a:solidFill>
              <a:srgbClr val="DDE1E4"/>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Half Pay Leave — R.114</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Admissible for each completed year of service, on medical certificate or private affairs.</a:t>
            </a:r>
            <a:endParaRPr lang="en-US" sz="1700" dirty="0"/>
          </a:p>
        </p:txBody>
      </p:sp>
      <p:sp>
        <p:nvSpPr>
          <p:cNvPr id="14" name="Shape 12"/>
          <p:cNvSpPr/>
          <p:nvPr/>
        </p:nvSpPr>
        <p:spPr>
          <a:xfrm>
            <a:off x="8125968" y="1737360"/>
            <a:ext cx="3605784" cy="2171700"/>
          </a:xfrm>
          <a:prstGeom prst="roundRect">
            <a:avLst>
              <a:gd name="adj" fmla="val 3368"/>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Commuted Leave — R.116</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Half pay leave commuted to full pay (up to half the HPL due), generally on medical certificate.</a:t>
            </a:r>
            <a:endParaRPr lang="en-US" sz="1700" dirty="0"/>
          </a:p>
        </p:txBody>
      </p:sp>
      <p:sp>
        <p:nvSpPr>
          <p:cNvPr id="18" name="Shape 16"/>
          <p:cNvSpPr/>
          <p:nvPr/>
        </p:nvSpPr>
        <p:spPr>
          <a:xfrm>
            <a:off x="457200" y="4091940"/>
            <a:ext cx="3605784" cy="2171700"/>
          </a:xfrm>
          <a:prstGeom prst="roundRect">
            <a:avLst>
              <a:gd name="adj" fmla="val 3368"/>
            </a:avLst>
          </a:prstGeom>
          <a:solidFill>
            <a:srgbClr val="F6F7F8"/>
          </a:solidFill>
          <a:ln w="12700">
            <a:solidFill>
              <a:srgbClr val="DDE1E4"/>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Leave Not Due — R.117</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Granted on half pay when no half pay leave is at credit, subject to limits in the rule.</a:t>
            </a:r>
            <a:endParaRPr lang="en-US" sz="1700" dirty="0"/>
          </a:p>
        </p:txBody>
      </p:sp>
      <p:sp>
        <p:nvSpPr>
          <p:cNvPr id="22" name="Shape 20"/>
          <p:cNvSpPr/>
          <p:nvPr/>
        </p:nvSpPr>
        <p:spPr>
          <a:xfrm>
            <a:off x="4291584" y="4091940"/>
            <a:ext cx="3605784" cy="2171700"/>
          </a:xfrm>
          <a:prstGeom prst="roundRect">
            <a:avLst>
              <a:gd name="adj" fmla="val 3368"/>
            </a:avLst>
          </a:prstGeom>
          <a:solidFill>
            <a:srgbClr val="F6F7F8"/>
          </a:solidFill>
          <a:ln w="12700">
            <a:solidFill>
              <a:srgbClr val="DDE1E4"/>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Extraordinary Leave — R.118</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Leave without leave salary, when no other leave is admissible or when applied for.</a:t>
            </a:r>
            <a:endParaRPr lang="en-US" sz="17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Casual Leave</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Not a kind of leave under KCSR — governed by separate Government Orders.</a:t>
            </a:r>
            <a:endParaRPr lang="en-US" sz="17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Leave rule texts could not be verified online — gist only. Confirm rule numbers and wording against the current KCSR before citing.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6</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Additional Charge</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Charge of another post under KCSR, and in-charge registering officers under the Registration Act</a:t>
            </a:r>
            <a:endParaRPr lang="en-US" sz="1300" dirty="0"/>
          </a:p>
        </p:txBody>
      </p:sp>
      <p:sp>
        <p:nvSpPr>
          <p:cNvPr id="6" name="Shape 4"/>
          <p:cNvSpPr/>
          <p:nvPr/>
        </p:nvSpPr>
        <p:spPr>
          <a:xfrm>
            <a:off x="457200" y="1737360"/>
            <a:ext cx="3605784" cy="2171700"/>
          </a:xfrm>
          <a:prstGeom prst="roundRect">
            <a:avLst>
              <a:gd name="adj" fmla="val 3368"/>
            </a:avLst>
          </a:prstGeom>
          <a:solidFill>
            <a:srgbClr val="F6F7F8"/>
          </a:solidFill>
          <a:ln w="12700">
            <a:solidFill>
              <a:srgbClr val="DDE1E4"/>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68 — Full additional charge</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Government servant may be appointed to hold full additional charge of another post; charge allowance is admissible as per the rule and Government orders in force.</a:t>
            </a:r>
            <a:endParaRPr lang="en-US" sz="1300" dirty="0"/>
          </a:p>
        </p:txBody>
      </p:sp>
      <p:sp>
        <p:nvSpPr>
          <p:cNvPr id="10" name="Shape 8"/>
          <p:cNvSpPr/>
          <p:nvPr/>
        </p:nvSpPr>
        <p:spPr>
          <a:xfrm>
            <a:off x="4291584" y="1737360"/>
            <a:ext cx="3605784" cy="2171700"/>
          </a:xfrm>
          <a:prstGeom prst="roundRect">
            <a:avLst>
              <a:gd name="adj" fmla="val 3368"/>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32 — Current duties charge</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"Instead of appointing a Government servant to officiate, it is also permissible to appoint him to be in charge of the current duties of a vacant post."</a:t>
            </a:r>
            <a:endParaRPr lang="en-US" sz="1400" dirty="0"/>
          </a:p>
        </p:txBody>
      </p:sp>
      <p:sp>
        <p:nvSpPr>
          <p:cNvPr id="14" name="Shape 12"/>
          <p:cNvSpPr/>
          <p:nvPr/>
        </p:nvSpPr>
        <p:spPr>
          <a:xfrm>
            <a:off x="8125968" y="1737360"/>
            <a:ext cx="3605784" cy="2171700"/>
          </a:xfrm>
          <a:prstGeom prst="roundRect">
            <a:avLst>
              <a:gd name="adj" fmla="val 3368"/>
            </a:avLst>
          </a:prstGeom>
          <a:solidFill>
            <a:srgbClr val="EEF4F5"/>
          </a:solidFill>
          <a:ln w="12700">
            <a:solidFill>
              <a:srgbClr val="EEF4F5"/>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 Act Sec. 10(1) — Registrar absent / vacancy</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"When any Registrar ... is absent otherwise than on duty in his district, or when his office is temporarily vacant, any person whom the Inspector-General of Registration appoints in this behalf, or, in the absence of any such appointment, the Judge of the district court ... shall be the Registrar during such absence or until the State Government fills up the vacancy."</a:t>
            </a:r>
            <a:endParaRPr lang="en-US" sz="1200" dirty="0"/>
          </a:p>
        </p:txBody>
      </p:sp>
      <p:sp>
        <p:nvSpPr>
          <p:cNvPr id="18" name="Shape 16"/>
          <p:cNvSpPr/>
          <p:nvPr/>
        </p:nvSpPr>
        <p:spPr>
          <a:xfrm>
            <a:off x="457200" y="4091940"/>
            <a:ext cx="3605784" cy="2171700"/>
          </a:xfrm>
          <a:prstGeom prst="roundRect">
            <a:avLst>
              <a:gd name="adj" fmla="val 3368"/>
            </a:avLst>
          </a:prstGeom>
          <a:solidFill>
            <a:srgbClr val="EEF4F5"/>
          </a:solidFill>
          <a:ln w="12700">
            <a:solidFill>
              <a:srgbClr val="EEF4F5"/>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 Act Sec. 11 — Registrar absent on duty</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"When any Registrar is absent from his office on duty in his district, he may appoint any Sub-Registrar or other person in his district to perform, during such absence, all the duties of a Registrar, except those mentioned in sections 68 and 72."</a:t>
            </a:r>
            <a:endParaRPr lang="en-US" sz="1300" dirty="0"/>
          </a:p>
        </p:txBody>
      </p:sp>
      <p:sp>
        <p:nvSpPr>
          <p:cNvPr id="22" name="Shape 20"/>
          <p:cNvSpPr/>
          <p:nvPr/>
        </p:nvSpPr>
        <p:spPr>
          <a:xfrm>
            <a:off x="4291584" y="4091940"/>
            <a:ext cx="3605784" cy="2171700"/>
          </a:xfrm>
          <a:prstGeom prst="roundRect">
            <a:avLst>
              <a:gd name="adj" fmla="val 3368"/>
            </a:avLst>
          </a:prstGeom>
          <a:solidFill>
            <a:srgbClr val="EEF4F5"/>
          </a:solidFill>
          <a:ln w="12700">
            <a:solidFill>
              <a:srgbClr val="EEF4F5"/>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 Act Sec. 12 — Sub-Registrar absent / vacancy</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"Whenever any Sub-Registrar is absent, or his office is temporarily vacant, any person whom the Registrar of the district appoints in this behalf shall be Sub-Registrar during such absence, or until the vacancy is filled up."</a:t>
            </a:r>
            <a:endParaRPr lang="en-US" sz="13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Use in office orders</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In-charge Sub-Registrar by District Registrar → Sec. 12</a:t>
            </a:r>
            <a:endParaRPr lang="en-US" sz="1400" dirty="0"/>
          </a:p>
          <a:p>
            <a:pPr marL="0" indent="0">
              <a:buNone/>
            </a:pPr>
            <a:r>
              <a:rPr lang="en-US" sz="1400" dirty="0">
                <a:solidFill>
                  <a:srgbClr val="1F2933"/>
                </a:solidFill>
                <a:latin typeface="Calibri" pitchFamily="34" charset="0"/>
                <a:ea typeface="Calibri" pitchFamily="34" charset="-122"/>
                <a:cs typeface="Calibri" pitchFamily="34" charset="-120"/>
              </a:rPr>
              <a:t>In-charge Registrar → Sec. 10 / 11</a:t>
            </a:r>
            <a:endParaRPr lang="en-US" sz="1400" dirty="0"/>
          </a:p>
          <a:p>
            <a:pPr marL="0" indent="0">
              <a:buNone/>
            </a:pPr>
            <a:r>
              <a:rPr lang="en-US" sz="1400" dirty="0">
                <a:solidFill>
                  <a:srgbClr val="1F2933"/>
                </a:solidFill>
                <a:latin typeface="Calibri" pitchFamily="34" charset="0"/>
                <a:ea typeface="Calibri" pitchFamily="34" charset="-122"/>
                <a:cs typeface="Calibri" pitchFamily="34" charset="-120"/>
              </a:rPr>
              <a:t>Full additional charge (pay) → KCSR R.68</a:t>
            </a:r>
            <a:endParaRPr lang="en-US" sz="14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Rule 68 text could not be verified online — gist only. "..." marks omitted words. EXTRACT = quoted text; GIST = summary in plain words — verify against the official text before citing.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7</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Audit — Accountant General</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Audit of the department's receipts and expenditure on behalf of the CAG</a:t>
            </a:r>
            <a:endParaRPr lang="en-US" sz="1300" dirty="0"/>
          </a:p>
        </p:txBody>
      </p:sp>
      <p:sp>
        <p:nvSpPr>
          <p:cNvPr id="6" name="Shape 4"/>
          <p:cNvSpPr/>
          <p:nvPr/>
        </p:nvSpPr>
        <p:spPr>
          <a:xfrm>
            <a:off x="457200" y="1737360"/>
            <a:ext cx="3605784" cy="2171700"/>
          </a:xfrm>
          <a:prstGeom prst="roundRect">
            <a:avLst>
              <a:gd name="adj" fmla="val 3368"/>
            </a:avLst>
          </a:prstGeom>
          <a:solidFill>
            <a:srgbClr val="EEF4F5"/>
          </a:solidFill>
          <a:ln w="12700">
            <a:solidFill>
              <a:srgbClr val="EEF4F5"/>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Constitution — Art. 149</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Comptroller and Auditor-General shall perform such duties and exercise such powers in relation to the accounts of the Union and of the States and of any other authority or body as may be prescribed by or under any law made by Parliament..."</a:t>
            </a:r>
            <a:endParaRPr lang="en-US" sz="1400" dirty="0"/>
          </a:p>
        </p:txBody>
      </p:sp>
      <p:sp>
        <p:nvSpPr>
          <p:cNvPr id="10" name="Shape 8"/>
          <p:cNvSpPr/>
          <p:nvPr/>
        </p:nvSpPr>
        <p:spPr>
          <a:xfrm>
            <a:off x="4291584" y="1737360"/>
            <a:ext cx="3605784" cy="2171700"/>
          </a:xfrm>
          <a:prstGeom prst="roundRect">
            <a:avLst>
              <a:gd name="adj" fmla="val 3368"/>
            </a:avLst>
          </a:prstGeom>
          <a:solidFill>
            <a:srgbClr val="EEF4F5"/>
          </a:solidFill>
          <a:ln w="12700">
            <a:solidFill>
              <a:srgbClr val="EEF4F5"/>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0F4C5C"/>
                </a:solidFill>
                <a:latin typeface="Calibri" pitchFamily="34" charset="0"/>
                <a:ea typeface="Calibri" pitchFamily="34" charset="-122"/>
                <a:cs typeface="Calibri" pitchFamily="34" charset="-120"/>
              </a:rPr>
              <a:t>EXTRACT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Constitution — Art. 151(2)</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reports of the Comptroller and Auditor-General of India relating to the accounts of a State shall be submitted to the Governor of the State, who shall cause them to be laid before the Legislature of the State."</a:t>
            </a:r>
            <a:endParaRPr lang="en-US" sz="1400" dirty="0"/>
          </a:p>
        </p:txBody>
      </p:sp>
      <p:sp>
        <p:nvSpPr>
          <p:cNvPr id="14" name="Shape 12"/>
          <p:cNvSpPr/>
          <p:nvPr/>
        </p:nvSpPr>
        <p:spPr>
          <a:xfrm>
            <a:off x="8125968" y="1737360"/>
            <a:ext cx="3605784" cy="2171700"/>
          </a:xfrm>
          <a:prstGeom prst="roundRect">
            <a:avLst>
              <a:gd name="adj" fmla="val 3368"/>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CAG's (DPC) Act, 1971 — Sec. 13</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Audit of all expenditure from the Consolidated Fund of the State, and of transactions relating to the Contingency Fund and Public Accounts.</a:t>
            </a:r>
            <a:endParaRPr lang="en-US" sz="1500" dirty="0"/>
          </a:p>
        </p:txBody>
      </p:sp>
      <p:sp>
        <p:nvSpPr>
          <p:cNvPr id="18" name="Shape 16"/>
          <p:cNvSpPr/>
          <p:nvPr/>
        </p:nvSpPr>
        <p:spPr>
          <a:xfrm>
            <a:off x="457200" y="4091940"/>
            <a:ext cx="3605784" cy="2171700"/>
          </a:xfrm>
          <a:prstGeom prst="roundRect">
            <a:avLst>
              <a:gd name="adj" fmla="val 3368"/>
            </a:avLst>
          </a:prstGeom>
          <a:solidFill>
            <a:srgbClr val="F6F7F8"/>
          </a:solidFill>
          <a:ln w="12700">
            <a:solidFill>
              <a:srgbClr val="DDE1E4"/>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CAG's (DPC) Act, 1971 — Sec. 16</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Audit of all receipts payable into the Consolidated Fund — basis for audit of stamp duty and registration fee collections.</a:t>
            </a:r>
            <a:endParaRPr lang="en-US" sz="1500" dirty="0"/>
          </a:p>
        </p:txBody>
      </p:sp>
      <p:sp>
        <p:nvSpPr>
          <p:cNvPr id="22" name="Shape 20"/>
          <p:cNvSpPr/>
          <p:nvPr/>
        </p:nvSpPr>
        <p:spPr>
          <a:xfrm>
            <a:off x="4291584" y="4091940"/>
            <a:ext cx="3605784" cy="2171700"/>
          </a:xfrm>
          <a:prstGeom prst="roundRect">
            <a:avLst>
              <a:gd name="adj" fmla="val 3368"/>
            </a:avLst>
          </a:prstGeom>
          <a:solidFill>
            <a:srgbClr val="F6F7F8"/>
          </a:solidFill>
          <a:ln w="12700">
            <a:solidFill>
              <a:srgbClr val="DDE1E4"/>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CAG's (DPC) Act, 1971 — Sec. 18</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Power to inspect any office of accounts, require accounts, books and documents to be sent, and put questions / make observations — basis for audit objections and Inspection Reports.</a:t>
            </a:r>
            <a:endParaRPr lang="en-US" sz="15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Regulations on Audit &amp; Accounts, 2007</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Detailed procedure for audit, Inspection Reports and the department's replies (as amended).</a:t>
            </a:r>
            <a:endParaRPr lang="en-US" sz="15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 marks omitted words. EXTRACT = quoted text; GIST = summary in plain words — verify against the official text before citing.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8</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Investigation — Karnataka Lokayukta</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Administrative investigation under the Lokayukta Act and criminal investigation by Lokayukta Police</a:t>
            </a:r>
            <a:endParaRPr lang="en-US" sz="1300" dirty="0"/>
          </a:p>
        </p:txBody>
      </p:sp>
      <p:sp>
        <p:nvSpPr>
          <p:cNvPr id="6" name="Shape 4"/>
          <p:cNvSpPr/>
          <p:nvPr/>
        </p:nvSpPr>
        <p:spPr>
          <a:xfrm>
            <a:off x="457200" y="1737360"/>
            <a:ext cx="3605784" cy="2171700"/>
          </a:xfrm>
          <a:prstGeom prst="roundRect">
            <a:avLst>
              <a:gd name="adj" fmla="val 3368"/>
            </a:avLst>
          </a:prstGeom>
          <a:solidFill>
            <a:srgbClr val="F6F7F8"/>
          </a:solidFill>
          <a:ln w="12700">
            <a:solidFill>
              <a:srgbClr val="DDE1E4"/>
            </a:solidFill>
            <a:prstDash val="solid"/>
          </a:ln>
        </p:spPr>
      </p:sp>
      <p:sp>
        <p:nvSpPr>
          <p:cNvPr id="7" name="Text 5"/>
          <p:cNvSpPr txBox="1"/>
          <p:nvPr/>
        </p:nvSpPr>
        <p:spPr>
          <a:xfrm>
            <a:off x="3102864"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8" name="Text 6"/>
          <p:cNvSpPr txBox="1"/>
          <p:nvPr/>
        </p:nvSpPr>
        <p:spPr>
          <a:xfrm>
            <a:off x="640080"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KL Act, 1984 — Sec. 7</a:t>
            </a:r>
            <a:endParaRPr lang="en-US" sz="1400" dirty="0"/>
          </a:p>
        </p:txBody>
      </p:sp>
      <p:sp>
        <p:nvSpPr>
          <p:cNvPr id="9" name="Text 7"/>
          <p:cNvSpPr txBox="1"/>
          <p:nvPr/>
        </p:nvSpPr>
        <p:spPr>
          <a:xfrm>
            <a:off x="640080"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Matters that may be investigated: actions of public servants on a complaint involving a grievance or an allegation (Lokayukta / Upa-Lokayukta by category of public servant).</a:t>
            </a:r>
            <a:endParaRPr lang="en-US" sz="1400" dirty="0"/>
          </a:p>
        </p:txBody>
      </p:sp>
      <p:sp>
        <p:nvSpPr>
          <p:cNvPr id="10" name="Shape 8"/>
          <p:cNvSpPr/>
          <p:nvPr/>
        </p:nvSpPr>
        <p:spPr>
          <a:xfrm>
            <a:off x="4291584" y="1737360"/>
            <a:ext cx="3605784" cy="2171700"/>
          </a:xfrm>
          <a:prstGeom prst="roundRect">
            <a:avLst>
              <a:gd name="adj" fmla="val 3368"/>
            </a:avLst>
          </a:prstGeom>
          <a:solidFill>
            <a:srgbClr val="F6F7F8"/>
          </a:solidFill>
          <a:ln w="12700">
            <a:solidFill>
              <a:srgbClr val="DDE1E4"/>
            </a:solidFill>
            <a:prstDash val="solid"/>
          </a:ln>
        </p:spPr>
      </p:sp>
      <p:sp>
        <p:nvSpPr>
          <p:cNvPr id="11" name="Text 9"/>
          <p:cNvSpPr txBox="1"/>
          <p:nvPr/>
        </p:nvSpPr>
        <p:spPr>
          <a:xfrm>
            <a:off x="6937248"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2" name="Text 10"/>
          <p:cNvSpPr txBox="1"/>
          <p:nvPr/>
        </p:nvSpPr>
        <p:spPr>
          <a:xfrm>
            <a:off x="4474464"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KL Act, 1984 — Sec. 9</a:t>
            </a:r>
            <a:endParaRPr lang="en-US" sz="1400" dirty="0"/>
          </a:p>
        </p:txBody>
      </p:sp>
      <p:sp>
        <p:nvSpPr>
          <p:cNvPr id="13" name="Text 11"/>
          <p:cNvSpPr txBox="1"/>
          <p:nvPr/>
        </p:nvSpPr>
        <p:spPr>
          <a:xfrm>
            <a:off x="4474464"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Complaint in prescribed form with affidavit; preliminary verification; public servant given an opportunity; proceedings conducted in private.</a:t>
            </a:r>
            <a:endParaRPr lang="en-US" sz="1400" dirty="0"/>
          </a:p>
        </p:txBody>
      </p:sp>
      <p:sp>
        <p:nvSpPr>
          <p:cNvPr id="14" name="Shape 12"/>
          <p:cNvSpPr/>
          <p:nvPr/>
        </p:nvSpPr>
        <p:spPr>
          <a:xfrm>
            <a:off x="8125968" y="1737360"/>
            <a:ext cx="3605784" cy="2171700"/>
          </a:xfrm>
          <a:prstGeom prst="roundRect">
            <a:avLst>
              <a:gd name="adj" fmla="val 3368"/>
            </a:avLst>
          </a:prstGeom>
          <a:solidFill>
            <a:srgbClr val="F6F7F8"/>
          </a:solidFill>
          <a:ln w="12700">
            <a:solidFill>
              <a:srgbClr val="DDE1E4"/>
            </a:solidFill>
            <a:prstDash val="solid"/>
          </a:ln>
        </p:spPr>
      </p:sp>
      <p:sp>
        <p:nvSpPr>
          <p:cNvPr id="15" name="Text 13"/>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8308848" y="184708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KL Act, 1984 — Sec. 10–11</a:t>
            </a:r>
            <a:endParaRPr lang="en-US" sz="1400" dirty="0"/>
          </a:p>
        </p:txBody>
      </p:sp>
      <p:sp>
        <p:nvSpPr>
          <p:cNvPr id="17" name="Text 15"/>
          <p:cNvSpPr txBox="1"/>
          <p:nvPr/>
        </p:nvSpPr>
        <p:spPr>
          <a:xfrm>
            <a:off x="8308848" y="239572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Search and seizure; power to require information and documents; powers of a civil court (summoning, examination on oath, requisition of records).</a:t>
            </a:r>
            <a:endParaRPr lang="en-US" sz="1400" dirty="0"/>
          </a:p>
        </p:txBody>
      </p:sp>
      <p:sp>
        <p:nvSpPr>
          <p:cNvPr id="18" name="Shape 16"/>
          <p:cNvSpPr/>
          <p:nvPr/>
        </p:nvSpPr>
        <p:spPr>
          <a:xfrm>
            <a:off x="457200" y="4091940"/>
            <a:ext cx="3605784" cy="2171700"/>
          </a:xfrm>
          <a:prstGeom prst="roundRect">
            <a:avLst>
              <a:gd name="adj" fmla="val 3368"/>
            </a:avLst>
          </a:prstGeom>
          <a:solidFill>
            <a:srgbClr val="F6F7F8"/>
          </a:solidFill>
          <a:ln w="12700">
            <a:solidFill>
              <a:srgbClr val="DDE1E4"/>
            </a:solidFill>
            <a:prstDash val="solid"/>
          </a:ln>
        </p:spPr>
      </p:sp>
      <p:sp>
        <p:nvSpPr>
          <p:cNvPr id="19" name="Text 17"/>
          <p:cNvSpPr txBox="1"/>
          <p:nvPr/>
        </p:nvSpPr>
        <p:spPr>
          <a:xfrm>
            <a:off x="3102864"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0" name="Text 18"/>
          <p:cNvSpPr txBox="1"/>
          <p:nvPr/>
        </p:nvSpPr>
        <p:spPr>
          <a:xfrm>
            <a:off x="640080"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KL Act, 1984 — Sec. 12</a:t>
            </a:r>
            <a:endParaRPr lang="en-US" sz="1400" dirty="0"/>
          </a:p>
        </p:txBody>
      </p:sp>
      <p:sp>
        <p:nvSpPr>
          <p:cNvPr id="21" name="Text 19"/>
          <p:cNvSpPr txBox="1"/>
          <p:nvPr/>
        </p:nvSpPr>
        <p:spPr>
          <a:xfrm>
            <a:off x="640080"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Reports with findings and recommendations to the competent authority, which must examine them and intimate action taken.</a:t>
            </a:r>
            <a:endParaRPr lang="en-US" sz="1400" dirty="0"/>
          </a:p>
        </p:txBody>
      </p:sp>
      <p:sp>
        <p:nvSpPr>
          <p:cNvPr id="22" name="Shape 20"/>
          <p:cNvSpPr/>
          <p:nvPr/>
        </p:nvSpPr>
        <p:spPr>
          <a:xfrm>
            <a:off x="4291584" y="4091940"/>
            <a:ext cx="3605784" cy="2171700"/>
          </a:xfrm>
          <a:prstGeom prst="roundRect">
            <a:avLst>
              <a:gd name="adj" fmla="val 3368"/>
            </a:avLst>
          </a:prstGeom>
          <a:solidFill>
            <a:srgbClr val="F6F7F8"/>
          </a:solidFill>
          <a:ln w="12700">
            <a:solidFill>
              <a:srgbClr val="DDE1E4"/>
            </a:solidFill>
            <a:prstDash val="solid"/>
          </a:ln>
        </p:spPr>
      </p:sp>
      <p:sp>
        <p:nvSpPr>
          <p:cNvPr id="23" name="Text 21"/>
          <p:cNvSpPr txBox="1"/>
          <p:nvPr/>
        </p:nvSpPr>
        <p:spPr>
          <a:xfrm>
            <a:off x="6937248"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4" name="Text 22"/>
          <p:cNvSpPr txBox="1"/>
          <p:nvPr/>
        </p:nvSpPr>
        <p:spPr>
          <a:xfrm>
            <a:off x="4474464"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PC Act, 1988 — Sec. 7, 13, 19</a:t>
            </a:r>
            <a:endParaRPr lang="en-US" sz="1400" dirty="0"/>
          </a:p>
        </p:txBody>
      </p:sp>
      <p:sp>
        <p:nvSpPr>
          <p:cNvPr id="25" name="Text 23"/>
          <p:cNvSpPr txBox="1"/>
          <p:nvPr/>
        </p:nvSpPr>
        <p:spPr>
          <a:xfrm>
            <a:off x="4474464"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Sec. 7: public servant obtaining undue advantage (bribe). Sec. 13: criminal misconduct incl. illicit enrichment (disproportionate assets). Sec. 19: sanction for prosecution.</a:t>
            </a:r>
            <a:endParaRPr lang="en-US" sz="1400" dirty="0"/>
          </a:p>
        </p:txBody>
      </p:sp>
      <p:sp>
        <p:nvSpPr>
          <p:cNvPr id="26" name="Shape 24"/>
          <p:cNvSpPr/>
          <p:nvPr/>
        </p:nvSpPr>
        <p:spPr>
          <a:xfrm>
            <a:off x="8125968" y="4091940"/>
            <a:ext cx="3605784" cy="2171700"/>
          </a:xfrm>
          <a:prstGeom prst="roundRect">
            <a:avLst>
              <a:gd name="adj" fmla="val 3368"/>
            </a:avLst>
          </a:prstGeom>
          <a:solidFill>
            <a:srgbClr val="F6F7F8"/>
          </a:solidFill>
          <a:ln w="12700">
            <a:solidFill>
              <a:srgbClr val="DDE1E4"/>
            </a:solidFill>
            <a:prstDash val="solid"/>
          </a:ln>
        </p:spPr>
      </p:sp>
      <p:sp>
        <p:nvSpPr>
          <p:cNvPr id="27" name="Text 25"/>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8" name="Text 26"/>
          <p:cNvSpPr txBox="1"/>
          <p:nvPr/>
        </p:nvSpPr>
        <p:spPr>
          <a:xfrm>
            <a:off x="8308848" y="4201668"/>
            <a:ext cx="241706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PC Act Sec. 17 &amp; 17A · BNSS, 2023</a:t>
            </a:r>
            <a:endParaRPr lang="en-US" sz="1400" dirty="0"/>
          </a:p>
        </p:txBody>
      </p:sp>
      <p:sp>
        <p:nvSpPr>
          <p:cNvPr id="29" name="Text 27"/>
          <p:cNvSpPr txBox="1"/>
          <p:nvPr/>
        </p:nvSpPr>
        <p:spPr>
          <a:xfrm>
            <a:off x="8308848" y="4750308"/>
            <a:ext cx="3240024" cy="1403604"/>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Sec. 17: investigation by police officer of prescribed rank. Sec. 17A: prior approval before inquiry into decisions taken in official functions. Procedure under BNSS, 2023 (earlier CrPC).</a:t>
            </a:r>
            <a:endParaRPr lang="en-US" sz="1400" dirty="0"/>
          </a:p>
        </p:txBody>
      </p:sp>
      <p:sp>
        <p:nvSpPr>
          <p:cNvPr id="30" name="Text 2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Section numbers and summaries are from general knowledge and could not be verified against official texts — confirm before citing.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2011680" cy="329184"/>
          </a:xfrm>
          <a:prstGeom prst="roundRect">
            <a:avLst>
              <a:gd name="adj" fmla="val 50000"/>
            </a:avLst>
          </a:prstGeom>
          <a:solidFill>
            <a:srgbClr val="0F4C5C"/>
          </a:solidFill>
          <a:ln w="12700">
            <a:solidFill>
              <a:srgbClr val="0F4C5C"/>
            </a:solidFill>
            <a:prstDash val="solid"/>
          </a:ln>
        </p:spPr>
      </p:sp>
      <p:sp>
        <p:nvSpPr>
          <p:cNvPr id="3" name="Text 1"/>
          <p:cNvSpPr txBox="1"/>
          <p:nvPr/>
        </p:nvSpPr>
        <p:spPr>
          <a:xfrm>
            <a:off x="457200" y="347472"/>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SERVICE ACTION 9</a:t>
            </a:r>
            <a:endParaRPr lang="en-US" sz="1100" dirty="0"/>
          </a:p>
        </p:txBody>
      </p:sp>
      <p:sp>
        <p:nvSpPr>
          <p:cNvPr id="4" name="Text 2"/>
          <p:cNvSpPr txBox="1"/>
          <p:nvPr/>
        </p:nvSpPr>
        <p:spPr>
          <a:xfrm>
            <a:off x="457200" y="749808"/>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Investigation — Income Tax Department</a:t>
            </a:r>
            <a:endParaRPr lang="en-US" sz="2800" dirty="0"/>
          </a:p>
        </p:txBody>
      </p:sp>
      <p:sp>
        <p:nvSpPr>
          <p:cNvPr id="5" name="Text 3"/>
          <p:cNvSpPr txBox="1"/>
          <p:nvPr/>
        </p:nvSpPr>
        <p:spPr>
          <a:xfrm>
            <a:off x="457200" y="1280160"/>
            <a:ext cx="11247120" cy="292608"/>
          </a:xfrm>
          <a:prstGeom prst="rect">
            <a:avLst/>
          </a:prstGeom>
          <a:noFill/>
          <a:ln/>
        </p:spPr>
        <p:txBody>
          <a:bodyPr wrap="square" lIns="0" tIns="0" rIns="0" bIns="0" rtlCol="0" anchor="ctr"/>
          <a:lstStyle/>
          <a:p>
            <a:pPr marL="0" indent="0">
              <a:buNone/>
            </a:pPr>
            <a:r>
              <a:rPr lang="en-US" sz="1300" i="1" dirty="0">
                <a:solidFill>
                  <a:srgbClr val="5B6770"/>
                </a:solidFill>
                <a:latin typeface="Calibri" pitchFamily="34" charset="0"/>
                <a:ea typeface="Calibri" pitchFamily="34" charset="-122"/>
                <a:cs typeface="Calibri" pitchFamily="34" charset="-120"/>
              </a:rPr>
              <a:t>Search, survey and information powers, and the Sub-Registrar's reporting duty</a:t>
            </a:r>
            <a:endParaRPr lang="en-US" sz="1300" dirty="0"/>
          </a:p>
        </p:txBody>
      </p:sp>
      <p:sp>
        <p:nvSpPr>
          <p:cNvPr id="6" name="Shape 4"/>
          <p:cNvSpPr/>
          <p:nvPr/>
        </p:nvSpPr>
        <p:spPr>
          <a:xfrm>
            <a:off x="457200" y="1737360"/>
            <a:ext cx="5522976" cy="2171700"/>
          </a:xfrm>
          <a:prstGeom prst="roundRect">
            <a:avLst>
              <a:gd name="adj" fmla="val 3368"/>
            </a:avLst>
          </a:prstGeom>
          <a:solidFill>
            <a:srgbClr val="F6F7F8"/>
          </a:solidFill>
          <a:ln w="12700">
            <a:solidFill>
              <a:srgbClr val="DDE1E4"/>
            </a:solidFill>
            <a:prstDash val="solid"/>
          </a:ln>
        </p:spPr>
      </p:sp>
      <p:sp>
        <p:nvSpPr>
          <p:cNvPr id="7" name="Text 5"/>
          <p:cNvSpPr txBox="1"/>
          <p:nvPr/>
        </p:nvSpPr>
        <p:spPr>
          <a:xfrm>
            <a:off x="5020056"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8" name="Text 6"/>
          <p:cNvSpPr txBox="1"/>
          <p:nvPr/>
        </p:nvSpPr>
        <p:spPr>
          <a:xfrm>
            <a:off x="640080" y="1847088"/>
            <a:ext cx="433425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Income-tax Act, 2025 — Sec. 247</a:t>
            </a:r>
            <a:endParaRPr lang="en-US" sz="1400" dirty="0"/>
          </a:p>
        </p:txBody>
      </p:sp>
      <p:sp>
        <p:nvSpPr>
          <p:cNvPr id="9" name="Text 7"/>
          <p:cNvSpPr txBox="1"/>
          <p:nvPr/>
        </p:nvSpPr>
        <p:spPr>
          <a:xfrm>
            <a:off x="640080" y="2395728"/>
            <a:ext cx="5157216"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Search and seizure by authorised officers (corresponds to Sec. 132 of the 1961 Act). The 2025 Act is in force from 01.04.2026.</a:t>
            </a:r>
            <a:endParaRPr lang="en-US" sz="1700" dirty="0"/>
          </a:p>
        </p:txBody>
      </p:sp>
      <p:sp>
        <p:nvSpPr>
          <p:cNvPr id="10" name="Shape 8"/>
          <p:cNvSpPr/>
          <p:nvPr/>
        </p:nvSpPr>
        <p:spPr>
          <a:xfrm>
            <a:off x="6208776" y="1737360"/>
            <a:ext cx="5522976" cy="2171700"/>
          </a:xfrm>
          <a:prstGeom prst="roundRect">
            <a:avLst>
              <a:gd name="adj" fmla="val 3368"/>
            </a:avLst>
          </a:prstGeom>
          <a:solidFill>
            <a:srgbClr val="F6F7F8"/>
          </a:solidFill>
          <a:ln w="12700">
            <a:solidFill>
              <a:srgbClr val="DDE1E4"/>
            </a:solidFill>
            <a:prstDash val="solid"/>
          </a:ln>
        </p:spPr>
      </p:sp>
      <p:sp>
        <p:nvSpPr>
          <p:cNvPr id="11" name="Text 9"/>
          <p:cNvSpPr txBox="1"/>
          <p:nvPr/>
        </p:nvSpPr>
        <p:spPr>
          <a:xfrm>
            <a:off x="10771632" y="184708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2" name="Text 10"/>
          <p:cNvSpPr txBox="1"/>
          <p:nvPr/>
        </p:nvSpPr>
        <p:spPr>
          <a:xfrm>
            <a:off x="6391656" y="1847088"/>
            <a:ext cx="433425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1961 Act — Sec. 131 / 133</a:t>
            </a:r>
            <a:endParaRPr lang="en-US" sz="1400" dirty="0"/>
          </a:p>
        </p:txBody>
      </p:sp>
      <p:sp>
        <p:nvSpPr>
          <p:cNvPr id="13" name="Text 11"/>
          <p:cNvSpPr txBox="1"/>
          <p:nvPr/>
        </p:nvSpPr>
        <p:spPr>
          <a:xfrm>
            <a:off x="6391656" y="2395728"/>
            <a:ext cx="5157216"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Sec. 131: powers of a civil court — discovery, summons, production of records. Sec. 133: power to call for information. (For earlier years; check 2025 Act numbering.)</a:t>
            </a:r>
            <a:endParaRPr lang="en-US" sz="1700" dirty="0"/>
          </a:p>
        </p:txBody>
      </p:sp>
      <p:sp>
        <p:nvSpPr>
          <p:cNvPr id="14" name="Shape 12"/>
          <p:cNvSpPr/>
          <p:nvPr/>
        </p:nvSpPr>
        <p:spPr>
          <a:xfrm>
            <a:off x="457200" y="4091940"/>
            <a:ext cx="5522976" cy="2171700"/>
          </a:xfrm>
          <a:prstGeom prst="roundRect">
            <a:avLst>
              <a:gd name="adj" fmla="val 3368"/>
            </a:avLst>
          </a:prstGeom>
          <a:solidFill>
            <a:srgbClr val="F6F7F8"/>
          </a:solidFill>
          <a:ln w="12700">
            <a:solidFill>
              <a:srgbClr val="DDE1E4"/>
            </a:solidFill>
            <a:prstDash val="solid"/>
          </a:ln>
        </p:spPr>
      </p:sp>
      <p:sp>
        <p:nvSpPr>
          <p:cNvPr id="15" name="Text 13"/>
          <p:cNvSpPr txBox="1"/>
          <p:nvPr/>
        </p:nvSpPr>
        <p:spPr>
          <a:xfrm>
            <a:off x="5020056"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16" name="Text 14"/>
          <p:cNvSpPr txBox="1"/>
          <p:nvPr/>
        </p:nvSpPr>
        <p:spPr>
          <a:xfrm>
            <a:off x="640080" y="4201668"/>
            <a:ext cx="433425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1961 Act — Sec. 133A</a:t>
            </a:r>
            <a:endParaRPr lang="en-US" sz="1400" dirty="0"/>
          </a:p>
        </p:txBody>
      </p:sp>
      <p:sp>
        <p:nvSpPr>
          <p:cNvPr id="17" name="Text 15"/>
          <p:cNvSpPr txBox="1"/>
          <p:nvPr/>
        </p:nvSpPr>
        <p:spPr>
          <a:xfrm>
            <a:off x="640080" y="4750308"/>
            <a:ext cx="5157216"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Survey: entry into premises to inspect books, verify cash / stock and record statements. (Check 2025 Act numbering.)</a:t>
            </a:r>
            <a:endParaRPr lang="en-US" sz="1700" dirty="0"/>
          </a:p>
        </p:txBody>
      </p:sp>
      <p:sp>
        <p:nvSpPr>
          <p:cNvPr id="18" name="Shape 16"/>
          <p:cNvSpPr/>
          <p:nvPr/>
        </p:nvSpPr>
        <p:spPr>
          <a:xfrm>
            <a:off x="6208776" y="4091940"/>
            <a:ext cx="5522976" cy="2171700"/>
          </a:xfrm>
          <a:prstGeom prst="roundRect">
            <a:avLst>
              <a:gd name="adj" fmla="val 3368"/>
            </a:avLst>
          </a:prstGeom>
          <a:solidFill>
            <a:srgbClr val="F6F7F8"/>
          </a:solidFill>
          <a:ln w="12700">
            <a:solidFill>
              <a:srgbClr val="DDE1E4"/>
            </a:solidFill>
            <a:prstDash val="solid"/>
          </a:ln>
        </p:spPr>
      </p:sp>
      <p:sp>
        <p:nvSpPr>
          <p:cNvPr id="19" name="Text 17"/>
          <p:cNvSpPr txBox="1"/>
          <p:nvPr/>
        </p:nvSpPr>
        <p:spPr>
          <a:xfrm>
            <a:off x="10771632" y="4201668"/>
            <a:ext cx="777240" cy="219456"/>
          </a:xfrm>
          <a:prstGeom prst="rect">
            <a:avLst/>
          </a:prstGeom>
          <a:noFill/>
          <a:ln/>
        </p:spPr>
        <p:txBody>
          <a:bodyPr wrap="square" lIns="0" tIns="0" rIns="0" bIns="0" rtlCol="0" anchor="ctr"/>
          <a:lstStyle/>
          <a:p>
            <a:pPr marL="0" indent="0" algn="r">
              <a:buNone/>
            </a:pPr>
            <a:r>
              <a:rPr lang="en-US" sz="900" b="1" kern="0" spc="100" dirty="0">
                <a:solidFill>
                  <a:srgbClr val="5B6770"/>
                </a:solidFill>
                <a:latin typeface="Calibri" pitchFamily="34" charset="0"/>
                <a:ea typeface="Calibri" pitchFamily="34" charset="-122"/>
                <a:cs typeface="Calibri" pitchFamily="34" charset="-120"/>
              </a:rPr>
              <a:t>GIST</a:t>
            </a:r>
            <a:endParaRPr lang="en-US" sz="900" dirty="0"/>
          </a:p>
        </p:txBody>
      </p:sp>
      <p:sp>
        <p:nvSpPr>
          <p:cNvPr id="20" name="Text 18"/>
          <p:cNvSpPr txBox="1"/>
          <p:nvPr/>
        </p:nvSpPr>
        <p:spPr>
          <a:xfrm>
            <a:off x="6391656" y="4201668"/>
            <a:ext cx="433425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285BA r/w Rule 114E — SFT</a:t>
            </a:r>
            <a:endParaRPr lang="en-US" sz="1400" dirty="0"/>
          </a:p>
        </p:txBody>
      </p:sp>
      <p:sp>
        <p:nvSpPr>
          <p:cNvPr id="21" name="Text 19"/>
          <p:cNvSpPr txBox="1"/>
          <p:nvPr/>
        </p:nvSpPr>
        <p:spPr>
          <a:xfrm>
            <a:off x="6391656" y="4750308"/>
            <a:ext cx="5157216" cy="1403604"/>
          </a:xfrm>
          <a:prstGeom prst="rect">
            <a:avLst/>
          </a:prstGeom>
          <a:noFill/>
          <a:ln/>
        </p:spPr>
        <p:txBody>
          <a:bodyPr wrap="square" lIns="0" tIns="0" rIns="0" bIns="0" rtlCol="0" anchor="t"/>
          <a:lstStyle/>
          <a:p>
            <a:pPr marL="0" indent="0">
              <a:buNone/>
            </a:pPr>
            <a:r>
              <a:rPr lang="en-US" sz="1700" dirty="0">
                <a:solidFill>
                  <a:srgbClr val="1F2933"/>
                </a:solidFill>
                <a:latin typeface="Calibri" pitchFamily="34" charset="0"/>
                <a:ea typeface="Calibri" pitchFamily="34" charset="-122"/>
                <a:cs typeface="Calibri" pitchFamily="34" charset="-120"/>
              </a:rPr>
              <a:t>Registrar / Sub-Registrar must furnish a Statement of Financial Transactions for purchase or sale of immovable property valued at ₹30 lakh or more. (Check 2025 Act numbering.)</a:t>
            </a:r>
            <a:endParaRPr lang="en-US" sz="1700" dirty="0"/>
          </a:p>
        </p:txBody>
      </p:sp>
      <p:sp>
        <p:nvSpPr>
          <p:cNvPr id="22" name="Text 20"/>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Only Sec. 247 (2025 Act) mapping was confirmed online; other new section numbers to be checked.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2985</Words>
  <Application>Microsoft Office PowerPoint</Application>
  <PresentationFormat>Widescreen</PresentationFormat>
  <Paragraphs>250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1</cp:revision>
  <dcterms:created xsi:type="dcterms:W3CDTF">2026-10-01T05:00:22Z</dcterms:created>
  <dcterms:modified xsi:type="dcterms:W3CDTF">2026-10-01T05:09:20Z</dcterms:modified>
</cp:coreProperties>
</file>