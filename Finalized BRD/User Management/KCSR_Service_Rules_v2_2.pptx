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4" d="100"/>
          <a:sy n="114" d="100"/>
        </p:scale>
        <p:origin x="43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4056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marL="0" indent="0">
              <a:buNone/>
            </a:pPr>
            <a:r>
              <a:rPr lang="en-US" sz="3400" b="1" dirty="0">
                <a:solidFill>
                  <a:srgbClr val="0F4C5C"/>
                </a:solidFill>
                <a:latin typeface="Cambria" pitchFamily="34" charset="0"/>
                <a:ea typeface="Cambria" pitchFamily="34" charset="-122"/>
                <a:cs typeface="Cambria" pitchFamily="34" charset="-120"/>
              </a:rPr>
              <a:t>Service Actions &amp; Governing Rules</a:t>
            </a:r>
            <a:endParaRPr lang="en-US" sz="3400" dirty="0"/>
          </a:p>
        </p:txBody>
      </p:sp>
      <p:sp>
        <p:nvSpPr>
          <p:cNvPr id="3" name="Text 1"/>
          <p:cNvSpPr txBox="1"/>
          <p:nvPr/>
        </p:nvSpPr>
        <p:spPr>
          <a:xfrm>
            <a:off x="457200" y="932688"/>
            <a:ext cx="11247120" cy="365760"/>
          </a:xfrm>
          <a:prstGeom prst="rect">
            <a:avLst/>
          </a:prstGeom>
          <a:noFill/>
          <a:ln/>
        </p:spPr>
        <p:txBody>
          <a:bodyPr wrap="square" lIns="0" tIns="0" rIns="0" bIns="0" rtlCol="0" anchor="ctr"/>
          <a:lstStyle/>
          <a:p>
            <a:pPr marL="0" indent="0">
              <a:buNone/>
            </a:pPr>
            <a:r>
              <a:rPr lang="en-US" sz="1500" i="1" dirty="0">
                <a:solidFill>
                  <a:srgbClr val="5B6770"/>
                </a:solidFill>
                <a:latin typeface="Calibri" pitchFamily="34" charset="0"/>
                <a:ea typeface="Calibri" pitchFamily="34" charset="-122"/>
                <a:cs typeface="Calibri" pitchFamily="34" charset="-120"/>
              </a:rPr>
              <a:t>Department of Stamps &amp; Registration, Karnataka — KCSR and Registration Act, 1908</a:t>
            </a:r>
            <a:endParaRPr lang="en-US" sz="1500" dirty="0"/>
          </a:p>
        </p:txBody>
      </p:sp>
      <p:sp>
        <p:nvSpPr>
          <p:cNvPr id="4" name="Shape 2"/>
          <p:cNvSpPr/>
          <p:nvPr/>
        </p:nvSpPr>
        <p:spPr>
          <a:xfrm>
            <a:off x="457200" y="1463040"/>
            <a:ext cx="11274552" cy="713232"/>
          </a:xfrm>
          <a:prstGeom prst="roundRect">
            <a:avLst>
              <a:gd name="adj" fmla="val 10256"/>
            </a:avLst>
          </a:prstGeom>
          <a:solidFill>
            <a:srgbClr val="EEF4F5"/>
          </a:solidFill>
          <a:ln w="12700">
            <a:solidFill>
              <a:srgbClr val="EEF4F5"/>
            </a:solidFill>
            <a:prstDash val="solid"/>
          </a:ln>
        </p:spPr>
      </p:sp>
      <p:sp>
        <p:nvSpPr>
          <p:cNvPr id="5" name="Shape 3"/>
          <p:cNvSpPr/>
          <p:nvPr/>
        </p:nvSpPr>
        <p:spPr>
          <a:xfrm>
            <a:off x="640080" y="1563624"/>
            <a:ext cx="512064" cy="512064"/>
          </a:xfrm>
          <a:prstGeom prst="ellipse">
            <a:avLst/>
          </a:prstGeom>
          <a:solidFill>
            <a:srgbClr val="0F4C5C"/>
          </a:solidFill>
          <a:ln w="12700">
            <a:solidFill>
              <a:srgbClr val="0F4C5C"/>
            </a:solidFill>
            <a:prstDash val="solid"/>
          </a:ln>
        </p:spPr>
      </p:sp>
      <p:sp>
        <p:nvSpPr>
          <p:cNvPr id="6" name="Text 4"/>
          <p:cNvSpPr txBox="1"/>
          <p:nvPr/>
        </p:nvSpPr>
        <p:spPr>
          <a:xfrm>
            <a:off x="640080" y="1563624"/>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325880" y="1463040"/>
            <a:ext cx="2103120" cy="713232"/>
          </a:xfrm>
          <a:prstGeom prst="rect">
            <a:avLst/>
          </a:prstGeom>
          <a:noFill/>
          <a:ln/>
        </p:spPr>
        <p:txBody>
          <a:bodyPr wrap="square" lIns="0" tIns="0" rIns="0" bIns="0" rtlCol="0" anchor="ctr"/>
          <a:lstStyle/>
          <a:p>
            <a:pPr marL="0" indent="0">
              <a:buNone/>
            </a:pPr>
            <a:r>
              <a:rPr lang="en-US" sz="1700" b="1" dirty="0">
                <a:solidFill>
                  <a:srgbClr val="1F2933"/>
                </a:solidFill>
                <a:latin typeface="Calibri" pitchFamily="34" charset="0"/>
                <a:ea typeface="Calibri" pitchFamily="34" charset="-122"/>
                <a:cs typeface="Calibri" pitchFamily="34" charset="-120"/>
              </a:rPr>
              <a:t>Employment / Appointment</a:t>
            </a:r>
            <a:endParaRPr lang="en-US" sz="1700" dirty="0"/>
          </a:p>
        </p:txBody>
      </p:sp>
      <p:sp>
        <p:nvSpPr>
          <p:cNvPr id="8" name="Text 6"/>
          <p:cNvSpPr txBox="1"/>
          <p:nvPr/>
        </p:nvSpPr>
        <p:spPr>
          <a:xfrm>
            <a:off x="3474720" y="1463040"/>
            <a:ext cx="2377440" cy="713232"/>
          </a:xfrm>
          <a:prstGeom prst="rect">
            <a:avLst/>
          </a:prstGeom>
          <a:noFill/>
          <a:ln/>
        </p:spPr>
        <p:txBody>
          <a:bodyPr wrap="square" lIns="0" tIns="0" rIns="0" bIns="0" rtlCol="0" anchor="ctr"/>
          <a:lstStyle/>
          <a:p>
            <a:pPr marL="0" indent="0">
              <a:buNone/>
            </a:pPr>
            <a:r>
              <a:rPr lang="en-US" sz="1500" b="1" dirty="0">
                <a:solidFill>
                  <a:srgbClr val="E36414"/>
                </a:solidFill>
                <a:latin typeface="Calibri" pitchFamily="34" charset="0"/>
                <a:ea typeface="Calibri" pitchFamily="34" charset="-122"/>
                <a:cs typeface="Calibri" pitchFamily="34" charset="-120"/>
              </a:rPr>
              <a:t>Art. 309 · KSCS Act, 1978 · Reg. Act S.6</a:t>
            </a:r>
            <a:endParaRPr lang="en-US" sz="1500" dirty="0"/>
          </a:p>
        </p:txBody>
      </p:sp>
      <p:sp>
        <p:nvSpPr>
          <p:cNvPr id="9" name="Text 7"/>
          <p:cNvSpPr txBox="1"/>
          <p:nvPr/>
        </p:nvSpPr>
        <p:spPr>
          <a:xfrm>
            <a:off x="5943600" y="1463040"/>
            <a:ext cx="5623560" cy="713232"/>
          </a:xfrm>
          <a:prstGeom prst="rect">
            <a:avLst/>
          </a:prstGeom>
          <a:noFill/>
          <a:ln/>
        </p:spPr>
        <p:txBody>
          <a:bodyPr wrap="square" lIns="0" tIns="0" rIns="0" bIns="0" rtlCol="0" anchor="ctr"/>
          <a:lstStyle/>
          <a:p>
            <a:pPr marL="0" indent="0">
              <a:buNone/>
            </a:pPr>
            <a:r>
              <a:rPr lang="en-US" sz="1200" dirty="0">
                <a:solidFill>
                  <a:srgbClr val="1F2933"/>
                </a:solidFill>
                <a:latin typeface="Calibri" pitchFamily="34" charset="0"/>
                <a:ea typeface="Calibri" pitchFamily="34" charset="-122"/>
                <a:cs typeface="Calibri" pitchFamily="34" charset="-120"/>
              </a:rPr>
              <a:t>KSCS Act, 1978 – Sec. 3 r/w Sec. 8; KCS (General Recruitment) Rules, 1977; Dept. C&amp;R Rules. Registration Act, 1908: IGR appointed – Sec. 3; Registrars &amp; Sub-Registrars appointed – Sec. 6</a:t>
            </a:r>
            <a:endParaRPr lang="en-US" sz="1200" dirty="0"/>
          </a:p>
        </p:txBody>
      </p:sp>
      <p:sp>
        <p:nvSpPr>
          <p:cNvPr id="10" name="Shape 8"/>
          <p:cNvSpPr/>
          <p:nvPr/>
        </p:nvSpPr>
        <p:spPr>
          <a:xfrm>
            <a:off x="457200" y="2286000"/>
            <a:ext cx="11274552" cy="713232"/>
          </a:xfrm>
          <a:prstGeom prst="roundRect">
            <a:avLst>
              <a:gd name="adj" fmla="val 10256"/>
            </a:avLst>
          </a:prstGeom>
          <a:solidFill>
            <a:srgbClr val="EEF4F5"/>
          </a:solidFill>
          <a:ln w="12700">
            <a:solidFill>
              <a:srgbClr val="EEF4F5"/>
            </a:solidFill>
            <a:prstDash val="solid"/>
          </a:ln>
        </p:spPr>
      </p:sp>
      <p:sp>
        <p:nvSpPr>
          <p:cNvPr id="11" name="Shape 9"/>
          <p:cNvSpPr/>
          <p:nvPr/>
        </p:nvSpPr>
        <p:spPr>
          <a:xfrm>
            <a:off x="640080" y="2386584"/>
            <a:ext cx="512064" cy="512064"/>
          </a:xfrm>
          <a:prstGeom prst="ellipse">
            <a:avLst/>
          </a:prstGeom>
          <a:solidFill>
            <a:srgbClr val="0F4C5C"/>
          </a:solidFill>
          <a:ln w="12700">
            <a:solidFill>
              <a:srgbClr val="0F4C5C"/>
            </a:solidFill>
            <a:prstDash val="solid"/>
          </a:ln>
        </p:spPr>
      </p:sp>
      <p:sp>
        <p:nvSpPr>
          <p:cNvPr id="12" name="Text 10"/>
          <p:cNvSpPr txBox="1"/>
          <p:nvPr/>
        </p:nvSpPr>
        <p:spPr>
          <a:xfrm>
            <a:off x="640080" y="2386584"/>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txBox="1"/>
          <p:nvPr/>
        </p:nvSpPr>
        <p:spPr>
          <a:xfrm>
            <a:off x="1325880" y="2286000"/>
            <a:ext cx="2103120" cy="713232"/>
          </a:xfrm>
          <a:prstGeom prst="rect">
            <a:avLst/>
          </a:prstGeom>
          <a:noFill/>
          <a:ln/>
        </p:spPr>
        <p:txBody>
          <a:bodyPr wrap="square" lIns="0" tIns="0" rIns="0" bIns="0" rtlCol="0" anchor="ctr"/>
          <a:lstStyle/>
          <a:p>
            <a:pPr marL="0" indent="0">
              <a:buNone/>
            </a:pPr>
            <a:r>
              <a:rPr lang="en-US" sz="1700" b="1" dirty="0">
                <a:solidFill>
                  <a:srgbClr val="1F2933"/>
                </a:solidFill>
                <a:latin typeface="Calibri" pitchFamily="34" charset="0"/>
                <a:ea typeface="Calibri" pitchFamily="34" charset="-122"/>
                <a:cs typeface="Calibri" pitchFamily="34" charset="-120"/>
              </a:rPr>
              <a:t>Transfer</a:t>
            </a:r>
            <a:endParaRPr lang="en-US" sz="1700" dirty="0"/>
          </a:p>
        </p:txBody>
      </p:sp>
      <p:sp>
        <p:nvSpPr>
          <p:cNvPr id="14" name="Text 12"/>
          <p:cNvSpPr txBox="1"/>
          <p:nvPr/>
        </p:nvSpPr>
        <p:spPr>
          <a:xfrm>
            <a:off x="3474720" y="2286000"/>
            <a:ext cx="2377440" cy="713232"/>
          </a:xfrm>
          <a:prstGeom prst="rect">
            <a:avLst/>
          </a:prstGeom>
          <a:noFill/>
          <a:ln/>
        </p:spPr>
        <p:txBody>
          <a:bodyPr wrap="square" lIns="0" tIns="0" rIns="0" bIns="0" rtlCol="0" anchor="ctr"/>
          <a:lstStyle/>
          <a:p>
            <a:pPr marL="0" indent="0">
              <a:buNone/>
            </a:pPr>
            <a:r>
              <a:rPr lang="en-US" sz="1500" b="1" dirty="0">
                <a:solidFill>
                  <a:srgbClr val="E36414"/>
                </a:solidFill>
                <a:latin typeface="Calibri" pitchFamily="34" charset="0"/>
                <a:ea typeface="Calibri" pitchFamily="34" charset="-122"/>
                <a:cs typeface="Calibri" pitchFamily="34" charset="-120"/>
              </a:rPr>
              <a:t>KCSR Rule 20-A</a:t>
            </a:r>
            <a:endParaRPr lang="en-US" sz="1500" dirty="0"/>
          </a:p>
        </p:txBody>
      </p:sp>
      <p:sp>
        <p:nvSpPr>
          <p:cNvPr id="15" name="Text 13"/>
          <p:cNvSpPr txBox="1"/>
          <p:nvPr/>
        </p:nvSpPr>
        <p:spPr>
          <a:xfrm>
            <a:off x="5943600" y="2286000"/>
            <a:ext cx="5623560" cy="713232"/>
          </a:xfrm>
          <a:prstGeom prst="rect">
            <a:avLst/>
          </a:prstGeom>
          <a:noFill/>
          <a:ln/>
        </p:spPr>
        <p:txBody>
          <a:bodyPr wrap="square" lIns="0" tIns="0" rIns="0" bIns="0" rtlCol="0" anchor="ctr"/>
          <a:lstStyle/>
          <a:p>
            <a:pPr marL="0" indent="0">
              <a:buNone/>
            </a:pPr>
            <a:r>
              <a:rPr lang="en-US" sz="1200" dirty="0">
                <a:solidFill>
                  <a:srgbClr val="1F2933"/>
                </a:solidFill>
                <a:latin typeface="Calibri" pitchFamily="34" charset="0"/>
                <a:ea typeface="Calibri" pitchFamily="34" charset="-122"/>
                <a:cs typeface="Calibri" pitchFamily="34" charset="-120"/>
              </a:rPr>
              <a:t>Read with DPAR transfer guidelines (G.O. DPAR 22 SeVaNe 2013, dt. 07.06.2013 &amp; annual orders); Registrars &amp; Sub-Registrars: Sec. 6, Registration Act, 1908</a:t>
            </a:r>
            <a:endParaRPr lang="en-US" sz="1200" dirty="0"/>
          </a:p>
        </p:txBody>
      </p:sp>
      <p:sp>
        <p:nvSpPr>
          <p:cNvPr id="16" name="Shape 14"/>
          <p:cNvSpPr/>
          <p:nvPr/>
        </p:nvSpPr>
        <p:spPr>
          <a:xfrm>
            <a:off x="457200" y="3108960"/>
            <a:ext cx="11274552" cy="713232"/>
          </a:xfrm>
          <a:prstGeom prst="roundRect">
            <a:avLst>
              <a:gd name="adj" fmla="val 10256"/>
            </a:avLst>
          </a:prstGeom>
          <a:solidFill>
            <a:srgbClr val="EEF4F5"/>
          </a:solidFill>
          <a:ln w="12700">
            <a:solidFill>
              <a:srgbClr val="EEF4F5"/>
            </a:solidFill>
            <a:prstDash val="solid"/>
          </a:ln>
        </p:spPr>
      </p:sp>
      <p:sp>
        <p:nvSpPr>
          <p:cNvPr id="17" name="Shape 15"/>
          <p:cNvSpPr/>
          <p:nvPr/>
        </p:nvSpPr>
        <p:spPr>
          <a:xfrm>
            <a:off x="640080" y="3209544"/>
            <a:ext cx="512064" cy="512064"/>
          </a:xfrm>
          <a:prstGeom prst="ellipse">
            <a:avLst/>
          </a:prstGeom>
          <a:solidFill>
            <a:srgbClr val="0F4C5C"/>
          </a:solidFill>
          <a:ln w="12700">
            <a:solidFill>
              <a:srgbClr val="0F4C5C"/>
            </a:solidFill>
            <a:prstDash val="solid"/>
          </a:ln>
        </p:spPr>
      </p:sp>
      <p:sp>
        <p:nvSpPr>
          <p:cNvPr id="18" name="Text 16"/>
          <p:cNvSpPr txBox="1"/>
          <p:nvPr/>
        </p:nvSpPr>
        <p:spPr>
          <a:xfrm>
            <a:off x="640080" y="3209544"/>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9" name="Text 17"/>
          <p:cNvSpPr txBox="1"/>
          <p:nvPr/>
        </p:nvSpPr>
        <p:spPr>
          <a:xfrm>
            <a:off x="1325880" y="3108960"/>
            <a:ext cx="2103120" cy="713232"/>
          </a:xfrm>
          <a:prstGeom prst="rect">
            <a:avLst/>
          </a:prstGeom>
          <a:noFill/>
          <a:ln/>
        </p:spPr>
        <p:txBody>
          <a:bodyPr wrap="square" lIns="0" tIns="0" rIns="0" bIns="0" rtlCol="0" anchor="ctr"/>
          <a:lstStyle/>
          <a:p>
            <a:pPr marL="0" indent="0">
              <a:buNone/>
            </a:pPr>
            <a:r>
              <a:rPr lang="en-US" sz="1700" b="1" dirty="0">
                <a:solidFill>
                  <a:srgbClr val="1F2933"/>
                </a:solidFill>
                <a:latin typeface="Calibri" pitchFamily="34" charset="0"/>
                <a:ea typeface="Calibri" pitchFamily="34" charset="-122"/>
                <a:cs typeface="Calibri" pitchFamily="34" charset="-120"/>
              </a:rPr>
              <a:t>Relieving</a:t>
            </a:r>
            <a:endParaRPr lang="en-US" sz="1700" dirty="0"/>
          </a:p>
        </p:txBody>
      </p:sp>
      <p:sp>
        <p:nvSpPr>
          <p:cNvPr id="20" name="Text 18"/>
          <p:cNvSpPr txBox="1"/>
          <p:nvPr/>
        </p:nvSpPr>
        <p:spPr>
          <a:xfrm>
            <a:off x="3474720" y="3108960"/>
            <a:ext cx="2377440" cy="713232"/>
          </a:xfrm>
          <a:prstGeom prst="rect">
            <a:avLst/>
          </a:prstGeom>
          <a:noFill/>
          <a:ln/>
        </p:spPr>
        <p:txBody>
          <a:bodyPr wrap="square" lIns="0" tIns="0" rIns="0" bIns="0" rtlCol="0" anchor="ctr"/>
          <a:lstStyle/>
          <a:p>
            <a:pPr marL="0" indent="0">
              <a:buNone/>
            </a:pPr>
            <a:r>
              <a:rPr lang="en-US" sz="1500" b="1" dirty="0">
                <a:solidFill>
                  <a:srgbClr val="E36414"/>
                </a:solidFill>
                <a:latin typeface="Calibri" pitchFamily="34" charset="0"/>
                <a:ea typeface="Calibri" pitchFamily="34" charset="-122"/>
                <a:cs typeface="Calibri" pitchFamily="34" charset="-120"/>
              </a:rPr>
              <a:t>KCSR Rules 12 &amp; 23</a:t>
            </a:r>
            <a:endParaRPr lang="en-US" sz="1500" dirty="0"/>
          </a:p>
        </p:txBody>
      </p:sp>
      <p:sp>
        <p:nvSpPr>
          <p:cNvPr id="21" name="Text 19"/>
          <p:cNvSpPr txBox="1"/>
          <p:nvPr/>
        </p:nvSpPr>
        <p:spPr>
          <a:xfrm>
            <a:off x="5943600" y="3108960"/>
            <a:ext cx="5623560" cy="713232"/>
          </a:xfrm>
          <a:prstGeom prst="rect">
            <a:avLst/>
          </a:prstGeom>
          <a:noFill/>
          <a:ln/>
        </p:spPr>
        <p:txBody>
          <a:bodyPr wrap="square" lIns="0" tIns="0" rIns="0" bIns="0" rtlCol="0" anchor="ctr"/>
          <a:lstStyle/>
          <a:p>
            <a:pPr marL="0" indent="0">
              <a:buNone/>
            </a:pPr>
            <a:r>
              <a:rPr lang="en-US" sz="1200" dirty="0">
                <a:solidFill>
                  <a:srgbClr val="1F2933"/>
                </a:solidFill>
                <a:latin typeface="Calibri" pitchFamily="34" charset="0"/>
                <a:ea typeface="Calibri" pitchFamily="34" charset="-122"/>
                <a:cs typeface="Calibri" pitchFamily="34" charset="-120"/>
              </a:rPr>
              <a:t>Charge handed over at HQ with both officers present (R.12); forenoon/afternoon — 12 noon = forenoon (R.23); "Transfer" defined in R.8(49)</a:t>
            </a:r>
            <a:endParaRPr lang="en-US" sz="1200" dirty="0"/>
          </a:p>
        </p:txBody>
      </p:sp>
      <p:sp>
        <p:nvSpPr>
          <p:cNvPr id="22" name="Shape 20"/>
          <p:cNvSpPr/>
          <p:nvPr/>
        </p:nvSpPr>
        <p:spPr>
          <a:xfrm>
            <a:off x="457200" y="3931920"/>
            <a:ext cx="11274552" cy="713232"/>
          </a:xfrm>
          <a:prstGeom prst="roundRect">
            <a:avLst>
              <a:gd name="adj" fmla="val 10256"/>
            </a:avLst>
          </a:prstGeom>
          <a:solidFill>
            <a:srgbClr val="EEF4F5"/>
          </a:solidFill>
          <a:ln w="12700">
            <a:solidFill>
              <a:srgbClr val="EEF4F5"/>
            </a:solidFill>
            <a:prstDash val="solid"/>
          </a:ln>
        </p:spPr>
      </p:sp>
      <p:sp>
        <p:nvSpPr>
          <p:cNvPr id="23" name="Shape 21"/>
          <p:cNvSpPr/>
          <p:nvPr/>
        </p:nvSpPr>
        <p:spPr>
          <a:xfrm>
            <a:off x="640080" y="4032504"/>
            <a:ext cx="512064" cy="512064"/>
          </a:xfrm>
          <a:prstGeom prst="ellipse">
            <a:avLst/>
          </a:prstGeom>
          <a:solidFill>
            <a:srgbClr val="0F4C5C"/>
          </a:solidFill>
          <a:ln w="12700">
            <a:solidFill>
              <a:srgbClr val="0F4C5C"/>
            </a:solidFill>
            <a:prstDash val="solid"/>
          </a:ln>
        </p:spPr>
      </p:sp>
      <p:sp>
        <p:nvSpPr>
          <p:cNvPr id="24" name="Text 22"/>
          <p:cNvSpPr txBox="1"/>
          <p:nvPr/>
        </p:nvSpPr>
        <p:spPr>
          <a:xfrm>
            <a:off x="640080" y="4032504"/>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5" name="Text 23"/>
          <p:cNvSpPr txBox="1"/>
          <p:nvPr/>
        </p:nvSpPr>
        <p:spPr>
          <a:xfrm>
            <a:off x="1325880" y="3931920"/>
            <a:ext cx="2103120" cy="713232"/>
          </a:xfrm>
          <a:prstGeom prst="rect">
            <a:avLst/>
          </a:prstGeom>
          <a:noFill/>
          <a:ln/>
        </p:spPr>
        <p:txBody>
          <a:bodyPr wrap="square" lIns="0" tIns="0" rIns="0" bIns="0" rtlCol="0" anchor="ctr"/>
          <a:lstStyle/>
          <a:p>
            <a:pPr marL="0" indent="0">
              <a:buNone/>
            </a:pPr>
            <a:r>
              <a:rPr lang="en-US" sz="1700" b="1" dirty="0">
                <a:solidFill>
                  <a:srgbClr val="1F2933"/>
                </a:solidFill>
                <a:latin typeface="Calibri" pitchFamily="34" charset="0"/>
                <a:ea typeface="Calibri" pitchFamily="34" charset="-122"/>
                <a:cs typeface="Calibri" pitchFamily="34" charset="-120"/>
              </a:rPr>
              <a:t>Joining</a:t>
            </a:r>
            <a:endParaRPr lang="en-US" sz="1700" dirty="0"/>
          </a:p>
        </p:txBody>
      </p:sp>
      <p:sp>
        <p:nvSpPr>
          <p:cNvPr id="26" name="Text 24"/>
          <p:cNvSpPr txBox="1"/>
          <p:nvPr/>
        </p:nvSpPr>
        <p:spPr>
          <a:xfrm>
            <a:off x="3474720" y="3931920"/>
            <a:ext cx="2377440" cy="713232"/>
          </a:xfrm>
          <a:prstGeom prst="rect">
            <a:avLst/>
          </a:prstGeom>
          <a:noFill/>
          <a:ln/>
        </p:spPr>
        <p:txBody>
          <a:bodyPr wrap="square" lIns="0" tIns="0" rIns="0" bIns="0" rtlCol="0" anchor="ctr"/>
          <a:lstStyle/>
          <a:p>
            <a:pPr marL="0" indent="0">
              <a:buNone/>
            </a:pPr>
            <a:r>
              <a:rPr lang="en-US" sz="1500" b="1" dirty="0">
                <a:solidFill>
                  <a:srgbClr val="E36414"/>
                </a:solidFill>
                <a:latin typeface="Calibri" pitchFamily="34" charset="0"/>
                <a:ea typeface="Calibri" pitchFamily="34" charset="-122"/>
                <a:cs typeface="Calibri" pitchFamily="34" charset="-120"/>
              </a:rPr>
              <a:t>KCSR Chapter VII</a:t>
            </a:r>
            <a:endParaRPr lang="en-US" sz="1500" dirty="0"/>
          </a:p>
        </p:txBody>
      </p:sp>
      <p:sp>
        <p:nvSpPr>
          <p:cNvPr id="27" name="Text 25"/>
          <p:cNvSpPr txBox="1"/>
          <p:nvPr/>
        </p:nvSpPr>
        <p:spPr>
          <a:xfrm>
            <a:off x="5943600" y="3931920"/>
            <a:ext cx="5623560" cy="713232"/>
          </a:xfrm>
          <a:prstGeom prst="rect">
            <a:avLst/>
          </a:prstGeom>
          <a:noFill/>
          <a:ln/>
        </p:spPr>
        <p:txBody>
          <a:bodyPr wrap="square" lIns="0" tIns="0" rIns="0" bIns="0" rtlCol="0" anchor="ctr"/>
          <a:lstStyle/>
          <a:p>
            <a:pPr marL="0" indent="0">
              <a:buNone/>
            </a:pPr>
            <a:r>
              <a:rPr lang="en-US" sz="1200" dirty="0">
                <a:solidFill>
                  <a:srgbClr val="1F2933"/>
                </a:solidFill>
                <a:latin typeface="Calibri" pitchFamily="34" charset="0"/>
                <a:ea typeface="Calibri" pitchFamily="34" charset="-122"/>
                <a:cs typeface="Calibri" pitchFamily="34" charset="-120"/>
              </a:rPr>
              <a:t>Joining Time rules; "Joining time" defined in R.8(24). Dept.: obtain Movement Order from Head Office before reporting — IGR Circular dt. 21.12.2024</a:t>
            </a:r>
            <a:endParaRPr lang="en-US" sz="1200" dirty="0"/>
          </a:p>
        </p:txBody>
      </p:sp>
      <p:sp>
        <p:nvSpPr>
          <p:cNvPr id="28" name="Shape 26"/>
          <p:cNvSpPr/>
          <p:nvPr/>
        </p:nvSpPr>
        <p:spPr>
          <a:xfrm>
            <a:off x="457200" y="4754880"/>
            <a:ext cx="11274552" cy="713232"/>
          </a:xfrm>
          <a:prstGeom prst="roundRect">
            <a:avLst>
              <a:gd name="adj" fmla="val 10256"/>
            </a:avLst>
          </a:prstGeom>
          <a:solidFill>
            <a:srgbClr val="EEF4F5"/>
          </a:solidFill>
          <a:ln w="12700">
            <a:solidFill>
              <a:srgbClr val="EEF4F5"/>
            </a:solidFill>
            <a:prstDash val="solid"/>
          </a:ln>
        </p:spPr>
      </p:sp>
      <p:sp>
        <p:nvSpPr>
          <p:cNvPr id="29" name="Shape 27"/>
          <p:cNvSpPr/>
          <p:nvPr/>
        </p:nvSpPr>
        <p:spPr>
          <a:xfrm>
            <a:off x="640080" y="4855464"/>
            <a:ext cx="512064" cy="512064"/>
          </a:xfrm>
          <a:prstGeom prst="ellipse">
            <a:avLst/>
          </a:prstGeom>
          <a:solidFill>
            <a:srgbClr val="0F4C5C"/>
          </a:solidFill>
          <a:ln w="12700">
            <a:solidFill>
              <a:srgbClr val="0F4C5C"/>
            </a:solidFill>
            <a:prstDash val="solid"/>
          </a:ln>
        </p:spPr>
      </p:sp>
      <p:sp>
        <p:nvSpPr>
          <p:cNvPr id="30" name="Text 28"/>
          <p:cNvSpPr txBox="1"/>
          <p:nvPr/>
        </p:nvSpPr>
        <p:spPr>
          <a:xfrm>
            <a:off x="640080" y="4855464"/>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1" name="Text 29"/>
          <p:cNvSpPr txBox="1"/>
          <p:nvPr/>
        </p:nvSpPr>
        <p:spPr>
          <a:xfrm>
            <a:off x="1325880" y="4754880"/>
            <a:ext cx="2103120" cy="713232"/>
          </a:xfrm>
          <a:prstGeom prst="rect">
            <a:avLst/>
          </a:prstGeom>
          <a:noFill/>
          <a:ln/>
        </p:spPr>
        <p:txBody>
          <a:bodyPr wrap="square" lIns="0" tIns="0" rIns="0" bIns="0" rtlCol="0" anchor="ctr"/>
          <a:lstStyle/>
          <a:p>
            <a:pPr marL="0" indent="0">
              <a:buNone/>
            </a:pPr>
            <a:r>
              <a:rPr lang="en-US" sz="1700" b="1" dirty="0">
                <a:solidFill>
                  <a:srgbClr val="1F2933"/>
                </a:solidFill>
                <a:latin typeface="Calibri" pitchFamily="34" charset="0"/>
                <a:ea typeface="Calibri" pitchFamily="34" charset="-122"/>
                <a:cs typeface="Calibri" pitchFamily="34" charset="-120"/>
              </a:rPr>
              <a:t>Leave</a:t>
            </a:r>
            <a:endParaRPr lang="en-US" sz="1700" dirty="0"/>
          </a:p>
        </p:txBody>
      </p:sp>
      <p:sp>
        <p:nvSpPr>
          <p:cNvPr id="32" name="Text 30"/>
          <p:cNvSpPr txBox="1"/>
          <p:nvPr/>
        </p:nvSpPr>
        <p:spPr>
          <a:xfrm>
            <a:off x="3474720" y="4754880"/>
            <a:ext cx="2377440" cy="713232"/>
          </a:xfrm>
          <a:prstGeom prst="rect">
            <a:avLst/>
          </a:prstGeom>
          <a:noFill/>
          <a:ln/>
        </p:spPr>
        <p:txBody>
          <a:bodyPr wrap="square" lIns="0" tIns="0" rIns="0" bIns="0" rtlCol="0" anchor="ctr"/>
          <a:lstStyle/>
          <a:p>
            <a:pPr marL="0" indent="0">
              <a:buNone/>
            </a:pPr>
            <a:r>
              <a:rPr lang="en-US" sz="1500" b="1" dirty="0">
                <a:solidFill>
                  <a:srgbClr val="E36414"/>
                </a:solidFill>
                <a:latin typeface="Calibri" pitchFamily="34" charset="0"/>
                <a:ea typeface="Calibri" pitchFamily="34" charset="-122"/>
                <a:cs typeface="Calibri" pitchFamily="34" charset="-120"/>
              </a:rPr>
              <a:t>KCSR Chapter X</a:t>
            </a:r>
            <a:endParaRPr lang="en-US" sz="1500" dirty="0"/>
          </a:p>
        </p:txBody>
      </p:sp>
      <p:sp>
        <p:nvSpPr>
          <p:cNvPr id="33" name="Text 31"/>
          <p:cNvSpPr txBox="1"/>
          <p:nvPr/>
        </p:nvSpPr>
        <p:spPr>
          <a:xfrm>
            <a:off x="5943600" y="4754880"/>
            <a:ext cx="5623560" cy="713232"/>
          </a:xfrm>
          <a:prstGeom prst="rect">
            <a:avLst/>
          </a:prstGeom>
          <a:noFill/>
          <a:ln/>
        </p:spPr>
        <p:txBody>
          <a:bodyPr wrap="square" lIns="0" tIns="0" rIns="0" bIns="0" rtlCol="0" anchor="ctr"/>
          <a:lstStyle/>
          <a:p>
            <a:pPr marL="0" indent="0">
              <a:buNone/>
            </a:pPr>
            <a:r>
              <a:rPr lang="en-US" sz="1200" dirty="0">
                <a:solidFill>
                  <a:srgbClr val="1F2933"/>
                </a:solidFill>
                <a:latin typeface="Calibri" pitchFamily="34" charset="0"/>
                <a:ea typeface="Calibri" pitchFamily="34" charset="-122"/>
                <a:cs typeface="Calibri" pitchFamily="34" charset="-120"/>
              </a:rPr>
              <a:t>EL – R.112 · HPL – R.114 · Commuted – R.116 · LND – R.117 · EOL – R.118; Casual leave under separate G.Os</a:t>
            </a:r>
            <a:endParaRPr lang="en-US" sz="1200" dirty="0"/>
          </a:p>
        </p:txBody>
      </p:sp>
      <p:sp>
        <p:nvSpPr>
          <p:cNvPr id="34" name="Shape 32"/>
          <p:cNvSpPr/>
          <p:nvPr/>
        </p:nvSpPr>
        <p:spPr>
          <a:xfrm>
            <a:off x="457200" y="5577840"/>
            <a:ext cx="11274552" cy="713232"/>
          </a:xfrm>
          <a:prstGeom prst="roundRect">
            <a:avLst>
              <a:gd name="adj" fmla="val 10256"/>
            </a:avLst>
          </a:prstGeom>
          <a:solidFill>
            <a:srgbClr val="EEF4F5"/>
          </a:solidFill>
          <a:ln w="12700">
            <a:solidFill>
              <a:srgbClr val="EEF4F5"/>
            </a:solidFill>
            <a:prstDash val="solid"/>
          </a:ln>
        </p:spPr>
      </p:sp>
      <p:sp>
        <p:nvSpPr>
          <p:cNvPr id="35" name="Shape 33"/>
          <p:cNvSpPr/>
          <p:nvPr/>
        </p:nvSpPr>
        <p:spPr>
          <a:xfrm>
            <a:off x="640080" y="5678424"/>
            <a:ext cx="512064" cy="512064"/>
          </a:xfrm>
          <a:prstGeom prst="ellipse">
            <a:avLst/>
          </a:prstGeom>
          <a:solidFill>
            <a:srgbClr val="0F4C5C"/>
          </a:solidFill>
          <a:ln w="12700">
            <a:solidFill>
              <a:srgbClr val="0F4C5C"/>
            </a:solidFill>
            <a:prstDash val="solid"/>
          </a:ln>
        </p:spPr>
      </p:sp>
      <p:sp>
        <p:nvSpPr>
          <p:cNvPr id="36" name="Text 34"/>
          <p:cNvSpPr txBox="1"/>
          <p:nvPr/>
        </p:nvSpPr>
        <p:spPr>
          <a:xfrm>
            <a:off x="640080" y="5678424"/>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37" name="Text 35"/>
          <p:cNvSpPr txBox="1"/>
          <p:nvPr/>
        </p:nvSpPr>
        <p:spPr>
          <a:xfrm>
            <a:off x="1325880" y="5577840"/>
            <a:ext cx="2103120" cy="713232"/>
          </a:xfrm>
          <a:prstGeom prst="rect">
            <a:avLst/>
          </a:prstGeom>
          <a:noFill/>
          <a:ln/>
        </p:spPr>
        <p:txBody>
          <a:bodyPr wrap="square" lIns="0" tIns="0" rIns="0" bIns="0" rtlCol="0" anchor="ctr"/>
          <a:lstStyle/>
          <a:p>
            <a:pPr marL="0" indent="0">
              <a:buNone/>
            </a:pPr>
            <a:r>
              <a:rPr lang="en-US" sz="1700" b="1" dirty="0">
                <a:solidFill>
                  <a:srgbClr val="1F2933"/>
                </a:solidFill>
                <a:latin typeface="Calibri" pitchFamily="34" charset="0"/>
                <a:ea typeface="Calibri" pitchFamily="34" charset="-122"/>
                <a:cs typeface="Calibri" pitchFamily="34" charset="-120"/>
              </a:rPr>
              <a:t>Additional Charge</a:t>
            </a:r>
            <a:endParaRPr lang="en-US" sz="1700" dirty="0"/>
          </a:p>
        </p:txBody>
      </p:sp>
      <p:sp>
        <p:nvSpPr>
          <p:cNvPr id="38" name="Text 36"/>
          <p:cNvSpPr txBox="1"/>
          <p:nvPr/>
        </p:nvSpPr>
        <p:spPr>
          <a:xfrm>
            <a:off x="3474720" y="5577840"/>
            <a:ext cx="2377440" cy="713232"/>
          </a:xfrm>
          <a:prstGeom prst="rect">
            <a:avLst/>
          </a:prstGeom>
          <a:noFill/>
          <a:ln/>
        </p:spPr>
        <p:txBody>
          <a:bodyPr wrap="square" lIns="0" tIns="0" rIns="0" bIns="0" rtlCol="0" anchor="ctr"/>
          <a:lstStyle/>
          <a:p>
            <a:pPr marL="0" indent="0">
              <a:buNone/>
            </a:pPr>
            <a:r>
              <a:rPr lang="en-US" sz="1500" b="1" dirty="0">
                <a:solidFill>
                  <a:srgbClr val="E36414"/>
                </a:solidFill>
                <a:latin typeface="Calibri" pitchFamily="34" charset="0"/>
                <a:ea typeface="Calibri" pitchFamily="34" charset="-122"/>
                <a:cs typeface="Calibri" pitchFamily="34" charset="-120"/>
              </a:rPr>
              <a:t>KCSR Rule 68</a:t>
            </a:r>
            <a:endParaRPr lang="en-US" sz="1500" dirty="0"/>
          </a:p>
        </p:txBody>
      </p:sp>
      <p:sp>
        <p:nvSpPr>
          <p:cNvPr id="39" name="Text 37"/>
          <p:cNvSpPr txBox="1"/>
          <p:nvPr/>
        </p:nvSpPr>
        <p:spPr>
          <a:xfrm>
            <a:off x="5943600" y="5577840"/>
            <a:ext cx="5623560" cy="713232"/>
          </a:xfrm>
          <a:prstGeom prst="rect">
            <a:avLst/>
          </a:prstGeom>
          <a:noFill/>
          <a:ln/>
        </p:spPr>
        <p:txBody>
          <a:bodyPr wrap="square" lIns="0" tIns="0" rIns="0" bIns="0" rtlCol="0" anchor="ctr"/>
          <a:lstStyle/>
          <a:p>
            <a:pPr marL="0" indent="0">
              <a:buNone/>
            </a:pPr>
            <a:r>
              <a:rPr lang="en-US" sz="1200" dirty="0">
                <a:solidFill>
                  <a:srgbClr val="1F2933"/>
                </a:solidFill>
                <a:latin typeface="Calibri" pitchFamily="34" charset="0"/>
                <a:ea typeface="Calibri" pitchFamily="34" charset="-122"/>
                <a:cs typeface="Calibri" pitchFamily="34" charset="-120"/>
              </a:rPr>
              <a:t>Full additional charge &amp; charge allowance; officiating – R.32. Registration Act, 1908: Registrar absent/vacant – Sec. 10 &amp; 11; Sub-Registrar absent/vacant – Sec. 12</a:t>
            </a:r>
            <a:endParaRPr lang="en-US" sz="1200" dirty="0"/>
          </a:p>
        </p:txBody>
      </p:sp>
      <p:sp>
        <p:nvSpPr>
          <p:cNvPr id="40" name="Text 38"/>
          <p:cNvSpPr txBox="1"/>
          <p:nvPr/>
        </p:nvSpPr>
        <p:spPr>
          <a:xfrm>
            <a:off x="457200" y="6400800"/>
            <a:ext cx="11247120" cy="274320"/>
          </a:xfrm>
          <a:prstGeom prst="rect">
            <a:avLst/>
          </a:prstGeom>
          <a:noFill/>
          <a:ln/>
        </p:spPr>
        <p:txBody>
          <a:bodyPr wrap="square" lIns="0" tIns="0" rIns="0" bIns="0" rtlCol="0" anchor="ctr"/>
          <a:lstStyle/>
          <a:p>
            <a:pPr marL="0" indent="0">
              <a:buNone/>
            </a:pPr>
            <a:r>
              <a:rPr lang="en-US" sz="1100" i="1" dirty="0">
                <a:solidFill>
                  <a:srgbClr val="5B6770"/>
                </a:solidFill>
                <a:latin typeface="Calibri" pitchFamily="34" charset="0"/>
                <a:ea typeface="Calibri" pitchFamily="34" charset="-122"/>
                <a:cs typeface="Calibri" pitchFamily="34" charset="-120"/>
              </a:rPr>
              <a:t>Note: Verify rule numbers against the latest KCSR (DPAR / Finance Dept.) edition before citing in official orders.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0F4C5C"/>
                </a:solidFill>
                <a:latin typeface="Cambria" pitchFamily="34" charset="0"/>
                <a:ea typeface="Cambria" pitchFamily="34" charset="-122"/>
                <a:cs typeface="Cambria" pitchFamily="34" charset="-120"/>
              </a:rPr>
              <a:t>IGR Circular — Movement Order before Joining</a:t>
            </a:r>
            <a:endParaRPr lang="en-US" sz="2800" dirty="0"/>
          </a:p>
        </p:txBody>
      </p:sp>
      <p:sp>
        <p:nvSpPr>
          <p:cNvPr id="3" name="Text 1"/>
          <p:cNvSpPr txBox="1"/>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5B6770"/>
                </a:solidFill>
                <a:latin typeface="Calibri" pitchFamily="34" charset="0"/>
                <a:ea typeface="Calibri" pitchFamily="34" charset="-122"/>
                <a:cs typeface="Calibri" pitchFamily="34" charset="-120"/>
              </a:rPr>
              <a:t>Department of Stamps &amp; Registration — procedure on transfer and on court orders</a:t>
            </a:r>
            <a:endParaRPr lang="en-US" sz="1400" dirty="0"/>
          </a:p>
        </p:txBody>
      </p:sp>
      <p:sp>
        <p:nvSpPr>
          <p:cNvPr id="4" name="Shape 2"/>
          <p:cNvSpPr/>
          <p:nvPr/>
        </p:nvSpPr>
        <p:spPr>
          <a:xfrm>
            <a:off x="457200" y="1371600"/>
            <a:ext cx="3566160" cy="4892040"/>
          </a:xfrm>
          <a:prstGeom prst="roundRect">
            <a:avLst>
              <a:gd name="adj" fmla="val 2051"/>
            </a:avLst>
          </a:prstGeom>
          <a:solidFill>
            <a:srgbClr val="0F4C5C"/>
          </a:solidFill>
          <a:ln w="12700">
            <a:solidFill>
              <a:srgbClr val="0F4C5C"/>
            </a:solidFill>
            <a:prstDash val="solid"/>
          </a:ln>
        </p:spPr>
      </p:sp>
      <p:sp>
        <p:nvSpPr>
          <p:cNvPr id="5" name="Text 3"/>
          <p:cNvSpPr txBox="1"/>
          <p:nvPr/>
        </p:nvSpPr>
        <p:spPr>
          <a:xfrm>
            <a:off x="685800" y="1554480"/>
            <a:ext cx="3108960" cy="4526280"/>
          </a:xfrm>
          <a:prstGeom prst="rect">
            <a:avLst/>
          </a:prstGeom>
          <a:noFill/>
          <a:ln/>
        </p:spPr>
        <p:txBody>
          <a:bodyPr wrap="square" lIns="0" tIns="0" rIns="0" bIns="0" rtlCol="0" anchor="t"/>
          <a:lstStyle/>
          <a:p>
            <a:pPr marL="0" indent="0">
              <a:buNone/>
            </a:pPr>
            <a:r>
              <a:rPr lang="en-US" sz="1100" b="1" dirty="0">
                <a:solidFill>
                  <a:srgbClr val="F4A261"/>
                </a:solidFill>
                <a:latin typeface="Calibri" pitchFamily="34" charset="0"/>
                <a:ea typeface="Calibri" pitchFamily="34" charset="-122"/>
                <a:cs typeface="Calibri" pitchFamily="34" charset="-120"/>
              </a:rPr>
              <a:t>Circular No.</a:t>
            </a:r>
            <a:endParaRPr lang="en-US" sz="1100" dirty="0"/>
          </a:p>
          <a:p>
            <a:pPr marL="0" indent="0">
              <a:spcAft>
                <a:spcPts val="1000"/>
              </a:spcAft>
              <a:buNone/>
            </a:pPr>
            <a:r>
              <a:rPr lang="en-US" sz="1300" dirty="0">
                <a:solidFill>
                  <a:srgbClr val="FFFFFF"/>
                </a:solidFill>
                <a:latin typeface="Nirmala UI" pitchFamily="34" charset="0"/>
                <a:ea typeface="Nirmala UI" pitchFamily="34" charset="-122"/>
                <a:cs typeface="Nirmala UI" pitchFamily="34" charset="-120"/>
              </a:rPr>
              <a:t>ಸಿಬ್ಬಂದಿ-2-160/2024-25/48458</a:t>
            </a:r>
            <a:endParaRPr lang="en-US" sz="1100" dirty="0"/>
          </a:p>
          <a:p>
            <a:pPr marL="0" indent="0">
              <a:buNone/>
            </a:pPr>
            <a:r>
              <a:rPr lang="en-US" sz="1100" b="1" dirty="0">
                <a:solidFill>
                  <a:srgbClr val="F4A261"/>
                </a:solidFill>
                <a:latin typeface="Calibri" pitchFamily="34" charset="0"/>
                <a:ea typeface="Calibri" pitchFamily="34" charset="-122"/>
                <a:cs typeface="Calibri" pitchFamily="34" charset="-120"/>
              </a:rPr>
              <a:t>Date</a:t>
            </a:r>
            <a:endParaRPr lang="en-US" sz="1100" dirty="0"/>
          </a:p>
          <a:p>
            <a:pPr marL="0" indent="0">
              <a:spcAft>
                <a:spcPts val="1000"/>
              </a:spcAft>
              <a:buNone/>
            </a:pPr>
            <a:r>
              <a:rPr lang="en-US" sz="1300" dirty="0">
                <a:solidFill>
                  <a:srgbClr val="FFFFFF"/>
                </a:solidFill>
                <a:latin typeface="Calibri" pitchFamily="34" charset="0"/>
                <a:ea typeface="Calibri" pitchFamily="34" charset="-122"/>
                <a:cs typeface="Calibri" pitchFamily="34" charset="-120"/>
              </a:rPr>
              <a:t>21.12.2024</a:t>
            </a:r>
            <a:endParaRPr lang="en-US" sz="1100" dirty="0"/>
          </a:p>
          <a:p>
            <a:pPr marL="0" indent="0">
              <a:buNone/>
            </a:pPr>
            <a:r>
              <a:rPr lang="en-US" sz="1100" b="1" dirty="0">
                <a:solidFill>
                  <a:srgbClr val="F4A261"/>
                </a:solidFill>
                <a:latin typeface="Calibri" pitchFamily="34" charset="0"/>
                <a:ea typeface="Calibri" pitchFamily="34" charset="-122"/>
                <a:cs typeface="Calibri" pitchFamily="34" charset="-120"/>
              </a:rPr>
              <a:t>Issued by</a:t>
            </a:r>
            <a:endParaRPr lang="en-US" sz="1100" dirty="0"/>
          </a:p>
          <a:p>
            <a:pPr marL="0" indent="0">
              <a:spcAft>
                <a:spcPts val="1000"/>
              </a:spcAft>
              <a:buNone/>
            </a:pPr>
            <a:r>
              <a:rPr lang="en-US" sz="1300" dirty="0">
                <a:solidFill>
                  <a:srgbClr val="FFFFFF"/>
                </a:solidFill>
                <a:latin typeface="Calibri" pitchFamily="34" charset="0"/>
                <a:ea typeface="Calibri" pitchFamily="34" charset="-122"/>
                <a:cs typeface="Calibri" pitchFamily="34" charset="-120"/>
              </a:rPr>
              <a:t>Inspector General of Registration &amp; Commissioner of Stamps, Kandaya Bhavan, Bengaluru</a:t>
            </a:r>
            <a:endParaRPr lang="en-US" sz="1100" dirty="0"/>
          </a:p>
          <a:p>
            <a:pPr marL="0" indent="0">
              <a:buNone/>
            </a:pPr>
            <a:r>
              <a:rPr lang="en-US" sz="1100" b="1" dirty="0">
                <a:solidFill>
                  <a:srgbClr val="F4A261"/>
                </a:solidFill>
                <a:latin typeface="Calibri" pitchFamily="34" charset="0"/>
                <a:ea typeface="Calibri" pitchFamily="34" charset="-122"/>
                <a:cs typeface="Calibri" pitchFamily="34" charset="-120"/>
              </a:rPr>
              <a:t>Addressed to</a:t>
            </a:r>
            <a:endParaRPr lang="en-US" sz="1100" dirty="0"/>
          </a:p>
          <a:p>
            <a:pPr marL="0" indent="0">
              <a:spcAft>
                <a:spcPts val="1000"/>
              </a:spcAft>
              <a:buNone/>
            </a:pPr>
            <a:r>
              <a:rPr lang="en-US" sz="1300" dirty="0">
                <a:solidFill>
                  <a:srgbClr val="FFFFFF"/>
                </a:solidFill>
                <a:latin typeface="Calibri" pitchFamily="34" charset="0"/>
                <a:ea typeface="Calibri" pitchFamily="34" charset="-122"/>
                <a:cs typeface="Calibri" pitchFamily="34" charset="-120"/>
              </a:rPr>
              <a:t>All District Registrars, HQ Assistants, Senior / Sub-Registrars and all staff</a:t>
            </a:r>
            <a:endParaRPr lang="en-US" sz="1100" dirty="0"/>
          </a:p>
          <a:p>
            <a:pPr marL="0" indent="0">
              <a:buNone/>
            </a:pPr>
            <a:r>
              <a:rPr lang="en-US" sz="1100" b="1" dirty="0">
                <a:solidFill>
                  <a:srgbClr val="F4A261"/>
                </a:solidFill>
                <a:latin typeface="Calibri" pitchFamily="34" charset="0"/>
                <a:ea typeface="Calibri" pitchFamily="34" charset="-122"/>
                <a:cs typeface="Calibri" pitchFamily="34" charset="-120"/>
              </a:rPr>
              <a:t>Copy to</a:t>
            </a:r>
            <a:endParaRPr lang="en-US" sz="1100" dirty="0"/>
          </a:p>
          <a:p>
            <a:pPr marL="0" indent="0">
              <a:spcAft>
                <a:spcPts val="1000"/>
              </a:spcAft>
              <a:buNone/>
            </a:pPr>
            <a:r>
              <a:rPr lang="en-US" sz="1300" dirty="0">
                <a:solidFill>
                  <a:srgbClr val="FFFFFF"/>
                </a:solidFill>
                <a:latin typeface="Calibri" pitchFamily="34" charset="0"/>
                <a:ea typeface="Calibri" pitchFamily="34" charset="-122"/>
                <a:cs typeface="Calibri" pitchFamily="34" charset="-120"/>
              </a:rPr>
              <a:t>Principal Secretary to Govt., Revenue Dept. (Stamps &amp; Registration)</a:t>
            </a:r>
            <a:endParaRPr lang="en-US" sz="1100" dirty="0"/>
          </a:p>
        </p:txBody>
      </p:sp>
      <p:sp>
        <p:nvSpPr>
          <p:cNvPr id="6" name="Shape 4"/>
          <p:cNvSpPr/>
          <p:nvPr/>
        </p:nvSpPr>
        <p:spPr>
          <a:xfrm>
            <a:off x="4251960" y="1371600"/>
            <a:ext cx="7479792" cy="1417320"/>
          </a:xfrm>
          <a:prstGeom prst="roundRect">
            <a:avLst>
              <a:gd name="adj" fmla="val 5161"/>
            </a:avLst>
          </a:prstGeom>
          <a:solidFill>
            <a:srgbClr val="EEF4F5"/>
          </a:solidFill>
          <a:ln w="12700">
            <a:solidFill>
              <a:srgbClr val="EEF4F5"/>
            </a:solidFill>
            <a:prstDash val="solid"/>
          </a:ln>
        </p:spPr>
      </p:sp>
      <p:sp>
        <p:nvSpPr>
          <p:cNvPr id="7" name="Text 5"/>
          <p:cNvSpPr txBox="1"/>
          <p:nvPr/>
        </p:nvSpPr>
        <p:spPr>
          <a:xfrm>
            <a:off x="4434840" y="1481328"/>
            <a:ext cx="7114032" cy="1234440"/>
          </a:xfrm>
          <a:prstGeom prst="rect">
            <a:avLst/>
          </a:prstGeom>
          <a:noFill/>
          <a:ln/>
        </p:spPr>
        <p:txBody>
          <a:bodyPr wrap="square" lIns="0" tIns="0" rIns="0" bIns="0" rtlCol="0" anchor="t"/>
          <a:lstStyle/>
          <a:p>
            <a:pPr marL="0" indent="0">
              <a:buNone/>
            </a:pPr>
            <a:r>
              <a:rPr lang="en-US" sz="1300" b="1" dirty="0">
                <a:solidFill>
                  <a:srgbClr val="E36414"/>
                </a:solidFill>
                <a:latin typeface="Calibri" pitchFamily="34" charset="0"/>
                <a:ea typeface="Calibri" pitchFamily="34" charset="-122"/>
                <a:cs typeface="Calibri" pitchFamily="34" charset="-120"/>
              </a:rPr>
              <a:t>Subject</a:t>
            </a:r>
            <a:endParaRPr lang="en-US" sz="1300" dirty="0"/>
          </a:p>
          <a:p>
            <a:pPr marL="0" indent="0">
              <a:buNone/>
            </a:pPr>
            <a:r>
              <a:rPr lang="en-US" sz="1200" dirty="0">
                <a:solidFill>
                  <a:srgbClr val="1F2933"/>
                </a:solidFill>
                <a:latin typeface="Nirmala UI" pitchFamily="34" charset="0"/>
                <a:ea typeface="Nirmala UI" pitchFamily="34" charset="-122"/>
                <a:cs typeface="Nirmala UI" pitchFamily="34" charset="-120"/>
              </a:rPr>
              <a:t>ವರ್ಗಾವಣೆಯ ಆದೇಶಗಳಿಗೆ ಸಂಬಂಧಿಸಿದಂತೆ, ಮಾನ್ಯ ನ್ಯಾಯಾಲಯದಿಂದ ಹೊರಡಿಸುವ ಆದೇಶಗಳಿಗೆ ಸಂಬಂಧಪಟ್ಟಂತೆ ಕೇಂದ್ರ ಕಛೇರಿಯಿಂದ ಚಲನಾದೇಶ (Movement Order) ಪಡೆದ ನಂತರ ಸಂಬಂಧಪಟ್ಟ ಕಛೇರಿಗಳಲ್ಲಿ ಕರ್ತವ್ಯಕ್ಕೆ ಹಾಜರಾಗುವ ಕುರಿತು.</a:t>
            </a:r>
            <a:endParaRPr lang="en-US" sz="1300" dirty="0"/>
          </a:p>
          <a:p>
            <a:pPr marL="0" indent="0">
              <a:buNone/>
            </a:pPr>
            <a:r>
              <a:rPr lang="en-US" sz="1200" i="1" dirty="0">
                <a:solidFill>
                  <a:srgbClr val="5B6770"/>
                </a:solidFill>
                <a:latin typeface="Calibri" pitchFamily="34" charset="0"/>
                <a:ea typeface="Calibri" pitchFamily="34" charset="-122"/>
                <a:cs typeface="Calibri" pitchFamily="34" charset="-120"/>
              </a:rPr>
              <a:t>Reporting for duty only after obtaining a Movement Order from Head Office — for transfer orders and orders of Hon'ble Courts.</a:t>
            </a:r>
            <a:endParaRPr lang="en-US" sz="1300" dirty="0"/>
          </a:p>
        </p:txBody>
      </p:sp>
      <p:sp>
        <p:nvSpPr>
          <p:cNvPr id="8" name="Shape 6"/>
          <p:cNvSpPr/>
          <p:nvPr/>
        </p:nvSpPr>
        <p:spPr>
          <a:xfrm>
            <a:off x="4251960" y="2926080"/>
            <a:ext cx="7479792" cy="1417320"/>
          </a:xfrm>
          <a:prstGeom prst="roundRect">
            <a:avLst>
              <a:gd name="adj" fmla="val 5161"/>
            </a:avLst>
          </a:prstGeom>
          <a:solidFill>
            <a:srgbClr val="FDF0E7"/>
          </a:solidFill>
          <a:ln w="12700">
            <a:solidFill>
              <a:srgbClr val="FDF0E7"/>
            </a:solidFill>
            <a:prstDash val="solid"/>
          </a:ln>
        </p:spPr>
      </p:sp>
      <p:sp>
        <p:nvSpPr>
          <p:cNvPr id="9" name="Text 7"/>
          <p:cNvSpPr txBox="1"/>
          <p:nvPr/>
        </p:nvSpPr>
        <p:spPr>
          <a:xfrm>
            <a:off x="4434840" y="3035808"/>
            <a:ext cx="7114032" cy="1234440"/>
          </a:xfrm>
          <a:prstGeom prst="rect">
            <a:avLst/>
          </a:prstGeom>
          <a:noFill/>
          <a:ln/>
        </p:spPr>
        <p:txBody>
          <a:bodyPr wrap="square" lIns="0" tIns="0" rIns="0" bIns="0" rtlCol="0" anchor="t"/>
          <a:lstStyle/>
          <a:p>
            <a:pPr marL="0" indent="0">
              <a:buNone/>
            </a:pPr>
            <a:r>
              <a:rPr lang="en-US" sz="1300" b="1" dirty="0">
                <a:solidFill>
                  <a:srgbClr val="E36414"/>
                </a:solidFill>
                <a:latin typeface="Calibri" pitchFamily="34" charset="0"/>
                <a:ea typeface="Calibri" pitchFamily="34" charset="-122"/>
                <a:cs typeface="Calibri" pitchFamily="34" charset="-120"/>
              </a:rPr>
              <a:t>Operative direction (extract)</a:t>
            </a:r>
            <a:endParaRPr lang="en-US" sz="1300" dirty="0"/>
          </a:p>
          <a:p>
            <a:pPr marL="0" indent="0">
              <a:buNone/>
            </a:pPr>
            <a:r>
              <a:rPr lang="en-US" sz="1200" dirty="0">
                <a:solidFill>
                  <a:srgbClr val="1F2933"/>
                </a:solidFill>
                <a:latin typeface="Nirmala UI" pitchFamily="34" charset="0"/>
                <a:ea typeface="Nirmala UI" pitchFamily="34" charset="-122"/>
                <a:cs typeface="Nirmala UI" pitchFamily="34" charset="-120"/>
              </a:rPr>
              <a:t>"ಇನ್ನು ಮುಂದೆ ಯಾವುದೇ ಅಧಿಕಾರಿ/ಸಿಬ್ಬಂದಿಯವರು ವರ್ಗಾವಣೆಯಾದ ಸಂದರ್ಭದಲ್ಲಿ ಹಾಗೂ ಮಾನ್ಯ ನ್ಯಾಯಾಲಯಗಳು ನೀಡುವ ತಡೆಯಾಜ್ಞೆ ಅಥವಾ ಇನ್ನಿತರ ಆದೇಶವಿದ್ದಲ್ಲಿ, ಕೇಂದ್ರ ಕಛೇರಿಯಿಂದ ತಪ್ಪದೇ ಚಲನಾದೇಶ (Movement Order) ಪಡೆಯತಕ್ಕದ್ದು, ನಂತರ ಸಂಬಂಧಪಟ್ಟ ಕಛೇರಿಗಳಲ್ಲಿ ಕರ್ತವ್ಯಕ್ಕೆ ವರದಿ ಮಾಡಿಕೊಳ್ಳತಕ್ಕದ್ದು."</a:t>
            </a:r>
            <a:endParaRPr lang="en-US" sz="1300" dirty="0"/>
          </a:p>
        </p:txBody>
      </p:sp>
      <p:sp>
        <p:nvSpPr>
          <p:cNvPr id="10" name="Shape 8"/>
          <p:cNvSpPr/>
          <p:nvPr/>
        </p:nvSpPr>
        <p:spPr>
          <a:xfrm>
            <a:off x="4251960" y="4480560"/>
            <a:ext cx="7479792" cy="1783080"/>
          </a:xfrm>
          <a:prstGeom prst="roundRect">
            <a:avLst>
              <a:gd name="adj" fmla="val 4103"/>
            </a:avLst>
          </a:prstGeom>
          <a:solidFill>
            <a:srgbClr val="EEF4F5"/>
          </a:solidFill>
          <a:ln w="12700">
            <a:solidFill>
              <a:srgbClr val="EEF4F5"/>
            </a:solidFill>
            <a:prstDash val="solid"/>
          </a:ln>
        </p:spPr>
      </p:sp>
      <p:sp>
        <p:nvSpPr>
          <p:cNvPr id="11" name="Text 9"/>
          <p:cNvSpPr txBox="1"/>
          <p:nvPr/>
        </p:nvSpPr>
        <p:spPr>
          <a:xfrm>
            <a:off x="4434840" y="4590288"/>
            <a:ext cx="7114032" cy="1600200"/>
          </a:xfrm>
          <a:prstGeom prst="rect">
            <a:avLst/>
          </a:prstGeom>
          <a:noFill/>
          <a:ln/>
        </p:spPr>
        <p:txBody>
          <a:bodyPr wrap="square" lIns="0" tIns="0" rIns="0" bIns="0" rtlCol="0" anchor="t"/>
          <a:lstStyle/>
          <a:p>
            <a:pPr marL="0" indent="0">
              <a:buNone/>
            </a:pPr>
            <a:r>
              <a:rPr lang="en-US" sz="1300" b="1" dirty="0">
                <a:solidFill>
                  <a:srgbClr val="E36414"/>
                </a:solidFill>
                <a:latin typeface="Calibri" pitchFamily="34" charset="0"/>
                <a:ea typeface="Calibri" pitchFamily="34" charset="-122"/>
                <a:cs typeface="Calibri" pitchFamily="34" charset="-120"/>
              </a:rPr>
              <a:t>Key points (English gist)</a:t>
            </a:r>
            <a:endParaRPr lang="en-US" sz="1300" dirty="0"/>
          </a:p>
          <a:p>
            <a:pPr marL="342900" indent="-3429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Why: officials were joining directly on transfer / court stay orders without informing the HoD; Head Office was not told who took charge on joining or to whom charge was handed over on relief.</a:t>
            </a:r>
            <a:endParaRPr lang="en-US" sz="1300" dirty="0"/>
          </a:p>
          <a:p>
            <a:pPr marL="342900" indent="-3429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Direction: on transfer, or on a court stay / other order, obtain a Movement Order from Head Office without fail — then report for duty at the concerned office.</a:t>
            </a:r>
            <a:endParaRPr lang="en-US" sz="1300" dirty="0"/>
          </a:p>
          <a:p>
            <a:pPr marL="342900" indent="-3429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Compliance: to be followed strictly; failing which disciplinary action will be taken as per rules.</a:t>
            </a:r>
            <a:endParaRPr lang="en-US" sz="1300" dirty="0"/>
          </a:p>
        </p:txBody>
      </p:sp>
      <p:sp>
        <p:nvSpPr>
          <p:cNvPr id="12" name="Text 10"/>
          <p:cNvSpPr txBox="1"/>
          <p:nvPr/>
        </p:nvSpPr>
        <p:spPr>
          <a:xfrm>
            <a:off x="457200" y="6400800"/>
            <a:ext cx="11247120" cy="274320"/>
          </a:xfrm>
          <a:prstGeom prst="rect">
            <a:avLst/>
          </a:prstGeom>
          <a:noFill/>
          <a:ln/>
        </p:spPr>
        <p:txBody>
          <a:bodyPr wrap="square" lIns="0" tIns="0" rIns="0" bIns="0" rtlCol="0" anchor="ctr"/>
          <a:lstStyle/>
          <a:p>
            <a:pPr marL="0" indent="0">
              <a:buNone/>
            </a:pPr>
            <a:r>
              <a:rPr lang="en-US" sz="1000" i="1" dirty="0">
                <a:solidFill>
                  <a:srgbClr val="5B6770"/>
                </a:solidFill>
                <a:latin typeface="Calibri" pitchFamily="34" charset="0"/>
                <a:ea typeface="Calibri" pitchFamily="34" charset="-122"/>
                <a:cs typeface="Calibri" pitchFamily="34" charset="-120"/>
              </a:rPr>
              <a:t>Source: Circular of the IGR &amp; Commissioner of Stamps, No. ಸಿಬ್ಬಂದಿ-2-160/2024-25/48458 dated 21.12.2024 (scanned copy). English text is a translation/gist.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0F4C5C"/>
                </a:solidFill>
                <a:latin typeface="Cambria" pitchFamily="34" charset="0"/>
                <a:ea typeface="Cambria" pitchFamily="34" charset="-122"/>
                <a:cs typeface="Cambria" pitchFamily="34" charset="-120"/>
              </a:rPr>
              <a:t>Registration Act, 1908 — Extracts</a:t>
            </a:r>
            <a:endParaRPr lang="en-US" sz="2800" dirty="0"/>
          </a:p>
        </p:txBody>
      </p:sp>
      <p:sp>
        <p:nvSpPr>
          <p:cNvPr id="3" name="Text 1"/>
          <p:cNvSpPr txBox="1"/>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5B6770"/>
                </a:solidFill>
                <a:latin typeface="Calibri" pitchFamily="34" charset="0"/>
                <a:ea typeface="Calibri" pitchFamily="34" charset="-122"/>
                <a:cs typeface="Calibri" pitchFamily="34" charset="-120"/>
              </a:rPr>
              <a:t>Appointment of registering officers and arrangements during absence / vacancy</a:t>
            </a:r>
            <a:endParaRPr lang="en-US" sz="1400" dirty="0"/>
          </a:p>
        </p:txBody>
      </p:sp>
      <p:sp>
        <p:nvSpPr>
          <p:cNvPr id="4" name="Shape 2"/>
          <p:cNvSpPr/>
          <p:nvPr/>
        </p:nvSpPr>
        <p:spPr>
          <a:xfrm>
            <a:off x="457200" y="1371600"/>
            <a:ext cx="3605784" cy="2354580"/>
          </a:xfrm>
          <a:prstGeom prst="roundRect">
            <a:avLst>
              <a:gd name="adj" fmla="val 3107"/>
            </a:avLst>
          </a:prstGeom>
          <a:solidFill>
            <a:srgbClr val="EEF4F5"/>
          </a:solidFill>
          <a:ln w="12700">
            <a:solidFill>
              <a:srgbClr val="EEF4F5"/>
            </a:solidFill>
            <a:prstDash val="solid"/>
          </a:ln>
        </p:spPr>
      </p:sp>
      <p:sp>
        <p:nvSpPr>
          <p:cNvPr id="5" name="Text 3"/>
          <p:cNvSpPr txBox="1"/>
          <p:nvPr/>
        </p:nvSpPr>
        <p:spPr>
          <a:xfrm>
            <a:off x="640080" y="1481328"/>
            <a:ext cx="324002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Sec. 3(1) — Inspector General of Registration</a:t>
            </a:r>
            <a:endParaRPr lang="en-US" sz="1400" dirty="0"/>
          </a:p>
        </p:txBody>
      </p:sp>
      <p:sp>
        <p:nvSpPr>
          <p:cNvPr id="6" name="Text 4"/>
          <p:cNvSpPr txBox="1"/>
          <p:nvPr/>
        </p:nvSpPr>
        <p:spPr>
          <a:xfrm>
            <a:off x="640080" y="2057400"/>
            <a:ext cx="3240024" cy="1559052"/>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"The State Government shall appoint an officer to be the Inspector-General of Registration for the territories subject to such Government."</a:t>
            </a:r>
            <a:endParaRPr lang="en-US" sz="1400" dirty="0"/>
          </a:p>
        </p:txBody>
      </p:sp>
      <p:sp>
        <p:nvSpPr>
          <p:cNvPr id="7" name="Shape 5"/>
          <p:cNvSpPr/>
          <p:nvPr/>
        </p:nvSpPr>
        <p:spPr>
          <a:xfrm>
            <a:off x="4291584" y="1371600"/>
            <a:ext cx="3605784" cy="2354580"/>
          </a:xfrm>
          <a:prstGeom prst="roundRect">
            <a:avLst>
              <a:gd name="adj" fmla="val 3107"/>
            </a:avLst>
          </a:prstGeom>
          <a:solidFill>
            <a:srgbClr val="EEF4F5"/>
          </a:solidFill>
          <a:ln w="12700">
            <a:solidFill>
              <a:srgbClr val="EEF4F5"/>
            </a:solidFill>
            <a:prstDash val="solid"/>
          </a:ln>
        </p:spPr>
      </p:sp>
      <p:sp>
        <p:nvSpPr>
          <p:cNvPr id="8" name="Text 6"/>
          <p:cNvSpPr txBox="1"/>
          <p:nvPr/>
        </p:nvSpPr>
        <p:spPr>
          <a:xfrm>
            <a:off x="4474464" y="1481328"/>
            <a:ext cx="324002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Sec. 6 — Registrars and Sub-Registrars</a:t>
            </a:r>
            <a:endParaRPr lang="en-US" sz="1400" dirty="0"/>
          </a:p>
        </p:txBody>
      </p:sp>
      <p:sp>
        <p:nvSpPr>
          <p:cNvPr id="9" name="Text 7"/>
          <p:cNvSpPr txBox="1"/>
          <p:nvPr/>
        </p:nvSpPr>
        <p:spPr>
          <a:xfrm>
            <a:off x="4474464" y="2057400"/>
            <a:ext cx="3240024" cy="1559052"/>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"The State Government may appoint such persons, whether public officers or not, as it thinks proper, to be Registrars of the several districts, and to be Sub-Registrars of the several sub-districts, formed as aforesaid, respectively."</a:t>
            </a:r>
            <a:endParaRPr lang="en-US" sz="1400" dirty="0"/>
          </a:p>
        </p:txBody>
      </p:sp>
      <p:sp>
        <p:nvSpPr>
          <p:cNvPr id="10" name="Shape 8"/>
          <p:cNvSpPr/>
          <p:nvPr/>
        </p:nvSpPr>
        <p:spPr>
          <a:xfrm>
            <a:off x="8125968" y="1371600"/>
            <a:ext cx="3605784" cy="2354580"/>
          </a:xfrm>
          <a:prstGeom prst="roundRect">
            <a:avLst>
              <a:gd name="adj" fmla="val 3107"/>
            </a:avLst>
          </a:prstGeom>
          <a:solidFill>
            <a:srgbClr val="EEF4F5"/>
          </a:solidFill>
          <a:ln w="12700">
            <a:solidFill>
              <a:srgbClr val="EEF4F5"/>
            </a:solidFill>
            <a:prstDash val="solid"/>
          </a:ln>
        </p:spPr>
      </p:sp>
      <p:sp>
        <p:nvSpPr>
          <p:cNvPr id="11" name="Text 9"/>
          <p:cNvSpPr txBox="1"/>
          <p:nvPr/>
        </p:nvSpPr>
        <p:spPr>
          <a:xfrm>
            <a:off x="8308848" y="1481328"/>
            <a:ext cx="324002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Sec. 10(1) — Absence of Registrar / vacancy</a:t>
            </a:r>
            <a:endParaRPr lang="en-US" sz="1400" dirty="0"/>
          </a:p>
        </p:txBody>
      </p:sp>
      <p:sp>
        <p:nvSpPr>
          <p:cNvPr id="12" name="Text 10"/>
          <p:cNvSpPr txBox="1"/>
          <p:nvPr/>
        </p:nvSpPr>
        <p:spPr>
          <a:xfrm>
            <a:off x="8308848" y="2057400"/>
            <a:ext cx="3240024" cy="1559052"/>
          </a:xfrm>
          <a:prstGeom prst="rect">
            <a:avLst/>
          </a:prstGeom>
          <a:noFill/>
          <a:ln/>
        </p:spPr>
        <p:txBody>
          <a:bodyPr wrap="square" lIns="0" tIns="0" rIns="0" bIns="0" rtlCol="0" anchor="t"/>
          <a:lstStyle/>
          <a:p>
            <a:pPr marL="0" indent="0">
              <a:buNone/>
            </a:pPr>
            <a:r>
              <a:rPr lang="en-US" sz="1200" dirty="0">
                <a:solidFill>
                  <a:srgbClr val="1F2933"/>
                </a:solidFill>
                <a:latin typeface="Calibri" pitchFamily="34" charset="0"/>
                <a:ea typeface="Calibri" pitchFamily="34" charset="-122"/>
                <a:cs typeface="Calibri" pitchFamily="34" charset="-120"/>
              </a:rPr>
              <a:t>"When any Registrar ... is absent otherwise than on duty in his district, or when his office is temporarily vacant, any person whom the Inspector-General of Registration appoints in this behalf, or, in the absence of any such appointment, the Judge of the district court ... shall be the Registrar during such absence or until the State Government fills up the vacancy."</a:t>
            </a:r>
            <a:endParaRPr lang="en-US" sz="1200" dirty="0"/>
          </a:p>
        </p:txBody>
      </p:sp>
      <p:sp>
        <p:nvSpPr>
          <p:cNvPr id="13" name="Shape 11"/>
          <p:cNvSpPr/>
          <p:nvPr/>
        </p:nvSpPr>
        <p:spPr>
          <a:xfrm>
            <a:off x="457200" y="3909060"/>
            <a:ext cx="3605784" cy="2354580"/>
          </a:xfrm>
          <a:prstGeom prst="roundRect">
            <a:avLst>
              <a:gd name="adj" fmla="val 3107"/>
            </a:avLst>
          </a:prstGeom>
          <a:solidFill>
            <a:srgbClr val="EEF4F5"/>
          </a:solidFill>
          <a:ln w="12700">
            <a:solidFill>
              <a:srgbClr val="EEF4F5"/>
            </a:solidFill>
            <a:prstDash val="solid"/>
          </a:ln>
        </p:spPr>
      </p:sp>
      <p:sp>
        <p:nvSpPr>
          <p:cNvPr id="14" name="Text 12"/>
          <p:cNvSpPr txBox="1"/>
          <p:nvPr/>
        </p:nvSpPr>
        <p:spPr>
          <a:xfrm>
            <a:off x="640080" y="4018788"/>
            <a:ext cx="324002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Sec. 11 — Registrar absent on duty in district</a:t>
            </a:r>
            <a:endParaRPr lang="en-US" sz="1400" dirty="0"/>
          </a:p>
        </p:txBody>
      </p:sp>
      <p:sp>
        <p:nvSpPr>
          <p:cNvPr id="15" name="Text 13"/>
          <p:cNvSpPr txBox="1"/>
          <p:nvPr/>
        </p:nvSpPr>
        <p:spPr>
          <a:xfrm>
            <a:off x="640080" y="4594860"/>
            <a:ext cx="3240024" cy="1559052"/>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"When any Registrar is absent from his office on duty in his district, he may appoint any Sub-Registrar or other person in his district to perform, during such absence, all the duties of a Registrar, except those mentioned in sections 68 and 72."</a:t>
            </a:r>
            <a:endParaRPr lang="en-US" sz="1400" dirty="0"/>
          </a:p>
        </p:txBody>
      </p:sp>
      <p:sp>
        <p:nvSpPr>
          <p:cNvPr id="16" name="Shape 14"/>
          <p:cNvSpPr/>
          <p:nvPr/>
        </p:nvSpPr>
        <p:spPr>
          <a:xfrm>
            <a:off x="4291584" y="3909060"/>
            <a:ext cx="3605784" cy="2354580"/>
          </a:xfrm>
          <a:prstGeom prst="roundRect">
            <a:avLst>
              <a:gd name="adj" fmla="val 3107"/>
            </a:avLst>
          </a:prstGeom>
          <a:solidFill>
            <a:srgbClr val="EEF4F5"/>
          </a:solidFill>
          <a:ln w="12700">
            <a:solidFill>
              <a:srgbClr val="EEF4F5"/>
            </a:solidFill>
            <a:prstDash val="solid"/>
          </a:ln>
        </p:spPr>
      </p:sp>
      <p:sp>
        <p:nvSpPr>
          <p:cNvPr id="17" name="Text 15"/>
          <p:cNvSpPr txBox="1"/>
          <p:nvPr/>
        </p:nvSpPr>
        <p:spPr>
          <a:xfrm>
            <a:off x="4474464" y="4018788"/>
            <a:ext cx="324002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Sec. 12 — Absence of Sub-Registrar / vacancy</a:t>
            </a:r>
            <a:endParaRPr lang="en-US" sz="1400" dirty="0"/>
          </a:p>
        </p:txBody>
      </p:sp>
      <p:sp>
        <p:nvSpPr>
          <p:cNvPr id="18" name="Text 16"/>
          <p:cNvSpPr txBox="1"/>
          <p:nvPr/>
        </p:nvSpPr>
        <p:spPr>
          <a:xfrm>
            <a:off x="4474464" y="4594860"/>
            <a:ext cx="3240024" cy="1559052"/>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"Whenever any Sub-Registrar is absent, or his office is temporarily vacant, any person whom the Registrar of the district appoints in this behalf shall be Sub-Registrar during such absence, or until the vacancy is filled up."</a:t>
            </a:r>
            <a:endParaRPr lang="en-US" sz="1400" dirty="0"/>
          </a:p>
        </p:txBody>
      </p:sp>
      <p:sp>
        <p:nvSpPr>
          <p:cNvPr id="19" name="Shape 17"/>
          <p:cNvSpPr/>
          <p:nvPr/>
        </p:nvSpPr>
        <p:spPr>
          <a:xfrm>
            <a:off x="8125968" y="3909060"/>
            <a:ext cx="3605784" cy="2354580"/>
          </a:xfrm>
          <a:prstGeom prst="roundRect">
            <a:avLst>
              <a:gd name="adj" fmla="val 3107"/>
            </a:avLst>
          </a:prstGeom>
          <a:solidFill>
            <a:srgbClr val="EEF4F5"/>
          </a:solidFill>
          <a:ln w="12700">
            <a:solidFill>
              <a:srgbClr val="EEF4F5"/>
            </a:solidFill>
            <a:prstDash val="solid"/>
          </a:ln>
        </p:spPr>
      </p:sp>
      <p:sp>
        <p:nvSpPr>
          <p:cNvPr id="20" name="Text 18"/>
          <p:cNvSpPr txBox="1"/>
          <p:nvPr/>
        </p:nvSpPr>
        <p:spPr>
          <a:xfrm>
            <a:off x="8308848" y="4018788"/>
            <a:ext cx="324002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Use in office orders</a:t>
            </a:r>
            <a:endParaRPr lang="en-US" sz="1400" dirty="0"/>
          </a:p>
        </p:txBody>
      </p:sp>
      <p:sp>
        <p:nvSpPr>
          <p:cNvPr id="21" name="Text 19"/>
          <p:cNvSpPr txBox="1"/>
          <p:nvPr/>
        </p:nvSpPr>
        <p:spPr>
          <a:xfrm>
            <a:off x="8308848" y="4594860"/>
            <a:ext cx="3240024" cy="1559052"/>
          </a:xfrm>
          <a:prstGeom prst="rect">
            <a:avLst/>
          </a:prstGeom>
          <a:noFill/>
          <a:ln/>
        </p:spPr>
        <p:txBody>
          <a:bodyPr wrap="square" lIns="0" tIns="0" rIns="0" bIns="0" rtlCol="0" anchor="t"/>
          <a:lstStyle/>
          <a:p>
            <a:pPr marL="0" indent="0">
              <a:buNone/>
            </a:pPr>
            <a:r>
              <a:rPr lang="en-US" sz="1500" dirty="0">
                <a:solidFill>
                  <a:srgbClr val="1F2933"/>
                </a:solidFill>
                <a:latin typeface="Calibri" pitchFamily="34" charset="0"/>
                <a:ea typeface="Calibri" pitchFamily="34" charset="-122"/>
                <a:cs typeface="Calibri" pitchFamily="34" charset="-120"/>
              </a:rPr>
              <a:t>Posting of Registrars / Sub-Registrars → Sec. 6</a:t>
            </a:r>
            <a:endParaRPr lang="en-US" sz="1500" dirty="0"/>
          </a:p>
          <a:p>
            <a:pPr marL="0" indent="0">
              <a:buNone/>
            </a:pPr>
            <a:r>
              <a:rPr lang="en-US" sz="1500" dirty="0">
                <a:solidFill>
                  <a:srgbClr val="1F2933"/>
                </a:solidFill>
                <a:latin typeface="Calibri" pitchFamily="34" charset="0"/>
                <a:ea typeface="Calibri" pitchFamily="34" charset="-122"/>
                <a:cs typeface="Calibri" pitchFamily="34" charset="-120"/>
              </a:rPr>
              <a:t>In-charge Registrar (absence/vacancy) → Sec. 10 / 11</a:t>
            </a:r>
            <a:endParaRPr lang="en-US" sz="1500" dirty="0"/>
          </a:p>
          <a:p>
            <a:pPr marL="0" indent="0">
              <a:buNone/>
            </a:pPr>
            <a:r>
              <a:rPr lang="en-US" sz="1500" dirty="0">
                <a:solidFill>
                  <a:srgbClr val="1F2933"/>
                </a:solidFill>
                <a:latin typeface="Calibri" pitchFamily="34" charset="0"/>
                <a:ea typeface="Calibri" pitchFamily="34" charset="-122"/>
                <a:cs typeface="Calibri" pitchFamily="34" charset="-120"/>
              </a:rPr>
              <a:t>In-charge Sub-Registrar appointed by District Registrar → Sec. 12</a:t>
            </a:r>
            <a:endParaRPr lang="en-US" sz="1500" dirty="0"/>
          </a:p>
        </p:txBody>
      </p:sp>
      <p:sp>
        <p:nvSpPr>
          <p:cNvPr id="22" name="Text 20"/>
          <p:cNvSpPr txBox="1"/>
          <p:nvPr/>
        </p:nvSpPr>
        <p:spPr>
          <a:xfrm>
            <a:off x="457200" y="6400800"/>
            <a:ext cx="11247120" cy="274320"/>
          </a:xfrm>
          <a:prstGeom prst="rect">
            <a:avLst/>
          </a:prstGeom>
          <a:noFill/>
          <a:ln/>
        </p:spPr>
        <p:txBody>
          <a:bodyPr wrap="square" lIns="0" tIns="0" rIns="0" bIns="0" rtlCol="0" anchor="ctr"/>
          <a:lstStyle/>
          <a:p>
            <a:pPr marL="0" indent="0">
              <a:buNone/>
            </a:pPr>
            <a:r>
              <a:rPr lang="en-US" sz="1000" i="1" dirty="0">
                <a:solidFill>
                  <a:srgbClr val="5B6770"/>
                </a:solidFill>
                <a:latin typeface="Calibri" pitchFamily="34" charset="0"/>
                <a:ea typeface="Calibri" pitchFamily="34" charset="-122"/>
                <a:cs typeface="Calibri" pitchFamily="34" charset="-120"/>
              </a:rPr>
              <a:t>Source: Registration Act, 1908 (Central Act 16 of 1908) as applicable to Karnataka — check Karnataka amendments, if any. "..." marks omitted words.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0F4C5C"/>
                </a:solidFill>
                <a:latin typeface="Cambria" pitchFamily="34" charset="0"/>
                <a:ea typeface="Cambria" pitchFamily="34" charset="-122"/>
                <a:cs typeface="Cambria" pitchFamily="34" charset="-120"/>
              </a:rPr>
              <a:t>Constitution &amp; KSCS Act, 1978 — Extracts</a:t>
            </a:r>
            <a:endParaRPr lang="en-US" sz="2800" dirty="0"/>
          </a:p>
        </p:txBody>
      </p:sp>
      <p:sp>
        <p:nvSpPr>
          <p:cNvPr id="3" name="Text 1"/>
          <p:cNvSpPr txBox="1"/>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5B6770"/>
                </a:solidFill>
                <a:latin typeface="Calibri" pitchFamily="34" charset="0"/>
                <a:ea typeface="Calibri" pitchFamily="34" charset="-122"/>
                <a:cs typeface="Calibri" pitchFamily="34" charset="-120"/>
              </a:rPr>
              <a:t>Legal basis of employment and conditions of service</a:t>
            </a:r>
            <a:endParaRPr lang="en-US" sz="1400" dirty="0"/>
          </a:p>
        </p:txBody>
      </p:sp>
      <p:sp>
        <p:nvSpPr>
          <p:cNvPr id="4" name="Shape 2"/>
          <p:cNvSpPr/>
          <p:nvPr/>
        </p:nvSpPr>
        <p:spPr>
          <a:xfrm>
            <a:off x="457200" y="1371600"/>
            <a:ext cx="5522976" cy="2354580"/>
          </a:xfrm>
          <a:prstGeom prst="roundRect">
            <a:avLst>
              <a:gd name="adj" fmla="val 3107"/>
            </a:avLst>
          </a:prstGeom>
          <a:solidFill>
            <a:srgbClr val="EEF4F5"/>
          </a:solidFill>
          <a:ln w="12700">
            <a:solidFill>
              <a:srgbClr val="EEF4F5"/>
            </a:solidFill>
            <a:prstDash val="solid"/>
          </a:ln>
        </p:spPr>
      </p:sp>
      <p:sp>
        <p:nvSpPr>
          <p:cNvPr id="5" name="Text 3"/>
          <p:cNvSpPr txBox="1"/>
          <p:nvPr/>
        </p:nvSpPr>
        <p:spPr>
          <a:xfrm>
            <a:off x="640080" y="1481328"/>
            <a:ext cx="5157216"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Article 309, Constitution of India (proviso)</a:t>
            </a:r>
            <a:endParaRPr lang="en-US" sz="1400" dirty="0"/>
          </a:p>
        </p:txBody>
      </p:sp>
      <p:sp>
        <p:nvSpPr>
          <p:cNvPr id="6" name="Text 4"/>
          <p:cNvSpPr txBox="1"/>
          <p:nvPr/>
        </p:nvSpPr>
        <p:spPr>
          <a:xfrm>
            <a:off x="640080" y="2057400"/>
            <a:ext cx="5157216" cy="1559052"/>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"...it shall be competent for ... the Governor of a State or such person as he may direct in the case of services and posts in connection with the affairs of the State, to make rules regulating the recruitment, and the conditions of service of persons appointed, to such services and posts until provision in that behalf is made by or under an Act of the appropriate Legislature..."</a:t>
            </a:r>
            <a:endParaRPr lang="en-US" sz="1400" dirty="0"/>
          </a:p>
        </p:txBody>
      </p:sp>
      <p:sp>
        <p:nvSpPr>
          <p:cNvPr id="7" name="Shape 5"/>
          <p:cNvSpPr/>
          <p:nvPr/>
        </p:nvSpPr>
        <p:spPr>
          <a:xfrm>
            <a:off x="6208776" y="1371600"/>
            <a:ext cx="5522976" cy="2354580"/>
          </a:xfrm>
          <a:prstGeom prst="roundRect">
            <a:avLst>
              <a:gd name="adj" fmla="val 3107"/>
            </a:avLst>
          </a:prstGeom>
          <a:solidFill>
            <a:srgbClr val="EEF4F5"/>
          </a:solidFill>
          <a:ln w="12700">
            <a:solidFill>
              <a:srgbClr val="EEF4F5"/>
            </a:solidFill>
            <a:prstDash val="solid"/>
          </a:ln>
        </p:spPr>
      </p:sp>
      <p:sp>
        <p:nvSpPr>
          <p:cNvPr id="8" name="Text 6"/>
          <p:cNvSpPr txBox="1"/>
          <p:nvPr/>
        </p:nvSpPr>
        <p:spPr>
          <a:xfrm>
            <a:off x="6391656" y="1481328"/>
            <a:ext cx="5157216"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KSCS Act, 1978 (Karnataka Act 14 of 1990) — Sec. 3(1)</a:t>
            </a:r>
            <a:endParaRPr lang="en-US" sz="1400" dirty="0"/>
          </a:p>
        </p:txBody>
      </p:sp>
      <p:sp>
        <p:nvSpPr>
          <p:cNvPr id="9" name="Text 7"/>
          <p:cNvSpPr txBox="1"/>
          <p:nvPr/>
        </p:nvSpPr>
        <p:spPr>
          <a:xfrm>
            <a:off x="6391656" y="2057400"/>
            <a:ext cx="5157216" cy="1559052"/>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"Subject to the provisions of this Act, the State Government may, by notification, make rules — (a) specifying the different categories of posts in the different branches of public services of the State, the total number and nature of posts in each such category and the scale of pay admissible to each such category; (b) for regulation of the recruitment and conditions of service of persons appointed to public services..."</a:t>
            </a:r>
            <a:endParaRPr lang="en-US" sz="1400" dirty="0"/>
          </a:p>
        </p:txBody>
      </p:sp>
      <p:sp>
        <p:nvSpPr>
          <p:cNvPr id="10" name="Shape 8"/>
          <p:cNvSpPr/>
          <p:nvPr/>
        </p:nvSpPr>
        <p:spPr>
          <a:xfrm>
            <a:off x="457200" y="3909060"/>
            <a:ext cx="5522976" cy="2354580"/>
          </a:xfrm>
          <a:prstGeom prst="roundRect">
            <a:avLst>
              <a:gd name="adj" fmla="val 3107"/>
            </a:avLst>
          </a:prstGeom>
          <a:solidFill>
            <a:srgbClr val="EEF4F5"/>
          </a:solidFill>
          <a:ln w="12700">
            <a:solidFill>
              <a:srgbClr val="EEF4F5"/>
            </a:solidFill>
            <a:prstDash val="solid"/>
          </a:ln>
        </p:spPr>
      </p:sp>
      <p:sp>
        <p:nvSpPr>
          <p:cNvPr id="11" name="Text 9"/>
          <p:cNvSpPr txBox="1"/>
          <p:nvPr/>
        </p:nvSpPr>
        <p:spPr>
          <a:xfrm>
            <a:off x="640080" y="4018788"/>
            <a:ext cx="5157216"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KSCS Act, 1978 — Sec. 8</a:t>
            </a:r>
            <a:endParaRPr lang="en-US" sz="1400" dirty="0"/>
          </a:p>
        </p:txBody>
      </p:sp>
      <p:sp>
        <p:nvSpPr>
          <p:cNvPr id="12" name="Text 10"/>
          <p:cNvSpPr txBox="1"/>
          <p:nvPr/>
        </p:nvSpPr>
        <p:spPr>
          <a:xfrm>
            <a:off x="640080" y="4594860"/>
            <a:ext cx="5157216" cy="1559052"/>
          </a:xfrm>
          <a:prstGeom prst="rect">
            <a:avLst/>
          </a:prstGeom>
          <a:noFill/>
          <a:ln/>
        </p:spPr>
        <p:txBody>
          <a:bodyPr wrap="square" lIns="0" tIns="0" rIns="0" bIns="0" rtlCol="0" anchor="t"/>
          <a:lstStyle/>
          <a:p>
            <a:pPr marL="0" indent="0">
              <a:buNone/>
            </a:pPr>
            <a:r>
              <a:rPr lang="en-US" sz="1500" dirty="0">
                <a:solidFill>
                  <a:srgbClr val="1F2933"/>
                </a:solidFill>
                <a:latin typeface="Calibri" pitchFamily="34" charset="0"/>
                <a:ea typeface="Calibri" pitchFamily="34" charset="-122"/>
                <a:cs typeface="Calibri" pitchFamily="34" charset="-120"/>
              </a:rPr>
              <a:t>"The State Government may, by notification, make rules to carry out the purposes of this Act."</a:t>
            </a:r>
            <a:endParaRPr lang="en-US" sz="1500" dirty="0"/>
          </a:p>
        </p:txBody>
      </p:sp>
      <p:sp>
        <p:nvSpPr>
          <p:cNvPr id="13" name="Shape 11"/>
          <p:cNvSpPr/>
          <p:nvPr/>
        </p:nvSpPr>
        <p:spPr>
          <a:xfrm>
            <a:off x="6208776" y="3909060"/>
            <a:ext cx="5522976" cy="2354580"/>
          </a:xfrm>
          <a:prstGeom prst="roundRect">
            <a:avLst>
              <a:gd name="adj" fmla="val 3107"/>
            </a:avLst>
          </a:prstGeom>
          <a:solidFill>
            <a:srgbClr val="EEF4F5"/>
          </a:solidFill>
          <a:ln w="12700">
            <a:solidFill>
              <a:srgbClr val="EEF4F5"/>
            </a:solidFill>
            <a:prstDash val="solid"/>
          </a:ln>
        </p:spPr>
      </p:sp>
      <p:sp>
        <p:nvSpPr>
          <p:cNvPr id="14" name="Text 12"/>
          <p:cNvSpPr txBox="1"/>
          <p:nvPr/>
        </p:nvSpPr>
        <p:spPr>
          <a:xfrm>
            <a:off x="6391656" y="4018788"/>
            <a:ext cx="5157216"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Rules made under these powers</a:t>
            </a:r>
            <a:endParaRPr lang="en-US" sz="1400" dirty="0"/>
          </a:p>
        </p:txBody>
      </p:sp>
      <p:sp>
        <p:nvSpPr>
          <p:cNvPr id="15" name="Text 13"/>
          <p:cNvSpPr txBox="1"/>
          <p:nvPr/>
        </p:nvSpPr>
        <p:spPr>
          <a:xfrm>
            <a:off x="6391656" y="4594860"/>
            <a:ext cx="5157216" cy="1559052"/>
          </a:xfrm>
          <a:prstGeom prst="rect">
            <a:avLst/>
          </a:prstGeom>
          <a:noFill/>
          <a:ln/>
        </p:spPr>
        <p:txBody>
          <a:bodyPr wrap="square" lIns="0" tIns="0" rIns="0" bIns="0" rtlCol="0" anchor="t"/>
          <a:lstStyle/>
          <a:p>
            <a:pPr marL="0" indent="0">
              <a:buNone/>
            </a:pPr>
            <a:r>
              <a:rPr lang="en-US" sz="1500" dirty="0">
                <a:solidFill>
                  <a:srgbClr val="1F2933"/>
                </a:solidFill>
                <a:latin typeface="Calibri" pitchFamily="34" charset="0"/>
                <a:ea typeface="Calibri" pitchFamily="34" charset="-122"/>
                <a:cs typeface="Calibri" pitchFamily="34" charset="-120"/>
              </a:rPr>
              <a:t>• Karnataka Civil Services (General Recruitment) Rules, 1977</a:t>
            </a:r>
            <a:endParaRPr lang="en-US" sz="1500" dirty="0"/>
          </a:p>
          <a:p>
            <a:pPr marL="0" indent="0">
              <a:buNone/>
            </a:pPr>
            <a:r>
              <a:rPr lang="en-US" sz="1500" dirty="0">
                <a:solidFill>
                  <a:srgbClr val="1F2933"/>
                </a:solidFill>
                <a:latin typeface="Calibri" pitchFamily="34" charset="0"/>
                <a:ea typeface="Calibri" pitchFamily="34" charset="-122"/>
                <a:cs typeface="Calibri" pitchFamily="34" charset="-120"/>
              </a:rPr>
              <a:t>• Cadre &amp; Recruitment Rules of the Department of Stamps &amp; Registration</a:t>
            </a:r>
            <a:endParaRPr lang="en-US" sz="1500" dirty="0"/>
          </a:p>
          <a:p>
            <a:pPr marL="0" indent="0">
              <a:buNone/>
            </a:pPr>
            <a:r>
              <a:rPr lang="en-US" sz="1500" dirty="0">
                <a:solidFill>
                  <a:srgbClr val="1F2933"/>
                </a:solidFill>
                <a:latin typeface="Calibri" pitchFamily="34" charset="0"/>
                <a:ea typeface="Calibri" pitchFamily="34" charset="-122"/>
                <a:cs typeface="Calibri" pitchFamily="34" charset="-120"/>
              </a:rPr>
              <a:t>• Karnataka Civil Services Rules (KCSR) — pay, charge, joining time, leave</a:t>
            </a:r>
            <a:endParaRPr lang="en-US" sz="1500" dirty="0"/>
          </a:p>
          <a:p>
            <a:pPr marL="0" indent="0">
              <a:buNone/>
            </a:pPr>
            <a:r>
              <a:rPr lang="en-US" sz="1500" dirty="0">
                <a:solidFill>
                  <a:srgbClr val="1F2933"/>
                </a:solidFill>
                <a:latin typeface="Calibri" pitchFamily="34" charset="0"/>
                <a:ea typeface="Calibri" pitchFamily="34" charset="-122"/>
                <a:cs typeface="Calibri" pitchFamily="34" charset="-120"/>
              </a:rPr>
              <a:t>• KCS (Classification, Control &amp; Appeal) Rules, 1957; KCS (Conduct) Rules, 2021</a:t>
            </a:r>
            <a:endParaRPr lang="en-US" sz="1500" dirty="0"/>
          </a:p>
        </p:txBody>
      </p:sp>
      <p:sp>
        <p:nvSpPr>
          <p:cNvPr id="16" name="Text 14"/>
          <p:cNvSpPr txBox="1"/>
          <p:nvPr/>
        </p:nvSpPr>
        <p:spPr>
          <a:xfrm>
            <a:off x="457200" y="6400800"/>
            <a:ext cx="11247120" cy="274320"/>
          </a:xfrm>
          <a:prstGeom prst="rect">
            <a:avLst/>
          </a:prstGeom>
          <a:noFill/>
          <a:ln/>
        </p:spPr>
        <p:txBody>
          <a:bodyPr wrap="square" lIns="0" tIns="0" rIns="0" bIns="0" rtlCol="0" anchor="ctr"/>
          <a:lstStyle/>
          <a:p>
            <a:pPr marL="0" indent="0">
              <a:buNone/>
            </a:pPr>
            <a:r>
              <a:rPr lang="en-US" sz="1000" i="1" dirty="0">
                <a:solidFill>
                  <a:srgbClr val="5B6770"/>
                </a:solidFill>
                <a:latin typeface="Calibri" pitchFamily="34" charset="0"/>
                <a:ea typeface="Calibri" pitchFamily="34" charset="-122"/>
                <a:cs typeface="Calibri" pitchFamily="34" charset="-120"/>
              </a:rPr>
              <a:t>Sources: Constitution of India, Art. 309; Karnataka State Civil Services Act, 1978 (India Code). "..." marks omitted words.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0F4C5C"/>
                </a:solidFill>
                <a:latin typeface="Cambria" pitchFamily="34" charset="0"/>
                <a:ea typeface="Cambria" pitchFamily="34" charset="-122"/>
                <a:cs typeface="Cambria" pitchFamily="34" charset="-120"/>
              </a:rPr>
              <a:t>Karnataka Civil Services Rules — Extracts</a:t>
            </a:r>
            <a:endParaRPr lang="en-US" sz="2800" dirty="0"/>
          </a:p>
        </p:txBody>
      </p:sp>
      <p:sp>
        <p:nvSpPr>
          <p:cNvPr id="3" name="Text 1"/>
          <p:cNvSpPr txBox="1"/>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5B6770"/>
                </a:solidFill>
                <a:latin typeface="Calibri" pitchFamily="34" charset="0"/>
                <a:ea typeface="Calibri" pitchFamily="34" charset="-122"/>
                <a:cs typeface="Calibri" pitchFamily="34" charset="-120"/>
              </a:rPr>
              <a:t>Definitions, transfer, charge and pay provisions</a:t>
            </a:r>
            <a:endParaRPr lang="en-US" sz="1400" dirty="0"/>
          </a:p>
        </p:txBody>
      </p:sp>
      <p:sp>
        <p:nvSpPr>
          <p:cNvPr id="4" name="Shape 2"/>
          <p:cNvSpPr/>
          <p:nvPr/>
        </p:nvSpPr>
        <p:spPr>
          <a:xfrm>
            <a:off x="457200" y="1371600"/>
            <a:ext cx="3605784" cy="2354580"/>
          </a:xfrm>
          <a:prstGeom prst="roundRect">
            <a:avLst>
              <a:gd name="adj" fmla="val 3107"/>
            </a:avLst>
          </a:prstGeom>
          <a:solidFill>
            <a:srgbClr val="EEF4F5"/>
          </a:solidFill>
          <a:ln w="12700">
            <a:solidFill>
              <a:srgbClr val="EEF4F5"/>
            </a:solidFill>
            <a:prstDash val="solid"/>
          </a:ln>
        </p:spPr>
      </p:sp>
      <p:sp>
        <p:nvSpPr>
          <p:cNvPr id="5" name="Text 3"/>
          <p:cNvSpPr txBox="1"/>
          <p:nvPr/>
        </p:nvSpPr>
        <p:spPr>
          <a:xfrm>
            <a:off x="640080" y="1481328"/>
            <a:ext cx="324002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Rule 8(24) — Joining time</a:t>
            </a:r>
            <a:endParaRPr lang="en-US" sz="1400" dirty="0"/>
          </a:p>
        </p:txBody>
      </p:sp>
      <p:sp>
        <p:nvSpPr>
          <p:cNvPr id="6" name="Text 4"/>
          <p:cNvSpPr txBox="1"/>
          <p:nvPr/>
        </p:nvSpPr>
        <p:spPr>
          <a:xfrm>
            <a:off x="640080" y="2057400"/>
            <a:ext cx="3240024" cy="1559052"/>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"'Joining time' means time allowed to a Government servant to join a new post or to travel to a station to which he is posted."</a:t>
            </a:r>
            <a:endParaRPr lang="en-US" sz="1400" dirty="0"/>
          </a:p>
        </p:txBody>
      </p:sp>
      <p:sp>
        <p:nvSpPr>
          <p:cNvPr id="7" name="Shape 5"/>
          <p:cNvSpPr/>
          <p:nvPr/>
        </p:nvSpPr>
        <p:spPr>
          <a:xfrm>
            <a:off x="4291584" y="1371600"/>
            <a:ext cx="3605784" cy="2354580"/>
          </a:xfrm>
          <a:prstGeom prst="roundRect">
            <a:avLst>
              <a:gd name="adj" fmla="val 3107"/>
            </a:avLst>
          </a:prstGeom>
          <a:solidFill>
            <a:srgbClr val="EEF4F5"/>
          </a:solidFill>
          <a:ln w="12700">
            <a:solidFill>
              <a:srgbClr val="EEF4F5"/>
            </a:solidFill>
            <a:prstDash val="solid"/>
          </a:ln>
        </p:spPr>
      </p:sp>
      <p:sp>
        <p:nvSpPr>
          <p:cNvPr id="8" name="Text 6"/>
          <p:cNvSpPr txBox="1"/>
          <p:nvPr/>
        </p:nvSpPr>
        <p:spPr>
          <a:xfrm>
            <a:off x="4474464" y="1481328"/>
            <a:ext cx="324002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Rule 8(49) — Transfer</a:t>
            </a:r>
            <a:endParaRPr lang="en-US" sz="1400" dirty="0"/>
          </a:p>
        </p:txBody>
      </p:sp>
      <p:sp>
        <p:nvSpPr>
          <p:cNvPr id="9" name="Text 7"/>
          <p:cNvSpPr txBox="1"/>
          <p:nvPr/>
        </p:nvSpPr>
        <p:spPr>
          <a:xfrm>
            <a:off x="4474464" y="2057400"/>
            <a:ext cx="3240024" cy="1559052"/>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"'Transfer' means the movement of a Government servant from one headquarters station in which he is employed to another such station, either (a) to take up the duties of a new post; or (b) in consequence of a change of his headquarters."</a:t>
            </a:r>
            <a:endParaRPr lang="en-US" sz="1400" dirty="0"/>
          </a:p>
        </p:txBody>
      </p:sp>
      <p:sp>
        <p:nvSpPr>
          <p:cNvPr id="10" name="Shape 8"/>
          <p:cNvSpPr/>
          <p:nvPr/>
        </p:nvSpPr>
        <p:spPr>
          <a:xfrm>
            <a:off x="8125968" y="1371600"/>
            <a:ext cx="3605784" cy="2354580"/>
          </a:xfrm>
          <a:prstGeom prst="roundRect">
            <a:avLst>
              <a:gd name="adj" fmla="val 3107"/>
            </a:avLst>
          </a:prstGeom>
          <a:solidFill>
            <a:srgbClr val="EEF4F5"/>
          </a:solidFill>
          <a:ln w="12700">
            <a:solidFill>
              <a:srgbClr val="EEF4F5"/>
            </a:solidFill>
            <a:prstDash val="solid"/>
          </a:ln>
        </p:spPr>
      </p:sp>
      <p:sp>
        <p:nvSpPr>
          <p:cNvPr id="11" name="Text 9"/>
          <p:cNvSpPr txBox="1"/>
          <p:nvPr/>
        </p:nvSpPr>
        <p:spPr>
          <a:xfrm>
            <a:off x="8308848" y="1481328"/>
            <a:ext cx="324002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Rule 12 — Making over charge</a:t>
            </a:r>
            <a:endParaRPr lang="en-US" sz="1400" dirty="0"/>
          </a:p>
        </p:txBody>
      </p:sp>
      <p:sp>
        <p:nvSpPr>
          <p:cNvPr id="12" name="Text 10"/>
          <p:cNvSpPr txBox="1"/>
          <p:nvPr/>
        </p:nvSpPr>
        <p:spPr>
          <a:xfrm>
            <a:off x="8308848" y="2057400"/>
            <a:ext cx="3240024" cy="1559052"/>
          </a:xfrm>
          <a:prstGeom prst="rect">
            <a:avLst/>
          </a:prstGeom>
          <a:noFill/>
          <a:ln/>
        </p:spPr>
        <p:txBody>
          <a:bodyPr wrap="square" lIns="0" tIns="0" rIns="0" bIns="0" rtlCol="0" anchor="t"/>
          <a:lstStyle/>
          <a:p>
            <a:pPr marL="0" indent="0">
              <a:buNone/>
            </a:pPr>
            <a:r>
              <a:rPr lang="en-US" sz="1200" dirty="0">
                <a:solidFill>
                  <a:srgbClr val="1F2933"/>
                </a:solidFill>
                <a:latin typeface="Calibri" pitchFamily="34" charset="0"/>
                <a:ea typeface="Calibri" pitchFamily="34" charset="-122"/>
                <a:cs typeface="Calibri" pitchFamily="34" charset="-120"/>
              </a:rPr>
              <a:t>"Unless, for special recorded reasons which must be of a public nature, the authority under whose orders the transfer takes place, permits or requires it to be made in any particular case elsewhere, or otherwise, the charge of an office must be made over at its headquarters, both the relieving and the relieved Government servants being present."</a:t>
            </a:r>
            <a:endParaRPr lang="en-US" sz="1200" dirty="0"/>
          </a:p>
        </p:txBody>
      </p:sp>
      <p:sp>
        <p:nvSpPr>
          <p:cNvPr id="13" name="Shape 11"/>
          <p:cNvSpPr/>
          <p:nvPr/>
        </p:nvSpPr>
        <p:spPr>
          <a:xfrm>
            <a:off x="457200" y="3909060"/>
            <a:ext cx="3605784" cy="2354580"/>
          </a:xfrm>
          <a:prstGeom prst="roundRect">
            <a:avLst>
              <a:gd name="adj" fmla="val 3107"/>
            </a:avLst>
          </a:prstGeom>
          <a:solidFill>
            <a:srgbClr val="EEF4F5"/>
          </a:solidFill>
          <a:ln w="12700">
            <a:solidFill>
              <a:srgbClr val="EEF4F5"/>
            </a:solidFill>
            <a:prstDash val="solid"/>
          </a:ln>
        </p:spPr>
      </p:sp>
      <p:sp>
        <p:nvSpPr>
          <p:cNvPr id="14" name="Text 12"/>
          <p:cNvSpPr txBox="1"/>
          <p:nvPr/>
        </p:nvSpPr>
        <p:spPr>
          <a:xfrm>
            <a:off x="640080" y="4018788"/>
            <a:ext cx="324002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Rule 20-A — Transfer from one post to another</a:t>
            </a:r>
            <a:endParaRPr lang="en-US" sz="1400" dirty="0"/>
          </a:p>
        </p:txBody>
      </p:sp>
      <p:sp>
        <p:nvSpPr>
          <p:cNvPr id="15" name="Text 13"/>
          <p:cNvSpPr txBox="1"/>
          <p:nvPr/>
        </p:nvSpPr>
        <p:spPr>
          <a:xfrm>
            <a:off x="640080" y="4594860"/>
            <a:ext cx="3240024" cy="1559052"/>
          </a:xfrm>
          <a:prstGeom prst="rect">
            <a:avLst/>
          </a:prstGeom>
          <a:noFill/>
          <a:ln/>
        </p:spPr>
        <p:txBody>
          <a:bodyPr wrap="square" lIns="0" tIns="0" rIns="0" bIns="0" rtlCol="0" anchor="t"/>
          <a:lstStyle/>
          <a:p>
            <a:pPr marL="0" indent="0">
              <a:buNone/>
            </a:pPr>
            <a:r>
              <a:rPr lang="en-US" sz="1200" dirty="0">
                <a:solidFill>
                  <a:srgbClr val="1F2933"/>
                </a:solidFill>
                <a:latin typeface="Calibri" pitchFamily="34" charset="0"/>
                <a:ea typeface="Calibri" pitchFamily="34" charset="-122"/>
                <a:cs typeface="Calibri" pitchFamily="34" charset="-120"/>
              </a:rPr>
              <a:t>(1) "A Government servant may be transferred from one post to another, provided that except (i) as penalty imposed for misconduct, or (ii) on his written request, a Government servant shall not be transferred substantively to or, except in the case covered by Rule 66, appointed to officiate in a post carrying less pay..."</a:t>
            </a:r>
            <a:endParaRPr lang="en-US" sz="1200" dirty="0"/>
          </a:p>
          <a:p>
            <a:pPr marL="0" indent="0">
              <a:buNone/>
            </a:pPr>
            <a:r>
              <a:rPr lang="en-US" sz="1200" dirty="0">
                <a:solidFill>
                  <a:srgbClr val="1F2933"/>
                </a:solidFill>
                <a:latin typeface="Calibri" pitchFamily="34" charset="0"/>
                <a:ea typeface="Calibri" pitchFamily="34" charset="-122"/>
                <a:cs typeface="Calibri" pitchFamily="34" charset="-120"/>
              </a:rPr>
              <a:t>(2) Permits retransfer to the post on which he would hold a lien.</a:t>
            </a:r>
            <a:endParaRPr lang="en-US" sz="1200" dirty="0"/>
          </a:p>
        </p:txBody>
      </p:sp>
      <p:sp>
        <p:nvSpPr>
          <p:cNvPr id="16" name="Shape 14"/>
          <p:cNvSpPr/>
          <p:nvPr/>
        </p:nvSpPr>
        <p:spPr>
          <a:xfrm>
            <a:off x="4291584" y="3909060"/>
            <a:ext cx="3605784" cy="2354580"/>
          </a:xfrm>
          <a:prstGeom prst="roundRect">
            <a:avLst>
              <a:gd name="adj" fmla="val 3107"/>
            </a:avLst>
          </a:prstGeom>
          <a:solidFill>
            <a:srgbClr val="EEF4F5"/>
          </a:solidFill>
          <a:ln w="12700">
            <a:solidFill>
              <a:srgbClr val="EEF4F5"/>
            </a:solidFill>
            <a:prstDash val="solid"/>
          </a:ln>
        </p:spPr>
      </p:sp>
      <p:sp>
        <p:nvSpPr>
          <p:cNvPr id="17" name="Text 15"/>
          <p:cNvSpPr txBox="1"/>
          <p:nvPr/>
        </p:nvSpPr>
        <p:spPr>
          <a:xfrm>
            <a:off x="4474464" y="4018788"/>
            <a:ext cx="324002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Rule 23 — Commencement of pay / charge</a:t>
            </a:r>
            <a:endParaRPr lang="en-US" sz="1400" dirty="0"/>
          </a:p>
        </p:txBody>
      </p:sp>
      <p:sp>
        <p:nvSpPr>
          <p:cNvPr id="18" name="Text 16"/>
          <p:cNvSpPr txBox="1"/>
          <p:nvPr/>
        </p:nvSpPr>
        <p:spPr>
          <a:xfrm>
            <a:off x="4474464" y="4594860"/>
            <a:ext cx="3240024" cy="1559052"/>
          </a:xfrm>
          <a:prstGeom prst="rect">
            <a:avLst/>
          </a:prstGeom>
          <a:noFill/>
          <a:ln/>
        </p:spPr>
        <p:txBody>
          <a:bodyPr wrap="square" lIns="0" tIns="0" rIns="0" bIns="0" rtlCol="0" anchor="t"/>
          <a:lstStyle/>
          <a:p>
            <a:pPr marL="0" indent="0">
              <a:buNone/>
            </a:pPr>
            <a:r>
              <a:rPr lang="en-US" sz="1500" dirty="0">
                <a:solidFill>
                  <a:srgbClr val="1F2933"/>
                </a:solidFill>
                <a:latin typeface="Calibri" pitchFamily="34" charset="0"/>
                <a:ea typeface="Calibri" pitchFamily="34" charset="-122"/>
                <a:cs typeface="Calibri" pitchFamily="34" charset="-120"/>
              </a:rPr>
              <a:t>"The pay of a Government servant begins when he takes charge of the appointment in respect of which it is earned... If the charge is transferred afternoon, the transfer does not affect allowances until the next day." (12 noon is treated as forenoon.)</a:t>
            </a:r>
            <a:endParaRPr lang="en-US" sz="1500" dirty="0"/>
          </a:p>
        </p:txBody>
      </p:sp>
      <p:sp>
        <p:nvSpPr>
          <p:cNvPr id="19" name="Shape 17"/>
          <p:cNvSpPr/>
          <p:nvPr/>
        </p:nvSpPr>
        <p:spPr>
          <a:xfrm>
            <a:off x="8125968" y="3909060"/>
            <a:ext cx="3605784" cy="2354580"/>
          </a:xfrm>
          <a:prstGeom prst="roundRect">
            <a:avLst>
              <a:gd name="adj" fmla="val 3107"/>
            </a:avLst>
          </a:prstGeom>
          <a:solidFill>
            <a:srgbClr val="EEF4F5"/>
          </a:solidFill>
          <a:ln w="12700">
            <a:solidFill>
              <a:srgbClr val="EEF4F5"/>
            </a:solidFill>
            <a:prstDash val="solid"/>
          </a:ln>
        </p:spPr>
      </p:sp>
      <p:sp>
        <p:nvSpPr>
          <p:cNvPr id="20" name="Text 18"/>
          <p:cNvSpPr txBox="1"/>
          <p:nvPr/>
        </p:nvSpPr>
        <p:spPr>
          <a:xfrm>
            <a:off x="8308848" y="4018788"/>
            <a:ext cx="324002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Rule 32 — Current duties charge</a:t>
            </a:r>
            <a:endParaRPr lang="en-US" sz="1400" dirty="0"/>
          </a:p>
        </p:txBody>
      </p:sp>
      <p:sp>
        <p:nvSpPr>
          <p:cNvPr id="21" name="Text 19"/>
          <p:cNvSpPr txBox="1"/>
          <p:nvPr/>
        </p:nvSpPr>
        <p:spPr>
          <a:xfrm>
            <a:off x="8308848" y="4594860"/>
            <a:ext cx="3240024" cy="1559052"/>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"Instead of appointing a Government servant to officiate, it is also permissible to appoint him to be in charge of the current duties of a vacant post."</a:t>
            </a:r>
            <a:endParaRPr lang="en-US" sz="1400" dirty="0"/>
          </a:p>
        </p:txBody>
      </p:sp>
      <p:sp>
        <p:nvSpPr>
          <p:cNvPr id="22" name="Text 20"/>
          <p:cNvSpPr txBox="1"/>
          <p:nvPr/>
        </p:nvSpPr>
        <p:spPr>
          <a:xfrm>
            <a:off x="457200" y="6400800"/>
            <a:ext cx="11247120" cy="274320"/>
          </a:xfrm>
          <a:prstGeom prst="rect">
            <a:avLst/>
          </a:prstGeom>
          <a:noFill/>
          <a:ln/>
        </p:spPr>
        <p:txBody>
          <a:bodyPr wrap="square" lIns="0" tIns="0" rIns="0" bIns="0" rtlCol="0" anchor="ctr"/>
          <a:lstStyle/>
          <a:p>
            <a:pPr marL="0" indent="0">
              <a:buNone/>
            </a:pPr>
            <a:r>
              <a:rPr lang="en-US" sz="1000" i="1" dirty="0">
                <a:solidFill>
                  <a:srgbClr val="5B6770"/>
                </a:solidFill>
                <a:latin typeface="Calibri" pitchFamily="34" charset="0"/>
                <a:ea typeface="Calibri" pitchFamily="34" charset="-122"/>
                <a:cs typeface="Calibri" pitchFamily="34" charset="-120"/>
              </a:rPr>
              <a:t>Source: Karnataka Civil Services Rules (published copies). "..." marks omitted words; wording may differ slightly between editions.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0F4C5C"/>
                </a:solidFill>
                <a:latin typeface="Cambria" pitchFamily="34" charset="0"/>
                <a:ea typeface="Cambria" pitchFamily="34" charset="-122"/>
                <a:cs typeface="Cambria" pitchFamily="34" charset="-120"/>
              </a:rPr>
              <a:t>Joining Time, Leave &amp; Additional Charge</a:t>
            </a:r>
            <a:endParaRPr lang="en-US" sz="2800" dirty="0"/>
          </a:p>
        </p:txBody>
      </p:sp>
      <p:sp>
        <p:nvSpPr>
          <p:cNvPr id="3" name="Text 1"/>
          <p:cNvSpPr txBox="1"/>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5B6770"/>
                </a:solidFill>
                <a:latin typeface="Calibri" pitchFamily="34" charset="0"/>
                <a:ea typeface="Calibri" pitchFamily="34" charset="-122"/>
                <a:cs typeface="Calibri" pitchFamily="34" charset="-120"/>
              </a:rPr>
              <a:t>Gist only — full text to be taken from the current KCSR edition</a:t>
            </a:r>
            <a:endParaRPr lang="en-US" sz="1400" dirty="0"/>
          </a:p>
        </p:txBody>
      </p:sp>
      <p:sp>
        <p:nvSpPr>
          <p:cNvPr id="4" name="Shape 2"/>
          <p:cNvSpPr/>
          <p:nvPr/>
        </p:nvSpPr>
        <p:spPr>
          <a:xfrm>
            <a:off x="457200" y="1371600"/>
            <a:ext cx="3605784" cy="4892040"/>
          </a:xfrm>
          <a:prstGeom prst="roundRect">
            <a:avLst>
              <a:gd name="adj" fmla="val 2029"/>
            </a:avLst>
          </a:prstGeom>
          <a:solidFill>
            <a:srgbClr val="EEF4F5"/>
          </a:solidFill>
          <a:ln w="12700">
            <a:solidFill>
              <a:srgbClr val="EEF4F5"/>
            </a:solidFill>
            <a:prstDash val="solid"/>
          </a:ln>
        </p:spPr>
      </p:sp>
      <p:sp>
        <p:nvSpPr>
          <p:cNvPr id="5" name="Text 3"/>
          <p:cNvSpPr txBox="1"/>
          <p:nvPr/>
        </p:nvSpPr>
        <p:spPr>
          <a:xfrm>
            <a:off x="640080" y="1481328"/>
            <a:ext cx="324002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KCSR Chapter VII — Joining Time</a:t>
            </a:r>
            <a:endParaRPr lang="en-US" sz="1400" dirty="0"/>
          </a:p>
        </p:txBody>
      </p:sp>
      <p:sp>
        <p:nvSpPr>
          <p:cNvPr id="6" name="Text 4"/>
          <p:cNvSpPr txBox="1"/>
          <p:nvPr/>
        </p:nvSpPr>
        <p:spPr>
          <a:xfrm>
            <a:off x="640080" y="2057400"/>
            <a:ext cx="3240024" cy="4096512"/>
          </a:xfrm>
          <a:prstGeom prst="rect">
            <a:avLst/>
          </a:prstGeom>
          <a:noFill/>
          <a:ln/>
        </p:spPr>
        <p:txBody>
          <a:bodyPr wrap="square" lIns="0" tIns="0" rIns="0" bIns="0" rtlCol="0" anchor="t"/>
          <a:lstStyle/>
          <a:p>
            <a:pPr marL="0" indent="0">
              <a:buNone/>
            </a:pPr>
            <a:r>
              <a:rPr lang="en-US" sz="1600" dirty="0">
                <a:solidFill>
                  <a:srgbClr val="1F2933"/>
                </a:solidFill>
                <a:latin typeface="Calibri" pitchFamily="34" charset="0"/>
                <a:ea typeface="Calibri" pitchFamily="34" charset="-122"/>
                <a:cs typeface="Calibri" pitchFamily="34" charset="-120"/>
              </a:rPr>
              <a:t>Allowed to a Government servant on transfer to join the new post; covers admissibility, number of days (incl. preparation &amp; journey), commencement, pay during joining time, and consequences of overstay.</a:t>
            </a:r>
            <a:endParaRPr lang="en-US" sz="1600" dirty="0"/>
          </a:p>
        </p:txBody>
      </p:sp>
      <p:sp>
        <p:nvSpPr>
          <p:cNvPr id="7" name="Shape 5"/>
          <p:cNvSpPr/>
          <p:nvPr/>
        </p:nvSpPr>
        <p:spPr>
          <a:xfrm>
            <a:off x="4291584" y="1371600"/>
            <a:ext cx="3605784" cy="4892040"/>
          </a:xfrm>
          <a:prstGeom prst="roundRect">
            <a:avLst>
              <a:gd name="adj" fmla="val 2029"/>
            </a:avLst>
          </a:prstGeom>
          <a:solidFill>
            <a:srgbClr val="EEF4F5"/>
          </a:solidFill>
          <a:ln w="12700">
            <a:solidFill>
              <a:srgbClr val="EEF4F5"/>
            </a:solidFill>
            <a:prstDash val="solid"/>
          </a:ln>
        </p:spPr>
      </p:sp>
      <p:sp>
        <p:nvSpPr>
          <p:cNvPr id="8" name="Text 6"/>
          <p:cNvSpPr txBox="1"/>
          <p:nvPr/>
        </p:nvSpPr>
        <p:spPr>
          <a:xfrm>
            <a:off x="4474464" y="1481328"/>
            <a:ext cx="324002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KCSR Chapter X — Leave</a:t>
            </a:r>
            <a:endParaRPr lang="en-US" sz="1400" dirty="0"/>
          </a:p>
        </p:txBody>
      </p:sp>
      <p:sp>
        <p:nvSpPr>
          <p:cNvPr id="9" name="Text 7"/>
          <p:cNvSpPr txBox="1"/>
          <p:nvPr/>
        </p:nvSpPr>
        <p:spPr>
          <a:xfrm>
            <a:off x="4474464" y="2057400"/>
            <a:ext cx="3240024" cy="4096512"/>
          </a:xfrm>
          <a:prstGeom prst="rect">
            <a:avLst/>
          </a:prstGeom>
          <a:noFill/>
          <a:ln/>
        </p:spPr>
        <p:txBody>
          <a:bodyPr wrap="square" lIns="0" tIns="0" rIns="0" bIns="0" rtlCol="0" anchor="t"/>
          <a:lstStyle/>
          <a:p>
            <a:pPr marL="0" indent="0">
              <a:buNone/>
            </a:pPr>
            <a:r>
              <a:rPr lang="en-US" sz="1600" dirty="0">
                <a:solidFill>
                  <a:srgbClr val="1F2933"/>
                </a:solidFill>
                <a:latin typeface="Calibri" pitchFamily="34" charset="0"/>
                <a:ea typeface="Calibri" pitchFamily="34" charset="-122"/>
                <a:cs typeface="Calibri" pitchFamily="34" charset="-120"/>
              </a:rPr>
              <a:t>Kinds of leave, accrual and sanction: Earned Leave (R.112), Half Pay Leave (R.114), Commuted Leave (R.116), Leave Not Due (R.117), Extraordinary Leave (R.118). Casual leave is governed by separate Government Orders.</a:t>
            </a:r>
            <a:endParaRPr lang="en-US" sz="1600" dirty="0"/>
          </a:p>
        </p:txBody>
      </p:sp>
      <p:sp>
        <p:nvSpPr>
          <p:cNvPr id="10" name="Shape 8"/>
          <p:cNvSpPr/>
          <p:nvPr/>
        </p:nvSpPr>
        <p:spPr>
          <a:xfrm>
            <a:off x="8125968" y="1371600"/>
            <a:ext cx="3605784" cy="4892040"/>
          </a:xfrm>
          <a:prstGeom prst="roundRect">
            <a:avLst>
              <a:gd name="adj" fmla="val 2029"/>
            </a:avLst>
          </a:prstGeom>
          <a:solidFill>
            <a:srgbClr val="EEF4F5"/>
          </a:solidFill>
          <a:ln w="12700">
            <a:solidFill>
              <a:srgbClr val="EEF4F5"/>
            </a:solidFill>
            <a:prstDash val="solid"/>
          </a:ln>
        </p:spPr>
      </p:sp>
      <p:sp>
        <p:nvSpPr>
          <p:cNvPr id="11" name="Text 9"/>
          <p:cNvSpPr txBox="1"/>
          <p:nvPr/>
        </p:nvSpPr>
        <p:spPr>
          <a:xfrm>
            <a:off x="8308848" y="1481328"/>
            <a:ext cx="324002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KCSR Rule 68 — Additional charge</a:t>
            </a:r>
            <a:endParaRPr lang="en-US" sz="1400" dirty="0"/>
          </a:p>
        </p:txBody>
      </p:sp>
      <p:sp>
        <p:nvSpPr>
          <p:cNvPr id="12" name="Text 10"/>
          <p:cNvSpPr txBox="1"/>
          <p:nvPr/>
        </p:nvSpPr>
        <p:spPr>
          <a:xfrm>
            <a:off x="8308848" y="2057400"/>
            <a:ext cx="3240024" cy="4096512"/>
          </a:xfrm>
          <a:prstGeom prst="rect">
            <a:avLst/>
          </a:prstGeom>
          <a:noFill/>
          <a:ln/>
        </p:spPr>
        <p:txBody>
          <a:bodyPr wrap="square" lIns="0" tIns="0" rIns="0" bIns="0" rtlCol="0" anchor="t"/>
          <a:lstStyle/>
          <a:p>
            <a:pPr marL="0" indent="0">
              <a:buNone/>
            </a:pPr>
            <a:r>
              <a:rPr lang="en-US" sz="1600" dirty="0">
                <a:solidFill>
                  <a:srgbClr val="1F2933"/>
                </a:solidFill>
                <a:latin typeface="Calibri" pitchFamily="34" charset="0"/>
                <a:ea typeface="Calibri" pitchFamily="34" charset="-122"/>
                <a:cs typeface="Calibri" pitchFamily="34" charset="-120"/>
              </a:rPr>
              <a:t>Government servant may be appointed to hold full additional charge of another post; charge allowance is admissible as per the rule and Government orders in force.</a:t>
            </a:r>
            <a:endParaRPr lang="en-US" sz="1600" dirty="0"/>
          </a:p>
        </p:txBody>
      </p:sp>
      <p:sp>
        <p:nvSpPr>
          <p:cNvPr id="13" name="Text 11"/>
          <p:cNvSpPr txBox="1"/>
          <p:nvPr/>
        </p:nvSpPr>
        <p:spPr>
          <a:xfrm>
            <a:off x="457200" y="6400800"/>
            <a:ext cx="11247120" cy="274320"/>
          </a:xfrm>
          <a:prstGeom prst="rect">
            <a:avLst/>
          </a:prstGeom>
          <a:noFill/>
          <a:ln/>
        </p:spPr>
        <p:txBody>
          <a:bodyPr wrap="square" lIns="0" tIns="0" rIns="0" bIns="0" rtlCol="0" anchor="ctr"/>
          <a:lstStyle/>
          <a:p>
            <a:pPr marL="0" indent="0">
              <a:buNone/>
            </a:pPr>
            <a:r>
              <a:rPr lang="en-US" sz="1000" i="1" dirty="0">
                <a:solidFill>
                  <a:srgbClr val="5B6770"/>
                </a:solidFill>
                <a:latin typeface="Calibri" pitchFamily="34" charset="0"/>
                <a:ea typeface="Calibri" pitchFamily="34" charset="-122"/>
                <a:cs typeface="Calibri" pitchFamily="34" charset="-120"/>
              </a:rPr>
              <a:t>Rule texts on this slide could not be verified online — gist only. Confirm rule numbers and wording against the latest KCSR (DPAR / Finance Dept.) before citing.</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0F4C5C"/>
                </a:solidFill>
                <a:latin typeface="Cambria" pitchFamily="34" charset="0"/>
                <a:ea typeface="Cambria" pitchFamily="34" charset="-122"/>
                <a:cs typeface="Cambria" pitchFamily="34" charset="-120"/>
              </a:rPr>
              <a:t>Audit &amp; Investigation Agencies — Legal Basis</a:t>
            </a:r>
            <a:endParaRPr lang="en-US" sz="2800" dirty="0"/>
          </a:p>
        </p:txBody>
      </p:sp>
      <p:sp>
        <p:nvSpPr>
          <p:cNvPr id="3" name="Text 1"/>
          <p:cNvSpPr txBox="1"/>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5B6770"/>
                </a:solidFill>
                <a:latin typeface="Calibri" pitchFamily="34" charset="0"/>
                <a:ea typeface="Calibri" pitchFamily="34" charset="-122"/>
                <a:cs typeface="Calibri" pitchFamily="34" charset="-120"/>
              </a:rPr>
              <a:t>Accountant General (audit) · Karnataka Lokayukta · Income Tax Department (investigation)</a:t>
            </a:r>
            <a:endParaRPr lang="en-US" sz="1400" dirty="0"/>
          </a:p>
        </p:txBody>
      </p:sp>
      <p:sp>
        <p:nvSpPr>
          <p:cNvPr id="4" name="Shape 2"/>
          <p:cNvSpPr/>
          <p:nvPr/>
        </p:nvSpPr>
        <p:spPr>
          <a:xfrm>
            <a:off x="457200" y="1371600"/>
            <a:ext cx="3605784" cy="4892040"/>
          </a:xfrm>
          <a:prstGeom prst="roundRect">
            <a:avLst>
              <a:gd name="adj" fmla="val 2029"/>
            </a:avLst>
          </a:prstGeom>
          <a:solidFill>
            <a:srgbClr val="EEF4F5"/>
          </a:solidFill>
          <a:ln w="12700">
            <a:solidFill>
              <a:srgbClr val="EEF4F5"/>
            </a:solidFill>
            <a:prstDash val="solid"/>
          </a:ln>
        </p:spPr>
      </p:sp>
      <p:sp>
        <p:nvSpPr>
          <p:cNvPr id="5" name="Text 3"/>
          <p:cNvSpPr txBox="1"/>
          <p:nvPr/>
        </p:nvSpPr>
        <p:spPr>
          <a:xfrm>
            <a:off x="640080" y="1481328"/>
            <a:ext cx="324002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Accountant General — Audit</a:t>
            </a:r>
            <a:endParaRPr lang="en-US" sz="1400" dirty="0"/>
          </a:p>
        </p:txBody>
      </p:sp>
      <p:sp>
        <p:nvSpPr>
          <p:cNvPr id="6" name="Text 4"/>
          <p:cNvSpPr txBox="1"/>
          <p:nvPr/>
        </p:nvSpPr>
        <p:spPr>
          <a:xfrm>
            <a:off x="640080" y="2057400"/>
            <a:ext cx="3240024" cy="4096512"/>
          </a:xfrm>
          <a:prstGeom prst="rect">
            <a:avLst/>
          </a:prstGeom>
          <a:noFill/>
          <a:ln/>
        </p:spPr>
        <p:txBody>
          <a:bodyPr wrap="square" lIns="0" tIns="0" rIns="0" bIns="0" rtlCol="0" anchor="t"/>
          <a:lstStyle/>
          <a:p>
            <a:pPr marL="0" indent="0">
              <a:buNone/>
            </a:pPr>
            <a:r>
              <a:rPr lang="en-US" sz="1500" dirty="0">
                <a:solidFill>
                  <a:srgbClr val="1F2933"/>
                </a:solidFill>
                <a:latin typeface="Calibri" pitchFamily="34" charset="0"/>
                <a:ea typeface="Calibri" pitchFamily="34" charset="-122"/>
                <a:cs typeface="Calibri" pitchFamily="34" charset="-120"/>
              </a:rPr>
              <a:t>Constitution of India</a:t>
            </a:r>
            <a:endParaRPr lang="en-US" sz="1500" dirty="0"/>
          </a:p>
          <a:p>
            <a:pPr marL="0" indent="0">
              <a:buNone/>
            </a:pPr>
            <a:r>
              <a:rPr lang="en-US" sz="1500" dirty="0">
                <a:solidFill>
                  <a:srgbClr val="1F2933"/>
                </a:solidFill>
                <a:latin typeface="Calibri" pitchFamily="34" charset="0"/>
                <a:ea typeface="Calibri" pitchFamily="34" charset="-122"/>
                <a:cs typeface="Calibri" pitchFamily="34" charset="-120"/>
              </a:rPr>
              <a:t>• Art. 148–151: CAG; Art. 149 duties; Art. 151 reports to Governor → Legislature</a:t>
            </a:r>
            <a:endParaRPr lang="en-US" sz="1500" dirty="0"/>
          </a:p>
          <a:p>
            <a:pPr marL="0" indent="0">
              <a:buNone/>
            </a:pPr>
            <a:endParaRPr lang="en-US" sz="1500" dirty="0"/>
          </a:p>
          <a:p>
            <a:pPr marL="0" indent="0">
              <a:buNone/>
            </a:pPr>
            <a:r>
              <a:rPr lang="en-US" sz="1500" dirty="0">
                <a:solidFill>
                  <a:srgbClr val="1F2933"/>
                </a:solidFill>
                <a:latin typeface="Calibri" pitchFamily="34" charset="0"/>
                <a:ea typeface="Calibri" pitchFamily="34" charset="-122"/>
                <a:cs typeface="Calibri" pitchFamily="34" charset="-120"/>
              </a:rPr>
              <a:t>CAG's (DPC) Act, 1971</a:t>
            </a:r>
            <a:endParaRPr lang="en-US" sz="1500" dirty="0"/>
          </a:p>
          <a:p>
            <a:pPr marL="0" indent="0">
              <a:buNone/>
            </a:pPr>
            <a:r>
              <a:rPr lang="en-US" sz="1500" dirty="0">
                <a:solidFill>
                  <a:srgbClr val="1F2933"/>
                </a:solidFill>
                <a:latin typeface="Calibri" pitchFamily="34" charset="0"/>
                <a:ea typeface="Calibri" pitchFamily="34" charset="-122"/>
                <a:cs typeface="Calibri" pitchFamily="34" charset="-120"/>
              </a:rPr>
              <a:t>• Sec. 13 – audit of expenditure</a:t>
            </a:r>
            <a:endParaRPr lang="en-US" sz="1500" dirty="0"/>
          </a:p>
          <a:p>
            <a:pPr marL="0" indent="0">
              <a:buNone/>
            </a:pPr>
            <a:r>
              <a:rPr lang="en-US" sz="1500" dirty="0">
                <a:solidFill>
                  <a:srgbClr val="1F2933"/>
                </a:solidFill>
                <a:latin typeface="Calibri" pitchFamily="34" charset="0"/>
                <a:ea typeface="Calibri" pitchFamily="34" charset="-122"/>
                <a:cs typeface="Calibri" pitchFamily="34" charset="-120"/>
              </a:rPr>
              <a:t>• Sec. 16 – audit of receipts (stamp duty &amp; registration fees)</a:t>
            </a:r>
            <a:endParaRPr lang="en-US" sz="1500" dirty="0"/>
          </a:p>
          <a:p>
            <a:pPr marL="0" indent="0">
              <a:buNone/>
            </a:pPr>
            <a:r>
              <a:rPr lang="en-US" sz="1500" dirty="0">
                <a:solidFill>
                  <a:srgbClr val="1F2933"/>
                </a:solidFill>
                <a:latin typeface="Calibri" pitchFamily="34" charset="0"/>
                <a:ea typeface="Calibri" pitchFamily="34" charset="-122"/>
                <a:cs typeface="Calibri" pitchFamily="34" charset="-120"/>
              </a:rPr>
              <a:t>• Sec. 18 – inspect offices, call for records, put questions (basis for audit objections / IRs)</a:t>
            </a:r>
            <a:endParaRPr lang="en-US" sz="1500" dirty="0"/>
          </a:p>
          <a:p>
            <a:pPr marL="0" indent="0">
              <a:buNone/>
            </a:pPr>
            <a:endParaRPr lang="en-US" sz="1500" dirty="0"/>
          </a:p>
          <a:p>
            <a:pPr marL="0" indent="0">
              <a:buNone/>
            </a:pPr>
            <a:r>
              <a:rPr lang="en-US" sz="1500" dirty="0">
                <a:solidFill>
                  <a:srgbClr val="1F2933"/>
                </a:solidFill>
                <a:latin typeface="Calibri" pitchFamily="34" charset="0"/>
                <a:ea typeface="Calibri" pitchFamily="34" charset="-122"/>
                <a:cs typeface="Calibri" pitchFamily="34" charset="-120"/>
              </a:rPr>
              <a:t>Regulations on Audit &amp; Accounts, 2007 (as amended)</a:t>
            </a:r>
            <a:endParaRPr lang="en-US" sz="1500" dirty="0"/>
          </a:p>
        </p:txBody>
      </p:sp>
      <p:sp>
        <p:nvSpPr>
          <p:cNvPr id="7" name="Shape 5"/>
          <p:cNvSpPr/>
          <p:nvPr/>
        </p:nvSpPr>
        <p:spPr>
          <a:xfrm>
            <a:off x="4291584" y="1371600"/>
            <a:ext cx="3605784" cy="4892040"/>
          </a:xfrm>
          <a:prstGeom prst="roundRect">
            <a:avLst>
              <a:gd name="adj" fmla="val 2029"/>
            </a:avLst>
          </a:prstGeom>
          <a:solidFill>
            <a:srgbClr val="EEF4F5"/>
          </a:solidFill>
          <a:ln w="12700">
            <a:solidFill>
              <a:srgbClr val="EEF4F5"/>
            </a:solidFill>
            <a:prstDash val="solid"/>
          </a:ln>
        </p:spPr>
      </p:sp>
      <p:sp>
        <p:nvSpPr>
          <p:cNvPr id="8" name="Text 6"/>
          <p:cNvSpPr txBox="1"/>
          <p:nvPr/>
        </p:nvSpPr>
        <p:spPr>
          <a:xfrm>
            <a:off x="4474464" y="1481328"/>
            <a:ext cx="324002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Karnataka Lokayukta — Investigation</a:t>
            </a:r>
            <a:endParaRPr lang="en-US" sz="1400" dirty="0"/>
          </a:p>
        </p:txBody>
      </p:sp>
      <p:sp>
        <p:nvSpPr>
          <p:cNvPr id="9" name="Text 7"/>
          <p:cNvSpPr txBox="1"/>
          <p:nvPr/>
        </p:nvSpPr>
        <p:spPr>
          <a:xfrm>
            <a:off x="4474464" y="2057400"/>
            <a:ext cx="3240024" cy="4096512"/>
          </a:xfrm>
          <a:prstGeom prst="rect">
            <a:avLst/>
          </a:prstGeom>
          <a:noFill/>
          <a:ln/>
        </p:spPr>
        <p:txBody>
          <a:bodyPr wrap="square" lIns="0" tIns="0" rIns="0" bIns="0" rtlCol="0" anchor="t"/>
          <a:lstStyle/>
          <a:p>
            <a:pPr marL="0" indent="0">
              <a:buNone/>
            </a:pPr>
            <a:r>
              <a:rPr lang="en-US" sz="1500" dirty="0">
                <a:solidFill>
                  <a:srgbClr val="1F2933"/>
                </a:solidFill>
                <a:latin typeface="Calibri" pitchFamily="34" charset="0"/>
                <a:ea typeface="Calibri" pitchFamily="34" charset="-122"/>
                <a:cs typeface="Calibri" pitchFamily="34" charset="-120"/>
              </a:rPr>
              <a:t>Karnataka Lokayukta Act, 1984</a:t>
            </a:r>
            <a:endParaRPr lang="en-US" sz="1500" dirty="0"/>
          </a:p>
          <a:p>
            <a:pPr marL="0" indent="0">
              <a:buNone/>
            </a:pPr>
            <a:r>
              <a:rPr lang="en-US" sz="1500" dirty="0">
                <a:solidFill>
                  <a:srgbClr val="1F2933"/>
                </a:solidFill>
                <a:latin typeface="Calibri" pitchFamily="34" charset="0"/>
                <a:ea typeface="Calibri" pitchFamily="34" charset="-122"/>
                <a:cs typeface="Calibri" pitchFamily="34" charset="-120"/>
              </a:rPr>
              <a:t>• Sec. 7 – matters that may be investigated</a:t>
            </a:r>
            <a:endParaRPr lang="en-US" sz="1500" dirty="0"/>
          </a:p>
          <a:p>
            <a:pPr marL="0" indent="0">
              <a:buNone/>
            </a:pPr>
            <a:r>
              <a:rPr lang="en-US" sz="1500" dirty="0">
                <a:solidFill>
                  <a:srgbClr val="1F2933"/>
                </a:solidFill>
                <a:latin typeface="Calibri" pitchFamily="34" charset="0"/>
                <a:ea typeface="Calibri" pitchFamily="34" charset="-122"/>
                <a:cs typeface="Calibri" pitchFamily="34" charset="-120"/>
              </a:rPr>
              <a:t>• Sec. 9 – complaints &amp; investigation procedure</a:t>
            </a:r>
            <a:endParaRPr lang="en-US" sz="1500" dirty="0"/>
          </a:p>
          <a:p>
            <a:pPr marL="0" indent="0">
              <a:buNone/>
            </a:pPr>
            <a:r>
              <a:rPr lang="en-US" sz="1500" dirty="0">
                <a:solidFill>
                  <a:srgbClr val="1F2933"/>
                </a:solidFill>
                <a:latin typeface="Calibri" pitchFamily="34" charset="0"/>
                <a:ea typeface="Calibri" pitchFamily="34" charset="-122"/>
                <a:cs typeface="Calibri" pitchFamily="34" charset="-120"/>
              </a:rPr>
              <a:t>• Sec. 10–11 – search, documents, civil-court powers</a:t>
            </a:r>
            <a:endParaRPr lang="en-US" sz="1500" dirty="0"/>
          </a:p>
          <a:p>
            <a:pPr marL="0" indent="0">
              <a:buNone/>
            </a:pPr>
            <a:r>
              <a:rPr lang="en-US" sz="1500" dirty="0">
                <a:solidFill>
                  <a:srgbClr val="1F2933"/>
                </a:solidFill>
                <a:latin typeface="Calibri" pitchFamily="34" charset="0"/>
                <a:ea typeface="Calibri" pitchFamily="34" charset="-122"/>
                <a:cs typeface="Calibri" pitchFamily="34" charset="-120"/>
              </a:rPr>
              <a:t>• Sec. 12 – reports / recommendations</a:t>
            </a:r>
            <a:endParaRPr lang="en-US" sz="1500" dirty="0"/>
          </a:p>
          <a:p>
            <a:pPr marL="0" indent="0">
              <a:buNone/>
            </a:pPr>
            <a:endParaRPr lang="en-US" sz="1500" dirty="0"/>
          </a:p>
          <a:p>
            <a:pPr marL="0" indent="0">
              <a:buNone/>
            </a:pPr>
            <a:r>
              <a:rPr lang="en-US" sz="1500" dirty="0">
                <a:solidFill>
                  <a:srgbClr val="1F2933"/>
                </a:solidFill>
                <a:latin typeface="Calibri" pitchFamily="34" charset="0"/>
                <a:ea typeface="Calibri" pitchFamily="34" charset="-122"/>
                <a:cs typeface="Calibri" pitchFamily="34" charset="-120"/>
              </a:rPr>
              <a:t>Lokayukta Police (criminal cases)</a:t>
            </a:r>
            <a:endParaRPr lang="en-US" sz="1500" dirty="0"/>
          </a:p>
          <a:p>
            <a:pPr marL="0" indent="0">
              <a:buNone/>
            </a:pPr>
            <a:r>
              <a:rPr lang="en-US" sz="1500" dirty="0">
                <a:solidFill>
                  <a:srgbClr val="1F2933"/>
                </a:solidFill>
                <a:latin typeface="Calibri" pitchFamily="34" charset="0"/>
                <a:ea typeface="Calibri" pitchFamily="34" charset="-122"/>
                <a:cs typeface="Calibri" pitchFamily="34" charset="-120"/>
              </a:rPr>
              <a:t>• Prevention of Corruption Act, 1988 – Sec. 7 (bribe), Sec. 13 (criminal misconduct / DA), Sec. 17 (investigation), Sec. 17A (prior approval)</a:t>
            </a:r>
            <a:endParaRPr lang="en-US" sz="1500" dirty="0"/>
          </a:p>
          <a:p>
            <a:pPr marL="0" indent="0">
              <a:buNone/>
            </a:pPr>
            <a:r>
              <a:rPr lang="en-US" sz="1500" dirty="0">
                <a:solidFill>
                  <a:srgbClr val="1F2933"/>
                </a:solidFill>
                <a:latin typeface="Calibri" pitchFamily="34" charset="0"/>
                <a:ea typeface="Calibri" pitchFamily="34" charset="-122"/>
                <a:cs typeface="Calibri" pitchFamily="34" charset="-120"/>
              </a:rPr>
              <a:t>• Procedure: BNSS, 2023 (earlier CrPC)</a:t>
            </a:r>
            <a:endParaRPr lang="en-US" sz="1500" dirty="0"/>
          </a:p>
        </p:txBody>
      </p:sp>
      <p:sp>
        <p:nvSpPr>
          <p:cNvPr id="10" name="Shape 8"/>
          <p:cNvSpPr/>
          <p:nvPr/>
        </p:nvSpPr>
        <p:spPr>
          <a:xfrm>
            <a:off x="8125968" y="1371600"/>
            <a:ext cx="3605784" cy="4892040"/>
          </a:xfrm>
          <a:prstGeom prst="roundRect">
            <a:avLst>
              <a:gd name="adj" fmla="val 2029"/>
            </a:avLst>
          </a:prstGeom>
          <a:solidFill>
            <a:srgbClr val="EEF4F5"/>
          </a:solidFill>
          <a:ln w="12700">
            <a:solidFill>
              <a:srgbClr val="EEF4F5"/>
            </a:solidFill>
            <a:prstDash val="solid"/>
          </a:ln>
        </p:spPr>
      </p:sp>
      <p:sp>
        <p:nvSpPr>
          <p:cNvPr id="11" name="Text 9"/>
          <p:cNvSpPr txBox="1"/>
          <p:nvPr/>
        </p:nvSpPr>
        <p:spPr>
          <a:xfrm>
            <a:off x="8308848" y="1481328"/>
            <a:ext cx="3240024" cy="502920"/>
          </a:xfrm>
          <a:prstGeom prst="rect">
            <a:avLst/>
          </a:prstGeom>
          <a:noFill/>
          <a:ln/>
        </p:spPr>
        <p:txBody>
          <a:bodyPr wrap="square" lIns="0" tIns="0" rIns="0" bIns="0" rtlCol="0" anchor="t"/>
          <a:lstStyle/>
          <a:p>
            <a:pPr marL="0" indent="0">
              <a:buNone/>
            </a:pPr>
            <a:r>
              <a:rPr lang="en-US" sz="1400" b="1" dirty="0">
                <a:solidFill>
                  <a:srgbClr val="E36414"/>
                </a:solidFill>
                <a:latin typeface="Calibri" pitchFamily="34" charset="0"/>
                <a:ea typeface="Calibri" pitchFamily="34" charset="-122"/>
                <a:cs typeface="Calibri" pitchFamily="34" charset="-120"/>
              </a:rPr>
              <a:t>Income Tax Department — Investigation</a:t>
            </a:r>
            <a:endParaRPr lang="en-US" sz="1400" dirty="0"/>
          </a:p>
        </p:txBody>
      </p:sp>
      <p:sp>
        <p:nvSpPr>
          <p:cNvPr id="12" name="Text 10"/>
          <p:cNvSpPr txBox="1"/>
          <p:nvPr/>
        </p:nvSpPr>
        <p:spPr>
          <a:xfrm>
            <a:off x="8308848" y="2057400"/>
            <a:ext cx="3240024" cy="4096512"/>
          </a:xfrm>
          <a:prstGeom prst="rect">
            <a:avLst/>
          </a:prstGeom>
          <a:noFill/>
          <a:ln/>
        </p:spPr>
        <p:txBody>
          <a:bodyPr wrap="square" lIns="0" tIns="0" rIns="0" bIns="0" rtlCol="0" anchor="t"/>
          <a:lstStyle/>
          <a:p>
            <a:pPr marL="0" indent="0">
              <a:buNone/>
            </a:pPr>
            <a:r>
              <a:rPr lang="en-US" sz="1500" dirty="0">
                <a:solidFill>
                  <a:srgbClr val="1F2933"/>
                </a:solidFill>
                <a:latin typeface="Calibri" pitchFamily="34" charset="0"/>
                <a:ea typeface="Calibri" pitchFamily="34" charset="-122"/>
                <a:cs typeface="Calibri" pitchFamily="34" charset="-120"/>
              </a:rPr>
              <a:t>Income-tax Act, 2025 (in force from 01.04.2026)</a:t>
            </a:r>
            <a:endParaRPr lang="en-US" sz="1500" dirty="0"/>
          </a:p>
          <a:p>
            <a:pPr marL="0" indent="0">
              <a:buNone/>
            </a:pPr>
            <a:r>
              <a:rPr lang="en-US" sz="1500" dirty="0">
                <a:solidFill>
                  <a:srgbClr val="1F2933"/>
                </a:solidFill>
                <a:latin typeface="Calibri" pitchFamily="34" charset="0"/>
                <a:ea typeface="Calibri" pitchFamily="34" charset="-122"/>
                <a:cs typeface="Calibri" pitchFamily="34" charset="-120"/>
              </a:rPr>
              <a:t>• Sec. 247 – search &amp; seizure (old Sec. 132)</a:t>
            </a:r>
            <a:endParaRPr lang="en-US" sz="1500" dirty="0"/>
          </a:p>
          <a:p>
            <a:pPr marL="0" indent="0">
              <a:buNone/>
            </a:pPr>
            <a:endParaRPr lang="en-US" sz="1500" dirty="0"/>
          </a:p>
          <a:p>
            <a:pPr marL="0" indent="0">
              <a:buNone/>
            </a:pPr>
            <a:r>
              <a:rPr lang="en-US" sz="1500" dirty="0">
                <a:solidFill>
                  <a:srgbClr val="1F2933"/>
                </a:solidFill>
                <a:latin typeface="Calibri" pitchFamily="34" charset="0"/>
                <a:ea typeface="Calibri" pitchFamily="34" charset="-122"/>
                <a:cs typeface="Calibri" pitchFamily="34" charset="-120"/>
              </a:rPr>
              <a:t>Income-tax Act, 1961 (earlier years; check new numbering)</a:t>
            </a:r>
            <a:endParaRPr lang="en-US" sz="1500" dirty="0"/>
          </a:p>
          <a:p>
            <a:pPr marL="0" indent="0">
              <a:buNone/>
            </a:pPr>
            <a:r>
              <a:rPr lang="en-US" sz="1500" dirty="0">
                <a:solidFill>
                  <a:srgbClr val="1F2933"/>
                </a:solidFill>
                <a:latin typeface="Calibri" pitchFamily="34" charset="0"/>
                <a:ea typeface="Calibri" pitchFamily="34" charset="-122"/>
                <a:cs typeface="Calibri" pitchFamily="34" charset="-120"/>
              </a:rPr>
              <a:t>• Sec. 131 – summons, calling for records</a:t>
            </a:r>
            <a:endParaRPr lang="en-US" sz="1500" dirty="0"/>
          </a:p>
          <a:p>
            <a:pPr marL="0" indent="0">
              <a:buNone/>
            </a:pPr>
            <a:r>
              <a:rPr lang="en-US" sz="1500" dirty="0">
                <a:solidFill>
                  <a:srgbClr val="1F2933"/>
                </a:solidFill>
                <a:latin typeface="Calibri" pitchFamily="34" charset="0"/>
                <a:ea typeface="Calibri" pitchFamily="34" charset="-122"/>
                <a:cs typeface="Calibri" pitchFamily="34" charset="-120"/>
              </a:rPr>
              <a:t>• Sec. 133 – power to call for information</a:t>
            </a:r>
            <a:endParaRPr lang="en-US" sz="1500" dirty="0"/>
          </a:p>
          <a:p>
            <a:pPr marL="0" indent="0">
              <a:buNone/>
            </a:pPr>
            <a:r>
              <a:rPr lang="en-US" sz="1500" dirty="0">
                <a:solidFill>
                  <a:srgbClr val="1F2933"/>
                </a:solidFill>
                <a:latin typeface="Calibri" pitchFamily="34" charset="0"/>
                <a:ea typeface="Calibri" pitchFamily="34" charset="-122"/>
                <a:cs typeface="Calibri" pitchFamily="34" charset="-120"/>
              </a:rPr>
              <a:t>• Sec. 133A – survey</a:t>
            </a:r>
            <a:endParaRPr lang="en-US" sz="1500" dirty="0"/>
          </a:p>
          <a:p>
            <a:pPr marL="0" indent="0">
              <a:buNone/>
            </a:pPr>
            <a:r>
              <a:rPr lang="en-US" sz="1500" dirty="0">
                <a:solidFill>
                  <a:srgbClr val="1F2933"/>
                </a:solidFill>
                <a:latin typeface="Calibri" pitchFamily="34" charset="0"/>
                <a:ea typeface="Calibri" pitchFamily="34" charset="-122"/>
                <a:cs typeface="Calibri" pitchFamily="34" charset="-120"/>
              </a:rPr>
              <a:t>• Sec. 285BA r/w Rule 114E – SFT: Sub-Registrars report property registrations ≥ ₹30 lakh</a:t>
            </a:r>
            <a:endParaRPr lang="en-US" sz="1500" dirty="0"/>
          </a:p>
        </p:txBody>
      </p:sp>
      <p:sp>
        <p:nvSpPr>
          <p:cNvPr id="13" name="Text 11"/>
          <p:cNvSpPr txBox="1"/>
          <p:nvPr/>
        </p:nvSpPr>
        <p:spPr>
          <a:xfrm>
            <a:off x="457200" y="6400800"/>
            <a:ext cx="11247120" cy="274320"/>
          </a:xfrm>
          <a:prstGeom prst="rect">
            <a:avLst/>
          </a:prstGeom>
          <a:noFill/>
          <a:ln/>
        </p:spPr>
        <p:txBody>
          <a:bodyPr wrap="square" lIns="0" tIns="0" rIns="0" bIns="0" rtlCol="0" anchor="ctr"/>
          <a:lstStyle/>
          <a:p>
            <a:pPr marL="0" indent="0">
              <a:buNone/>
            </a:pPr>
            <a:r>
              <a:rPr lang="en-US" sz="1000" i="1" dirty="0">
                <a:solidFill>
                  <a:srgbClr val="5B6770"/>
                </a:solidFill>
                <a:latin typeface="Calibri" pitchFamily="34" charset="0"/>
                <a:ea typeface="Calibri" pitchFamily="34" charset="-122"/>
                <a:cs typeface="Calibri" pitchFamily="34" charset="-120"/>
              </a:rPr>
              <a:t>CAG Act, Lokayukta Act &amp; PC Act section numbers not verified against official texts — confirm before citing. IT Act 2025 numbering (other than Sec. 247) to be checked.</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2115</Words>
  <Application>Microsoft Office PowerPoint</Application>
  <PresentationFormat>Widescreen</PresentationFormat>
  <Paragraphs>144</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Cambria</vt:lpstr>
      <vt:lpstr>Nirmala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Administrator</cp:lastModifiedBy>
  <cp:revision>1</cp:revision>
  <dcterms:created xsi:type="dcterms:W3CDTF">2026-09-30T10:51:56Z</dcterms:created>
  <dcterms:modified xsi:type="dcterms:W3CDTF">2026-09-30T13:15:45Z</dcterms:modified>
</cp:coreProperties>
</file>