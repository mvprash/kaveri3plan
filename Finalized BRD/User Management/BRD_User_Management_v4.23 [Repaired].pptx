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napToObjects="1">
      <p:cViewPr varScale="1">
        <p:scale>
          <a:sx n="114" d="100"/>
          <a:sy n="114" d="100"/>
        </p:scale>
        <p:origin x="4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68957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Walkthrough of the User Management BRD v4.23 for the KAVERI 3.0 platform. v4.23 is a consistency-review pass over v4.18: it renumbers Functional Requirements as Section 4 (closing the historical Section 2/5 gap) and folds in the authentication and lifecycle changes made in v4.19-v4.22. Every diagram in this deck is redrawn as native shapes from the BRD's own process and structure tables.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 User Master and one Role Master. Category drives the creation path, the authentication factors and the eligible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1481328"/>
            <a:ext cx="10058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89B3C"/>
                </a:solidFill>
                <a:latin typeface="Segoe UI"/>
              </a:rPr>
              <a:t>KAVERI 3.0  ·  DEPARTMENT OF STAMPS AND REGISTRATION, GOVERNMENT OF KARNATAKA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103120"/>
            <a:ext cx="108813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Segoe UI"/>
              </a:rPr>
              <a:t>Business Requirements Document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306324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 i="0">
                <a:solidFill>
                  <a:srgbClr val="9EC4E4"/>
                </a:solidFill>
                <a:latin typeface="Segoe UI"/>
              </a:rPr>
              <a:t>User Management Module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1560" y="3840480"/>
            <a:ext cx="192024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51560" y="4224528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C8D7E6"/>
                </a:solidFill>
                <a:latin typeface="Segoe UI"/>
              </a:rPr>
              <a:t>Identity  ·  Passwordless authentication  ·  Aadhaar e-KYC  ·  Sanctioned post occupancy  ·  RBAC  ·  Officer 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534924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A9BCCE"/>
                </a:solidFill>
                <a:latin typeface="Segoe UI"/>
              </a:rPr>
              <a:t>Document BRD-K3-UM-001   |   Version 4.23   |   08 September 2026
Author: Nandha Kumar (Business Analyst)   |   Status: In review — pending Domain Expert sign-off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C6B7B"/>
                </a:solidFill>
                <a:latin typeface="Segoe UI"/>
              </a:rPr>
              <a:t>A walkthrough of BRD-K3-UM-001 v4.23. Every diagram in this deck is redrawn from the BRD's own process step tables and structure rules — not a picture of the .drawio export.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231136"/>
            <a:ext cx="11057839" cy="4032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6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600" b="1">
                <a:solidFill>
                  <a:srgbClr val="0B2545"/>
                </a:solidFill>
                <a:latin typeface="Segoe UI"/>
              </a:rPr>
              <a:t>1.  </a:t>
            </a:r>
            <a:r>
              <a:rPr sz="1600">
                <a:solidFill>
                  <a:srgbClr val="1F2A37"/>
                </a:solidFill>
                <a:latin typeface="Segoe UI"/>
              </a:rPr>
              <a:t>Introduction, scope and business objectives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6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600" b="1">
                <a:solidFill>
                  <a:srgbClr val="0B2545"/>
                </a:solidFill>
                <a:latin typeface="Segoe UI"/>
              </a:rPr>
              <a:t>2.  </a:t>
            </a:r>
            <a:r>
              <a:rPr sz="1600">
                <a:solidFill>
                  <a:srgbClr val="1F2A37"/>
                </a:solidFill>
                <a:latin typeface="Segoe UI"/>
              </a:rPr>
              <a:t>Identity and passwordless authentication — Citizens, DSR Officers, Other Department users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6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600" b="1">
                <a:solidFill>
                  <a:srgbClr val="0B2545"/>
                </a:solidFill>
                <a:latin typeface="Segoe UI"/>
              </a:rPr>
              <a:t>3.  </a:t>
            </a:r>
            <a:r>
              <a:rPr sz="1600">
                <a:solidFill>
                  <a:srgbClr val="1F2A37"/>
                </a:solidFill>
                <a:latin typeface="Segoe UI"/>
              </a:rPr>
              <a:t>Posts, roles and role-based access control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6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600" b="1">
                <a:solidFill>
                  <a:srgbClr val="0B2545"/>
                </a:solidFill>
                <a:latin typeface="Segoe UI"/>
              </a:rPr>
              <a:t>4.  </a:t>
            </a:r>
            <a:r>
              <a:rPr sz="1600">
                <a:solidFill>
                  <a:srgbClr val="1F2A37"/>
                </a:solidFill>
                <a:latin typeface="Segoe UI"/>
              </a:rPr>
              <a:t>DSR Officer lifecycle — creation, transfer, occupancy and temporary absence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6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600" b="1">
                <a:solidFill>
                  <a:srgbClr val="0B2545"/>
                </a:solidFill>
                <a:latin typeface="Segoe UI"/>
              </a:rPr>
              <a:t>5.  </a:t>
            </a:r>
            <a:r>
              <a:rPr sz="1600">
                <a:solidFill>
                  <a:srgbClr val="1F2A37"/>
                </a:solidFill>
                <a:latin typeface="Segoe UI"/>
              </a:rPr>
              <a:t>Non-functional requirements, reporting, acceptance and sign-off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BRD-K3-UM-001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Document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72768"/>
          <a:ext cx="11057838" cy="44256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1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162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Field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Value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Document ID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BRD-K3-UM-001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Version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4.23  (08 September 2026)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Status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In review — pending Domain Expert sign-off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Module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User Management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Author (BA)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Nandha Kumar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Product Owner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Prashanth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Domain expert / reviewer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Prabhakar Naik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Target audience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Kaveri IT Cell, Department of Stamps and Registration, Government of Karnataka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Legal basis (primary)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IT Act 2000; Indian Registration Act 1908 (Sub-Registrar appointment); Aadhaar Act 2016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State rules (primary)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Karnataka e-Governance hosting/security norms; MeitY / CERT-In / STQC / GIGW; GOs for office/post creation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REVISION HISTORY — V4.19 TO V4.23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What's changed since v4.18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4690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 b="1">
                <a:solidFill>
                  <a:srgbClr val="0B2545"/>
                </a:solidFill>
                <a:latin typeface="Segoe UI"/>
              </a:rPr>
              <a:t>Authentication —  </a:t>
            </a:r>
            <a:r>
              <a:rPr sz="1350">
                <a:solidFill>
                  <a:srgbClr val="1F2A37"/>
                </a:solidFill>
                <a:latin typeface="Segoe UI"/>
              </a:rPr>
              <a:t>DSR Officers now authenticate with Username (KGID) + Captcha + Face authentication or Biometrics only — no OTP (FR-UM-006). Other Department users drop biometrics and stay OTP-only (FR-UM-007).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 b="1">
                <a:solidFill>
                  <a:srgbClr val="0B2545"/>
                </a:solidFill>
                <a:latin typeface="Segoe UI"/>
              </a:rPr>
              <a:t>Identity proofing —  </a:t>
            </a:r>
            <a:r>
              <a:rPr sz="1350">
                <a:solidFill>
                  <a:srgbClr val="1F2A37"/>
                </a:solidFill>
                <a:latin typeface="Segoe UI"/>
              </a:rPr>
              <a:t>Aadhaar e-KYC is mandatory for Citizen self-registration and lost-mobile reset (FR-UM-085); the five security questions are retired (FR-UM-055).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 b="1">
                <a:solidFill>
                  <a:srgbClr val="0B2545"/>
                </a:solidFill>
                <a:latin typeface="Segoe UI"/>
              </a:rPr>
              <a:t>Contact recovery —  </a:t>
            </a:r>
            <a:r>
              <a:rPr sz="1350">
                <a:solidFill>
                  <a:srgbClr val="1F2A37"/>
                </a:solidFill>
                <a:latin typeface="Segoe UI"/>
              </a:rPr>
              <a:t>DSR Officers can now change their own registered mobile after login, OTP-verified, with no administrator involved (FR-UM-086). Other Department mobile changes remain administrator-only.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 b="1">
                <a:solidFill>
                  <a:srgbClr val="0B2545"/>
                </a:solidFill>
                <a:latin typeface="Segoe UI"/>
              </a:rPr>
              <a:t>Usernames —  </a:t>
            </a:r>
            <a:r>
              <a:rPr sz="1350">
                <a:solidFill>
                  <a:srgbClr val="1F2A37"/>
                </a:solidFill>
                <a:latin typeface="Segoe UI"/>
              </a:rPr>
              <a:t>Other Department Username is now Department Code + Employee ID/KGID, not KGID alone (FR-UM-062, FR-UM-064).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 b="1">
                <a:solidFill>
                  <a:srgbClr val="0B2545"/>
                </a:solidFill>
                <a:latin typeface="Segoe UI"/>
              </a:rPr>
              <a:t>Session policy tightened —  </a:t>
            </a:r>
            <a:r>
              <a:rPr sz="1350">
                <a:solidFill>
                  <a:srgbClr val="1F2A37"/>
                </a:solidFill>
                <a:latin typeface="Segoe UI"/>
              </a:rPr>
              <a:t>OTP resend cooldown 60s (was 30s); idle timeout 10 minutes (was 15); absolute session 4 hours (was 8) — FR-UM-072, FR-UM-074, FR-UM-075.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 b="1">
                <a:solidFill>
                  <a:srgbClr val="0B2545"/>
                </a:solidFill>
                <a:latin typeface="Segoe UI"/>
              </a:rPr>
              <a:t>Transfer In simplified —  </a:t>
            </a:r>
            <a:r>
              <a:rPr sz="1350">
                <a:solidFill>
                  <a:srgbClr val="1F2A37"/>
                </a:solidFill>
                <a:latin typeface="Segoe UI"/>
              </a:rPr>
              <a:t>Joining Date and the reserved/future-dated path are retired (FR-UM-061, FR-UM-067); Transfer In now takes effect immediately once capacity is available (FR-UM-060).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 b="1">
                <a:solidFill>
                  <a:srgbClr val="0B2545"/>
                </a:solidFill>
                <a:latin typeface="Segoe UI"/>
              </a:rPr>
              <a:t>Section numbering —  </a:t>
            </a:r>
            <a:r>
              <a:rPr sz="1350">
                <a:solidFill>
                  <a:srgbClr val="1F2A37"/>
                </a:solidFill>
                <a:latin typeface="Segoe UI"/>
              </a:rPr>
              <a:t>v4.23 closes the historical Section 2/5 gap: Functional Requirements move from Section 6 to Section 4; NFR / Reporting / Acceptance / Risks / Glossary / Approval renumber 5-10.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1828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 i="0">
                <a:solidFill>
                  <a:srgbClr val="1D4E80"/>
                </a:solidFill>
                <a:latin typeface="Segoe U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615184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Introduction and Scope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3529584"/>
            <a:ext cx="146304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0" y="3840480"/>
            <a:ext cx="8366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 i="0">
                <a:solidFill>
                  <a:srgbClr val="B6C9DA"/>
                </a:solidFill>
                <a:latin typeface="Segoe UI"/>
              </a:rPr>
              <a:t>Why the module exists, what it replaces, and where its boundaries lie.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41908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5E82A6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SECTIONS 1.1 – 1.2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Purpose and background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5300319" cy="3840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655064"/>
            <a:ext cx="502599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PURPOSE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176272"/>
            <a:ext cx="5300319" cy="4087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Defines the business requirements for the KAVERI 3.0 User Management module.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Covers identity, passwordless authentication, sanctioned post occupancy, RBAC and officer lifecycle.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Applies to Citizens, DSR Officers and Other Department users.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Is the agreed basis for design, development, testing and sign-off.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4447" y="1572768"/>
            <a:ext cx="5300319" cy="3840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89039" y="1655064"/>
            <a:ext cx="502599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BACKGROUND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2176272"/>
            <a:ext cx="5300319" cy="4087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KAVERI 3.0 needs one platform service for users, roles, posts and module access.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Replaces fragmented Kaveri 2.0 user administration.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One User Master and one Role Master — no separate stores per category.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No passwords anywhere; OTP for Citizens/Other Department, Face/Biometrics for DSR Officers; Application Admin maintains privilege mapping.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1.3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C6B7B"/>
                </a:solidFill>
                <a:latin typeface="Segoe UI"/>
              </a:rPr>
              <a:t>In scope for the User Management module: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231136"/>
            <a:ext cx="11057839" cy="4032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5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500">
                <a:solidFill>
                  <a:srgbClr val="1F2A37"/>
                </a:solidFill>
                <a:latin typeface="Segoe UI"/>
              </a:rPr>
              <a:t>User registration and profile management for Citizens, DSR Officers and Other Department users (single User Master).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5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500">
                <a:solidFill>
                  <a:srgbClr val="1F2A37"/>
                </a:solidFill>
                <a:latin typeface="Segoe UI"/>
              </a:rPr>
              <a:t>Passwordless authentication, session policy, Citizen lost-mobile reset, DSR post selection and additional charge (§4.2–4.5).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5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500">
                <a:solidFill>
                  <a:srgbClr val="1F2A37"/>
                </a:solidFill>
                <a:latin typeface="Segoe UI"/>
              </a:rPr>
              <a:t>Unified Role Master; Posts and Sanctioned Posts masters; office and officer hierarchies; RBAC via Module, Function and Resource mapping (§4.5).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5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500">
                <a:solidFill>
                  <a:srgbClr val="1F2A37"/>
                </a:solidFill>
                <a:latin typeface="Segoe UI"/>
              </a:rPr>
              <a:t>DSR lifecycle: post assignment, Transfer Out / In, occupancy refresh, Temporary Absence and Temporary Charge (§4.6).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5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500">
                <a:solidFill>
                  <a:srgbClr val="1F2A37"/>
                </a:solidFill>
                <a:latin typeface="Segoe UI"/>
              </a:rPr>
              <a:t>Administrative user management, audit logging and reporting (§4.7–6).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Business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4690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50">
                <a:solidFill>
                  <a:srgbClr val="1F2A37"/>
                </a:solidFill>
                <a:latin typeface="Segoe UI"/>
              </a:rPr>
              <a:t>Provide a secure and reliable mechanism for users to register and access the system.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50">
                <a:solidFill>
                  <a:srgbClr val="1F2A37"/>
                </a:solidFill>
                <a:latin typeface="Segoe UI"/>
              </a:rPr>
              <a:t>Enable administrators to manage user accounts and access rights efficiently.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50">
                <a:solidFill>
                  <a:srgbClr val="1F2A37"/>
                </a:solidFill>
                <a:latin typeface="Segoe UI"/>
              </a:rPr>
              <a:t>Enforce role-based access control to protect sensitive data and functionality.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50">
                <a:solidFill>
                  <a:srgbClr val="1F2A37"/>
                </a:solidFill>
                <a:latin typeface="Segoe UI"/>
              </a:rPr>
              <a:t>Maintain the DSR Officer Hierarchy Master aligned to the departmental organisation chart.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50">
                <a:solidFill>
                  <a:srgbClr val="1F2A37"/>
                </a:solidFill>
                <a:latin typeface="Segoe UI"/>
              </a:rPr>
              <a:t>Support Module Function and Resource masters with Role–Module–Function mapping and runtime enforcement.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50">
                <a:solidFill>
                  <a:srgbClr val="1F2A37"/>
                </a:solidFill>
                <a:latin typeface="Segoe UI"/>
              </a:rPr>
              <a:t>Reduce support overhead on account access issues through reliable OTP delivery.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50">
                <a:solidFill>
                  <a:srgbClr val="1F2A37"/>
                </a:solidFill>
                <a:latin typeface="Segoe UI"/>
              </a:rPr>
              <a:t>Ensure compliance with organisational security and data privacy policies.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50">
                <a:solidFill>
                  <a:srgbClr val="1F2A37"/>
                </a:solidFill>
                <a:latin typeface="Segoe UI"/>
              </a:rPr>
              <a:t>Provide auditability of user actions for security and compliance reporting.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SCALE OF THE SPECIFICATION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The module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9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37360"/>
            <a:ext cx="2531287" cy="1755648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737360"/>
            <a:ext cx="2531287" cy="4318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8096" y="2048256"/>
            <a:ext cx="212895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B2545"/>
                </a:solidFill>
                <a:latin typeface="Segoe UI"/>
              </a:rPr>
              <a:t>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761488"/>
            <a:ext cx="2128951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C6B7B"/>
                </a:solidFill>
                <a:latin typeface="Segoe UI"/>
              </a:rPr>
              <a:t>Active functional requirements (5 formally retired)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09111" y="1737360"/>
            <a:ext cx="2531287" cy="1755648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409111" y="1737360"/>
            <a:ext cx="2531287" cy="4318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10279" y="2048256"/>
            <a:ext cx="212895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0279" y="2761488"/>
            <a:ext cx="2128951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C6B7B"/>
                </a:solidFill>
                <a:latin typeface="Segoe UI"/>
              </a:rPr>
              <a:t>User categories in a single User Master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1295" y="1737360"/>
            <a:ext cx="2531287" cy="1755648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51295" y="1737360"/>
            <a:ext cx="2531287" cy="4318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52463" y="2048256"/>
            <a:ext cx="212895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B2545"/>
                </a:solidFill>
                <a:latin typeface="Segoe UI"/>
              </a:rPr>
              <a:t>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52463" y="2761488"/>
            <a:ext cx="2128951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C6B7B"/>
                </a:solidFill>
                <a:latin typeface="Segoe UI"/>
              </a:rPr>
              <a:t>Approved process and structure diagrams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93479" y="1737360"/>
            <a:ext cx="2531287" cy="1755648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93479" y="1737360"/>
            <a:ext cx="2531287" cy="4318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294647" y="2048256"/>
            <a:ext cx="212895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B2545"/>
                </a:solidFill>
                <a:latin typeface="Segoe UI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4647" y="2761488"/>
            <a:ext cx="2128951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C6B7B"/>
                </a:solidFill>
                <a:latin typeface="Segoe UI"/>
              </a:rPr>
              <a:t>Business modules under the Module Master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803904"/>
            <a:ext cx="2531287" cy="1755648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66928" y="3803904"/>
            <a:ext cx="2531287" cy="4318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8096" y="4114800"/>
            <a:ext cx="212895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B2545"/>
                </a:solidFill>
                <a:latin typeface="Segoe UI"/>
              </a:rPr>
              <a:t>40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4828032"/>
            <a:ext cx="2128951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C6B7B"/>
                </a:solidFill>
                <a:latin typeface="Segoe UI"/>
              </a:rPr>
              <a:t>Posts in the Posts Master across 8 divisions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09111" y="3803904"/>
            <a:ext cx="2531287" cy="1755648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409111" y="3803904"/>
            <a:ext cx="2531287" cy="4318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610279" y="4114800"/>
            <a:ext cx="212895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B2545"/>
                </a:solidFill>
                <a:latin typeface="Segoe UI"/>
              </a:rPr>
              <a:t>56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0279" y="4828032"/>
            <a:ext cx="2128951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C6B7B"/>
                </a:solidFill>
                <a:latin typeface="Segoe UI"/>
              </a:rPr>
              <a:t>Seed roles — 6 Citizen, 10 Other Department, 40 DSR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51295" y="3803904"/>
            <a:ext cx="2531287" cy="1755648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251295" y="3803904"/>
            <a:ext cx="2531287" cy="4318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52463" y="4114800"/>
            <a:ext cx="212895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B2545"/>
                </a:solidFill>
                <a:latin typeface="Segoe UI"/>
              </a:rPr>
              <a:t>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52463" y="4828032"/>
            <a:ext cx="2128951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C6B7B"/>
                </a:solidFill>
                <a:latin typeface="Segoe UI"/>
              </a:rPr>
              <a:t>Passwords stored — OTP / Face-Biometric only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093479" y="3803904"/>
            <a:ext cx="2531287" cy="1755648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9093479" y="3803904"/>
            <a:ext cx="2531287" cy="4318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9294647" y="4114800"/>
            <a:ext cx="2128951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0B2545"/>
                </a:solidFill>
                <a:latin typeface="Segoe UI"/>
              </a:rPr>
              <a:t>7 yrs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94647" y="4828032"/>
            <a:ext cx="2128951" cy="6035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5C6B7B"/>
                </a:solidFill>
                <a:latin typeface="Segoe UI"/>
              </a:rPr>
              <a:t>Minimum audit-log retention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5961888"/>
            <a:ext cx="1105783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1">
                <a:solidFill>
                  <a:srgbClr val="5C6B7B"/>
                </a:solidFill>
                <a:latin typeface="Segoe UI"/>
              </a:rPr>
              <a:t>Counts taken from BRD v4.23. FR-UM-001–FR-UM-087 issued; FR-UM-015, 031, 055, 061 and 067 are formally retired. Detailed requirement text remains authoritative in Section 4 of the document.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Stakeholders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5C6B7B"/>
                </a:solidFill>
                <a:latin typeface="Segoe UI"/>
              </a:rPr>
              <a:t>Product Owner (Prashanth) and Domain Expert (Prabhakar Naik) sign off the document — see Document control.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121408"/>
          <a:ext cx="11057838" cy="219456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89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3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746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Name / Role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Department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Responsibility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Kaveri IT Cell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Engineering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Reviews technical feasibility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Citizens (Public users)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External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Self-register and access citizen portal services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DSR Officers &amp; Other Department users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Government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Access departmental modules via OTP (Other Department) or Captcha + Face/Biometric authentication (DSR Officers — no OTP)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1828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 i="0">
                <a:solidFill>
                  <a:srgbClr val="1D4E80"/>
                </a:solidFill>
                <a:latin typeface="Segoe U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615184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Identity and Authentication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3529584"/>
            <a:ext cx="146304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0" y="3840480"/>
            <a:ext cx="8366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 i="0">
                <a:solidFill>
                  <a:srgbClr val="B6C9DA"/>
                </a:solidFill>
                <a:latin typeface="Segoe UI"/>
              </a:rPr>
              <a:t>One User Master, three categories, and no passwords anywhere in the platform.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41908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5E82A6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4.5.2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Three user categories, one User Master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5C6B7B"/>
                </a:solidFill>
                <a:latin typeface="Segoe UI"/>
              </a:rPr>
              <a:t>Differentiation is by User Category on users and Role Category on roles — there are no separate masters per category.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121408"/>
          <a:ext cx="11057836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22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722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36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348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6012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User category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Username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Authentication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Lost-mobile / contact reset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Public (Citizen)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Preferred Username chosen at registration (FR-UM-062)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Username + Captcha + OTP to mobile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Aadhaar e-KYC + PIN to registered email + OTP to new mobile — no security questions (FR-UM-056, FR-UM-085)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DSR Officer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KGID (FR-UM-062, FR-UM-064)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Username (KGID) + Captcha + Face authentication or Biometrics — no OTP (FR-UM-006), then post selection (FR-UM-052)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Self-service after login — OTP-verified mobile change, no administrator needed (FR-UM-086)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Other Department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Department Code + Employee ID/KGID (FR-UM-062, FR-UM-064)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Username + Captcha + OTP to mobile — no biometrics (FR-UM-007)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Not available — administrator changes the mobile with reason and audit (FR-UM-065)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4.5.1  ·  S-01 ACCESS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How identity resolves to 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709928"/>
            <a:ext cx="1783080" cy="56692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" y="1709928"/>
            <a:ext cx="156362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PUBLIC (CITIZEN)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78024" y="1709928"/>
            <a:ext cx="2176957" cy="566928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00" b="0">
                <a:solidFill>
                  <a:srgbClr val="1F2A37"/>
                </a:solidFill>
                <a:latin typeface="Segoe UI"/>
              </a:rPr>
              <a:t>User Category = Citizen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664125" y="1920240"/>
            <a:ext cx="128016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801285" y="1709928"/>
            <a:ext cx="2176957" cy="566928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00" b="0">
                <a:solidFill>
                  <a:srgbClr val="1F2A37"/>
                </a:solidFill>
                <a:latin typeface="Segoe UI"/>
              </a:rPr>
              <a:t>Citizen role(s) from Role Master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6987387" y="1920240"/>
            <a:ext cx="128016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7124547" y="1709928"/>
            <a:ext cx="2176957" cy="566928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00" b="0">
                <a:solidFill>
                  <a:srgbClr val="1F2A37"/>
                </a:solidFill>
                <a:latin typeface="Segoe UI"/>
              </a:rPr>
              <a:t>Session claims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551176"/>
            <a:ext cx="1783080" cy="56692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6656" y="2551176"/>
            <a:ext cx="156362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DSR OFFICER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478024" y="2551176"/>
            <a:ext cx="2176957" cy="566928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00" b="0">
                <a:solidFill>
                  <a:srgbClr val="1F2A37"/>
                </a:solidFill>
                <a:latin typeface="Segoe UI"/>
              </a:rPr>
              <a:t>User Category = DSR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664125" y="2761488"/>
            <a:ext cx="128016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801285" y="2551176"/>
            <a:ext cx="2176957" cy="566928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00" b="0">
                <a:solidFill>
                  <a:srgbClr val="1F2A37"/>
                </a:solidFill>
                <a:latin typeface="Segoe UI"/>
              </a:rPr>
              <a:t>Post occupancy (Post + Office)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6987387" y="2761488"/>
            <a:ext cx="128016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7124547" y="2551176"/>
            <a:ext cx="2176957" cy="566928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00" b="0">
                <a:solidFill>
                  <a:srgbClr val="1F2A37"/>
                </a:solidFill>
                <a:latin typeface="Segoe UI"/>
              </a:rPr>
              <a:t>Post–Role mapping — FR-UM-052 selects one post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310649" y="2761488"/>
            <a:ext cx="128016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447809" y="2551176"/>
            <a:ext cx="2176957" cy="566928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00" b="0">
                <a:solidFill>
                  <a:srgbClr val="1F2A37"/>
                </a:solidFill>
                <a:latin typeface="Segoe UI"/>
              </a:rPr>
              <a:t>Session claims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92424"/>
            <a:ext cx="1783080" cy="56692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76656" y="3392424"/>
            <a:ext cx="1563624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 i="0">
                <a:solidFill>
                  <a:srgbClr val="FFFFFF"/>
                </a:solidFill>
                <a:latin typeface="Segoe UI"/>
              </a:rPr>
              <a:t>OTHER DEPARTMENT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78024" y="3392424"/>
            <a:ext cx="2176957" cy="566928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00" b="0">
                <a:solidFill>
                  <a:srgbClr val="1F2A37"/>
                </a:solidFill>
                <a:latin typeface="Segoe UI"/>
              </a:rPr>
              <a:t>User Category = Other Dept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664125" y="3602736"/>
            <a:ext cx="128016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4801285" y="3392424"/>
            <a:ext cx="2176957" cy="566928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00" b="0">
                <a:solidFill>
                  <a:srgbClr val="1F2A37"/>
                </a:solidFill>
                <a:latin typeface="Segoe UI"/>
              </a:rPr>
              <a:t>Exactly one Role — FR-UM-029, FR-UM-034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6987387" y="3602736"/>
            <a:ext cx="128016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7124547" y="3392424"/>
            <a:ext cx="2176957" cy="566928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00" b="0">
                <a:solidFill>
                  <a:srgbClr val="1F2A37"/>
                </a:solidFill>
                <a:latin typeface="Segoe UI"/>
              </a:rPr>
              <a:t>Session claims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4279392"/>
            <a:ext cx="11057839" cy="566928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49808" y="4389120"/>
            <a:ext cx="10692079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C6B7B"/>
                </a:solidFill>
                <a:latin typeface="Segoe UI"/>
              </a:rPr>
              <a:t>The Username is the single unique login identifier across the whole User Master (FR-UM-004, FR-UM-062) — email and mobile carry no uniqueness constraint. Password-based login is out of scope (FR-UM-009).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4.1.1  ·  P-01 CITIZEN SELF-REGISTRATION  ·  FR-UM-001, FR-UM-062, FR-UM-063, FR-UM-085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Citizen self-registration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14</a:t>
            </a:r>
          </a:p>
        </p:txBody>
      </p:sp>
      <p:sp>
        <p:nvSpPr>
          <p:cNvPr id="8" name="Oval 7"/>
          <p:cNvSpPr/>
          <p:nvPr/>
        </p:nvSpPr>
        <p:spPr>
          <a:xfrm>
            <a:off x="1434967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Open registration; enter name — instant self-registration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41335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83111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5071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Choose preferred Username; system checks availability across the User Master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9479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931255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3215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Enter email address and mobile number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37623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179399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1359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System dispatches a separate OTP to the email and to the mobile</a:t>
            </a:r>
          </a:p>
        </p:txBody>
      </p:sp>
      <p:sp>
        <p:nvSpPr>
          <p:cNvPr id="19" name="Oval 18"/>
          <p:cNvSpPr/>
          <p:nvPr/>
        </p:nvSpPr>
        <p:spPr>
          <a:xfrm>
            <a:off x="1434967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7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Enter both OTPs — email and mobile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641335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683111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15071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Complete mandatory Aadhaar e-KYC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889479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931255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63215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Save — account created, Citizen role assigned; no security questions anywhere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535424"/>
            <a:ext cx="11057839" cy="1728216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8096" y="4654296"/>
            <a:ext cx="1065550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545"/>
                </a:solidFill>
                <a:latin typeface="Segoe UI"/>
              </a:rPr>
              <a:t>KEY CHARACTERISTICS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4919472"/>
            <a:ext cx="10655503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C6B7B"/>
                </a:solidFill>
                <a:latin typeface="Segoe UI"/>
              </a:rPr>
              <a:t>No approval workflow. Email and mobile are each OTP-verified and Aadhaar e-KYC must also succeed before the account is created — the five security questions are retired (FR-UM-055).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4.5.2.1  ·  P-02 LOGIN (ALL CATEGORIES)  ·  FR-UM-004–FR-UM-007, FR-UM-010, FR-UM-011, FR-UM-062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Login across all categories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15</a:t>
            </a:r>
          </a:p>
        </p:txBody>
      </p:sp>
      <p:sp>
        <p:nvSpPr>
          <p:cNvPr id="8" name="Oval 7"/>
          <p:cNvSpPr/>
          <p:nvPr/>
        </p:nvSpPr>
        <p:spPr>
          <a:xfrm>
            <a:off x="1434967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Enter Username + Captcha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41335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83111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5071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Validate Captcha; look up the account by Username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9479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931255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3215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Dispatch login OTP to the registered mobile — Citizens and Other Department only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37623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179399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1359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Citizen/Other Dept enter OTP; DSR completes Face authentication or Biometrics — no OTP</a:t>
            </a:r>
          </a:p>
        </p:txBody>
      </p:sp>
      <p:sp>
        <p:nvSpPr>
          <p:cNvPr id="19" name="Oval 18"/>
          <p:cNvSpPr/>
          <p:nvPr/>
        </p:nvSpPr>
        <p:spPr>
          <a:xfrm>
            <a:off x="1434967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7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Citizen who cannot receive the OTP leaves login for lost-mobile reset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641335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683111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15071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On success, enter home under the assigned post (DSR selects post first — FR-UM-052)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889479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931255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63215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After login, Citizen or DSR may update their mobile from profile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535424"/>
            <a:ext cx="11057839" cy="1728216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8096" y="4654296"/>
            <a:ext cx="1065550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545"/>
                </a:solidFill>
                <a:latin typeface="Segoe UI"/>
              </a:rPr>
              <a:t>KEY CHARACTERISTICS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4919472"/>
            <a:ext cx="10655503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C6B7B"/>
                </a:solidFill>
                <a:latin typeface="Segoe UI"/>
              </a:rPr>
              <a:t>The account resolves from the Username alone — no category selector is shown. DSR Officers authenticate with Captcha + Face/Biometrics only; the login OTP is never sent to email (FR-UM-010).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4.5.2.2  ·  P-03 CITIZEN LOST-MOBILE RESET  ·  FR-UM-056, FR-UM-085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Citizen lost-mobile reset — Aadhaar e-KYC plus PIN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16</a:t>
            </a:r>
          </a:p>
        </p:txBody>
      </p:sp>
      <p:sp>
        <p:nvSpPr>
          <p:cNvPr id="8" name="Oval 7"/>
          <p:cNvSpPr/>
          <p:nvPr/>
        </p:nvSpPr>
        <p:spPr>
          <a:xfrm>
            <a:off x="1434967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Choose “Lost / changed mobile number” — Citizens only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41335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83111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5071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Enter Username + Captcha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9479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931255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3215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System initiates Aadhaar e-KYC for identity verification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37623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179399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1359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Complete Aadhaar e-KYC successfully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385767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427543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59503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System sends a single-use, time-limited PIN to the registered email</a:t>
            </a:r>
          </a:p>
        </p:txBody>
      </p:sp>
      <p:sp>
        <p:nvSpPr>
          <p:cNvPr id="22" name="Oval 21"/>
          <p:cNvSpPr/>
          <p:nvPr/>
        </p:nvSpPr>
        <p:spPr>
          <a:xfrm>
            <a:off x="1434967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7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Enter the PIN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641335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683111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15071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Enter the new mobile number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889479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931255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63215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System sends an OTP to the new mobile; enter it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137623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179399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1359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Mobile updated; registered email notified; audit logged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9385767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427543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10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59503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Continue login with OTP to the new mobile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535424"/>
            <a:ext cx="11057839" cy="1728216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68096" y="4654296"/>
            <a:ext cx="1065550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545"/>
                </a:solidFill>
                <a:latin typeface="Segoe UI"/>
              </a:rPr>
              <a:t>KEY CHARACTERISTICS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" y="4919472"/>
            <a:ext cx="10655503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C6B7B"/>
                </a:solidFill>
                <a:latin typeface="Segoe UI"/>
              </a:rPr>
              <a:t>Two independent proofs — a successful Aadhaar e-KYC and a single-use email PIN — are required before the mobile may change; the new number is itself OTP-verified. Security questions are retired.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4.5.2.3  ·  P-04 DEPARTMENTAL MOBILE CHANGE  ·  FR-UM-065, FR-UM-086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Mobile number change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17</a:t>
            </a:r>
          </a:p>
        </p:txBody>
      </p:sp>
      <p:sp>
        <p:nvSpPr>
          <p:cNvPr id="8" name="Oval 7"/>
          <p:cNvSpPr/>
          <p:nvPr/>
        </p:nvSpPr>
        <p:spPr>
          <a:xfrm>
            <a:off x="1434967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User reports a lost/changed mobile — DSR Officers use self-service instead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41335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83111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5071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Administrator locates the Other Department user by Username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9479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931255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3215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Administrator enters the new mobile number and a mandatory reason</a:t>
            </a:r>
          </a:p>
        </p:txBody>
      </p:sp>
      <p:sp>
        <p:nvSpPr>
          <p:cNvPr id="16" name="Oval 15"/>
          <p:cNvSpPr/>
          <p:nvPr/>
        </p:nvSpPr>
        <p:spPr>
          <a:xfrm>
            <a:off x="1434967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7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System verifies the new number by OTP before saving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641335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683111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15071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Save — mobile updated; audit-logged; user notified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889479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931255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63215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User logs in with the updated mobile (Other Dept: OTP · DSR: Face/Biometrics)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535424"/>
            <a:ext cx="11057839" cy="1728216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8096" y="4654296"/>
            <a:ext cx="1065550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545"/>
                </a:solidFill>
                <a:latin typeface="Segoe UI"/>
              </a:rPr>
              <a:t>KEY CHARACTERISTICS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919472"/>
            <a:ext cx="10655503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C6B7B"/>
                </a:solidFill>
                <a:latin typeface="Segoe UI"/>
              </a:rPr>
              <a:t>DSR Officers can now change their own mobile after login — OTP-verified, no administrator required (FR-UM-086). Other Department users still have no self-service path (FR-UM-065).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FR-UM-069 – FR-UM-076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OTP and session policy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5C6B7B"/>
                </a:solidFill>
                <a:latin typeface="Segoe UI"/>
              </a:rPr>
              <a:t>Applies to every user category. The 10-minute idle timeout and 4-hour session cap matter most on shared SRO counter machines, where the session post is fixed for the whole session.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121408"/>
          <a:ext cx="11057837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1985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1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77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Control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Rule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Requirement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Login OTP validity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5 minutes from dispatch (IST)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FR-UM-069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Registration OTP / reset PIN validity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10 minutes from dispatch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FR-UM-069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Code length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6 numeric digits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FR-UM-070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Incorrect entries per code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Maximum 3, then the code is invalidated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FR-UM-071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Resend cooldown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60 seconds; maximum 3 resends per channel per 15 minutes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FR-UM-072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Failed-login lockout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5 failures lock the Username for 15 minutes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FR-UM-073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Idle timeout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10 minutes of inactivity ends the session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FR-UM-074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Absolute session limit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4 hours from login, even if the user is active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FR-UM-075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Concurrent sessions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One per Username — last login wins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FR-UM-076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1828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 i="0">
                <a:solidFill>
                  <a:srgbClr val="1D4E80"/>
                </a:solidFill>
                <a:latin typeface="Segoe U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615184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Posts, Roles and Access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3529584"/>
            <a:ext cx="146304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0" y="3840480"/>
            <a:ext cx="8366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 i="0">
                <a:solidFill>
                  <a:srgbClr val="B6C9DA"/>
                </a:solidFill>
                <a:latin typeface="Segoe UI"/>
              </a:rPr>
              <a:t>Access follows the post an officer occupies — not a privilege attached to the person.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41908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5E82A6"/>
                </a:solidFill>
                <a:latin typeface="Segoe U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4.5.2.4  ·  P-05 DSR LOGIN POST SELECTION  ·  FR-UM-052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DSR Officer post selection at login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20</a:t>
            </a:r>
          </a:p>
        </p:txBody>
      </p:sp>
      <p:sp>
        <p:nvSpPr>
          <p:cNvPr id="8" name="Oval 7"/>
          <p:cNvSpPr/>
          <p:nvPr/>
        </p:nvSpPr>
        <p:spPr>
          <a:xfrm>
            <a:off x="1434967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Authenticate — Username (KGID) + Captcha + Face/Biometrics, no OTP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41335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83111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5071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Load active post occupancies (relieved posts excluded)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9479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931255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3215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One active post auto-selects; two or more show a mandatory list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37623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179399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1359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Each option labelled Role — Post Name — Office Name (Office Code)</a:t>
            </a:r>
          </a:p>
        </p:txBody>
      </p:sp>
      <p:sp>
        <p:nvSpPr>
          <p:cNvPr id="19" name="Oval 18"/>
          <p:cNvSpPr/>
          <p:nvPr/>
        </p:nvSpPr>
        <p:spPr>
          <a:xfrm>
            <a:off x="1434967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7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Officer selects exactly one assigned post and confirms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641335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683111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15071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Module Function claims resolve from the assigned post; enter home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889479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931255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63215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Home/header displays the assigned Post with mapped Role(s)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535424"/>
            <a:ext cx="11057839" cy="1728216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68096" y="4654296"/>
            <a:ext cx="1065550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545"/>
                </a:solidFill>
                <a:latin typeface="Segoe UI"/>
              </a:rPr>
              <a:t>KEY CHARACTERISTICS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4919472"/>
            <a:ext cx="10655503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C6B7B"/>
                </a:solidFill>
                <a:latin typeface="Segoe UI"/>
              </a:rPr>
              <a:t>Mandatory only when more than one occupancy is active. Claims derive from the selected post alone via Post–Role mapping — never from the union of other posts the officer holds.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4.5.2.5  ·  P-06 ADDITIONAL CHARGE AFTER LOGIN  ·  FR-UM-053, FR-UM-054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Additional charge of an unoccupied subordinate post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21</a:t>
            </a:r>
          </a:p>
        </p:txBody>
      </p:sp>
      <p:sp>
        <p:nvSpPr>
          <p:cNvPr id="8" name="Oval 7"/>
          <p:cNvSpPr/>
          <p:nvPr/>
        </p:nvSpPr>
        <p:spPr>
          <a:xfrm>
            <a:off x="1434967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Officer is logged in under the assigned Post + Office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41335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83111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5071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Opens “Additional charge” from the header — post-login only, no logout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9479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931255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3215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System reads Hierarchy Master children of the assigned post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37623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179399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1359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Lists wholly unoccupied subordinate posts (cascade rule)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385767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427543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59503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Shows Role + Post options, plus “clear additional charge”</a:t>
            </a:r>
          </a:p>
        </p:txBody>
      </p:sp>
      <p:sp>
        <p:nvSpPr>
          <p:cNvPr id="22" name="Oval 21"/>
          <p:cNvSpPr/>
          <p:nvPr/>
        </p:nvSpPr>
        <p:spPr>
          <a:xfrm>
            <a:off x="1434967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7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Officer selects a post, switches back, or clears — one context at a time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641335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683111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15071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Module Function claims recompute for the active context only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889479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931255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63215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Header updates to show assigned post + active context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137623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179399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1359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Selection or reversion is audit-logged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535424"/>
            <a:ext cx="11057839" cy="1728216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8096" y="4654296"/>
            <a:ext cx="1065550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545"/>
                </a:solidFill>
                <a:latin typeface="Segoe UI"/>
              </a:rPr>
              <a:t>KEY CHARACTERISTICS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" y="4919472"/>
            <a:ext cx="10655503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C6B7B"/>
                </a:solidFill>
                <a:latin typeface="Segoe UI"/>
              </a:rPr>
              <a:t>A subordinate post qualifies only when wholly unoccupied (Occupied = 0); any occupant blocks both the post and the cascade beneath it. A Sub-Registrar acting as FDA loses SR signing until switch-back.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4.5.3  ·  S-02 TWO VACANCY TESTS  ·  FR-UM-066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Two distinct vacancy tests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5277459" cy="4005072"/>
          </a:xfrm>
          <a:prstGeom prst="rect">
            <a:avLst/>
          </a:prstGeom>
          <a:solidFill>
            <a:srgbClr val="FFFFFF"/>
          </a:solidFill>
          <a:ln w="13970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5277459" cy="4572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572768"/>
            <a:ext cx="491169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(a)  Available capacity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94560"/>
            <a:ext cx="483854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B6CA8"/>
                </a:solidFill>
                <a:latin typeface="Segoe UI"/>
              </a:rPr>
              <a:t>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450592"/>
            <a:ext cx="483854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1F2A37"/>
                </a:solidFill>
                <a:latin typeface="Segoe UI"/>
              </a:rPr>
              <a:t>Occupied &lt; Sanctioned Strength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980944"/>
            <a:ext cx="483854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B6CA8"/>
                </a:solidFill>
                <a:latin typeface="Segoe UI"/>
              </a:rPr>
              <a:t>USED FOR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236976"/>
            <a:ext cx="483854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1F2A37"/>
                </a:solidFill>
                <a:latin typeface="Segoe UI"/>
              </a:rPr>
              <a:t>Post assignment at user creation, and Transfer 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767328"/>
            <a:ext cx="483854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B6CA8"/>
                </a:solidFill>
                <a:latin typeface="Segoe UI"/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4023360"/>
            <a:ext cx="483854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1F2A37"/>
                </a:solidFill>
                <a:latin typeface="Segoe UI"/>
              </a:rPr>
              <a:t>Strength 2, Occupied 1 → has available capacity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47307" y="1572768"/>
            <a:ext cx="5277459" cy="4005072"/>
          </a:xfrm>
          <a:prstGeom prst="rect">
            <a:avLst/>
          </a:prstGeom>
          <a:solidFill>
            <a:srgbClr val="FFFFFF"/>
          </a:solidFill>
          <a:ln w="13970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47307" y="1572768"/>
            <a:ext cx="5277459" cy="4572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0187" y="1572768"/>
            <a:ext cx="491169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(b)  Wholly unoccupied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6763" y="2194560"/>
            <a:ext cx="483854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B6CA8"/>
                </a:solidFill>
                <a:latin typeface="Segoe UI"/>
              </a:rPr>
              <a:t>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6763" y="2450592"/>
            <a:ext cx="483854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1F2A37"/>
                </a:solidFill>
                <a:latin typeface="Segoe UI"/>
              </a:rPr>
              <a:t>Occupied = 0, irrespective of sanctioned strength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6763" y="2980944"/>
            <a:ext cx="483854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B6CA8"/>
                </a:solidFill>
                <a:latin typeface="Segoe UI"/>
              </a:rPr>
              <a:t>USED FOR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6763" y="3236976"/>
            <a:ext cx="483854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1F2A37"/>
                </a:solidFill>
                <a:latin typeface="Segoe UI"/>
              </a:rPr>
              <a:t>Post-login additional charge only (FR-UM-053)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6763" y="3767328"/>
            <a:ext cx="483854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B6CA8"/>
                </a:solidFill>
                <a:latin typeface="Segoe UI"/>
              </a:rPr>
              <a:t>EXAMPLE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6763" y="4023360"/>
            <a:ext cx="483854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1F2A37"/>
                </a:solidFill>
                <a:latin typeface="Segoe UI"/>
              </a:rPr>
              <a:t>Strength 2, Occupied 1 → NOT wholly unoccupied</a:t>
            </a:r>
          </a:p>
        </p:txBody>
      </p:sp>
      <p:sp>
        <p:nvSpPr>
          <p:cNvPr id="26" name="Oval 25"/>
          <p:cNvSpPr/>
          <p:nvPr/>
        </p:nvSpPr>
        <p:spPr>
          <a:xfrm>
            <a:off x="5812383" y="3291840"/>
            <a:ext cx="566928" cy="566928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0B2545"/>
                </a:solidFill>
                <a:latin typeface="Segoe UI"/>
              </a:rPr>
              <a:t>VS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5724144"/>
            <a:ext cx="11057839" cy="512064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9808" y="5815584"/>
            <a:ext cx="1069207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C6B7B"/>
                </a:solidFill>
                <a:latin typeface="Segoe UI"/>
              </a:rPr>
              <a:t>Occupied includes active occupancies only. The reserved/future-dated Transfer In path (FR-UM-061, FR-UM-067) is retired — Transfer In now requires available capacity at the time of recording.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SECTIONS 4.5.3 – 4.5.4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Role Master — DSR roles by division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5C6B7B"/>
                </a:solidFill>
                <a:latin typeface="Segoe UI"/>
              </a:rPr>
              <a:t>Divisions come from the Division Master, not free text. DIV-ADMIN (“Admin, Law &amp; Computers”) and DIV-COMPUTERS (“Computers”) are distinct divisions — v4.23 clarifies this is not a duplication.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121408"/>
          <a:ext cx="11057838" cy="3291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6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1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Division (FR-UM-077)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Roles under Role Category = DSR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Secretariat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ACS / Principal Secretary / Secretary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Top Management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IGR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Admin, Law &amp; Computers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DIGR (Admin, Law &amp; Computers), AIGR (Admin), HQA (Admin), Sub Registrar (Admin), Accountant Superintendent (Admin), FDA (Admin), SDA (Admin), Typist (Admin), HQA (RTI), FDA (RTI), SDA (RTI), Statistical Inspector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Vigilance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DIGR (Vigilance), Law Officer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Computers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AIGR (Computers), System Integrator, PMU, Application Developer, HQA / Project Manager (Comp), Sub Registrar (Computers), FDA (Computers), SDA (Computers)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Enforcement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DIGR (Enforcement), DRO, HQA (Enforcement), Sub-Registrar (SR), FDA (Enforcement), SDA (Enforcement), DEO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Intelligence &amp; Audit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DIGR (Intelligence), AIGR (Audit), HQA (Audit), Superintendent (Audit), FDA (Audit), SDA (Audit), Typist (Audit)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DIGR CVC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DIGR CVC, JD Town Planning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4.5.6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The privilege chain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 i="0">
                <a:solidFill>
                  <a:srgbClr val="5C6B7B"/>
                </a:solidFill>
                <a:latin typeface="Segoe UI"/>
              </a:rPr>
              <a:t>Access is modelled as User → Role(s) → Module Function(s) → Resource(s). DSR organisational roles are never named after application services.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2121408"/>
          <a:ext cx="11057837" cy="393192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731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60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05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01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6384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Level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Master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Maintained by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Purpose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Module Master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Application Admin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Business modules — Registration of Documents, Marriage Registration, Encumbrance Search, Certified Copy, Stamp Duty / Payments, Firm / Society Registration, User Management, MIS / Dashboards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Module Function Master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Application Admin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Functions under each module — VIEW, ADD, EDIT, APPROVE, SIGN, PRINT, APPLY, ISSUE, ADMIN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Resource Master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Application Admin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APIs and URLs linked to each Module Function, with an Is Public flag for unauthenticated endpoints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Role–Module–Function mapping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Application Admin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Which roles may perform which Module Functions; role names must match the Role Master exactly (FR-UM-050)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4.5.6  ·  S-03 RUNTIME ENFORCEMENT  ·  FR-UM-038, FR-UM-041, FR-UM-050, FR-UM-051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Runtime access enforcement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25</a:t>
            </a:r>
          </a:p>
        </p:txBody>
      </p:sp>
      <p:sp>
        <p:nvSpPr>
          <p:cNvPr id="8" name="Oval 7"/>
          <p:cNvSpPr/>
          <p:nvPr/>
        </p:nvSpPr>
        <p:spPr>
          <a:xfrm>
            <a:off x="1434967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User authenticates — Citizen/Other Dept: OTP; DSR: Face/Biometrics, no OTP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41335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83111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5071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Session role(s) load for the active context (assigned post or additional charge)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9479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931255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3215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Role–Module–Function mappings resolve into session claims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37623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179399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1359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User calls an API or opens a URL</a:t>
            </a:r>
          </a:p>
        </p:txBody>
      </p:sp>
      <p:sp>
        <p:nvSpPr>
          <p:cNvPr id="19" name="Oval 18"/>
          <p:cNvSpPr/>
          <p:nvPr/>
        </p:nvSpPr>
        <p:spPr>
          <a:xfrm>
            <a:off x="1434967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7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Resource Master is checked for the matching Type + Method + Path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641335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683111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15071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Required Module Function is obtained from the matched resource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889479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931255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63215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Allow if session claims include that function — else HTTP 403, audited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137623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179399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1359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UI hides menus/buttons for functions not in session claims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535424"/>
            <a:ext cx="11057839" cy="1728216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8096" y="4654296"/>
            <a:ext cx="1065550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545"/>
                </a:solidFill>
                <a:latin typeface="Segoe UI"/>
              </a:rPr>
              <a:t>KEY CHARACTERISTICS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" y="4919472"/>
            <a:ext cx="10655503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C6B7B"/>
                </a:solidFill>
                <a:latin typeface="Segoe UI"/>
              </a:rPr>
              <a:t>Deny by default. Only resources flagged Is Public bypass authentication; Application Admin is a system-level actor authorised for FN-UM-ADMIN outside Role–Module–Function mapping (FR-UM-051).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4.5.7  ·  S-04 OFFICER HIERARCHY TREE  ·  FR-UM-043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DSR Officer Hierarchy Master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92727" y="1709928"/>
            <a:ext cx="4206240" cy="512064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ACS / Principal Secretary / Secretary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998567" y="2276856"/>
            <a:ext cx="2194560" cy="512064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IGR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32807" y="2843784"/>
            <a:ext cx="2926080" cy="512064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DIGR (Enforcement)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32807" y="3410712"/>
            <a:ext cx="2926080" cy="512064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District Registrar (DRO)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24247" y="3977640"/>
            <a:ext cx="2743200" cy="512064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Sub-Registrar (SR)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84067" y="4544568"/>
            <a:ext cx="2651760" cy="512064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FDA (Enforcement)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5867" y="4544568"/>
            <a:ext cx="2651760" cy="512064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Data Entry Operator (DEO)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69967" y="5111496"/>
            <a:ext cx="2651760" cy="512064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SDA (Enforcement)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D4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D4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D4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D4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0" y="0"/>
            <a:ext cx="0" cy="0"/>
          </a:xfrm>
          <a:prstGeom prst="line">
            <a:avLst/>
          </a:prstGeom>
          <a:ln w="19050">
            <a:solidFill>
              <a:srgbClr val="D4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D4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D4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566928" y="5733288"/>
            <a:ext cx="11057839" cy="512064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49808" y="5824728"/>
            <a:ext cx="1069207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C6B7B"/>
                </a:solidFill>
                <a:latin typeface="Segoe UI"/>
              </a:rPr>
              <a:t>Authority is granted by immediate parentage only — IGR may act on DIGR, DIGR (Enforcement) on DRO, DRO on Sub-Registrar, SR on FDA and DEO. IGR cannot relieve a Sub-Registrar directly.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4.5.8  ·  S-05 OFFICE HIERARCHY TREE  ·  FR-UM-059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Office Hierarchy Master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27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49927" y="1709928"/>
            <a:ext cx="3291840" cy="512064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MS Building (Secretariat)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41367" y="2843784"/>
            <a:ext cx="3108960" cy="512064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IGR Office (Head Office)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5507" y="3977640"/>
            <a:ext cx="2560320" cy="512064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DRO Bengaluru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3977640"/>
            <a:ext cx="2560320" cy="512064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DRO Mysuru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46807" y="5111496"/>
            <a:ext cx="2286000" cy="512064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SRO Yeshwanthapura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52847" y="5111496"/>
            <a:ext cx="2286000" cy="512064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SRO Jayanagar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58887" y="5111496"/>
            <a:ext cx="2286000" cy="512064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SRO Mysuru East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D4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0" y="0"/>
            <a:ext cx="0" cy="0"/>
          </a:xfrm>
          <a:prstGeom prst="line">
            <a:avLst/>
          </a:prstGeom>
          <a:ln w="19050">
            <a:solidFill>
              <a:srgbClr val="D4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D4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0" y="0"/>
            <a:ext cx="0" cy="0"/>
          </a:xfrm>
          <a:prstGeom prst="line">
            <a:avLst/>
          </a:prstGeom>
          <a:ln w="19050">
            <a:solidFill>
              <a:srgbClr val="D4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D4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19050">
            <a:solidFill>
              <a:srgbClr val="D4DDE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566928" y="5733288"/>
            <a:ext cx="11057839" cy="512064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49808" y="5824728"/>
            <a:ext cx="1069207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C6B7B"/>
                </a:solidFill>
                <a:latin typeface="Segoe UI"/>
              </a:rPr>
              <a:t>Maintained separately from the Officer Hierarchy; it scopes which offices a superior can see for Transfer Out and Transfer In. MS Building is the Secretariat root — office of POST-ACS-SEC.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4.5.8  ·  S-06 SPAN VS ACTION  ·  FR-UM-057, FR-UM-059, FR-UM-043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Office span is visibility, not authority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28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5277459" cy="4005072"/>
          </a:xfrm>
          <a:prstGeom prst="rect">
            <a:avLst/>
          </a:prstGeom>
          <a:solidFill>
            <a:srgbClr val="FFFFFF"/>
          </a:solidFill>
          <a:ln w="13970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5277459" cy="4572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1572768"/>
            <a:ext cx="491169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Office span — visibility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194560"/>
            <a:ext cx="483854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B6CA8"/>
                </a:solidFill>
                <a:latin typeface="Segoe UI"/>
              </a:rPr>
              <a:t>RULE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450592"/>
            <a:ext cx="483854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1F2A37"/>
                </a:solidFill>
                <a:latin typeface="Segoe UI"/>
              </a:rPr>
              <a:t>The actor's session Office plus all descendant offices in the Office Hierarchy (FR-UM-059)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980944"/>
            <a:ext cx="483854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B6CA8"/>
                </a:solidFill>
                <a:latin typeface="Segoe UI"/>
              </a:rPr>
              <a:t>GRANTS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236976"/>
            <a:ext cx="483854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1F2A37"/>
                </a:solidFill>
                <a:latin typeface="Segoe UI"/>
              </a:rPr>
              <a:t>Visibility of occupancies in those offices — nothing more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767328"/>
            <a:ext cx="483854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B6CA8"/>
                </a:solidFill>
                <a:latin typeface="Segoe UI"/>
              </a:rPr>
              <a:t>EXAMPLE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4023360"/>
            <a:ext cx="483854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1F2A37"/>
                </a:solidFill>
                <a:latin typeface="Segoe UI"/>
              </a:rPr>
              <a:t>IGR at Head Office sees every DRO and SRO statewide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47307" y="1572768"/>
            <a:ext cx="5277459" cy="4005072"/>
          </a:xfrm>
          <a:prstGeom prst="rect">
            <a:avLst/>
          </a:prstGeom>
          <a:solidFill>
            <a:srgbClr val="FFFFFF"/>
          </a:solidFill>
          <a:ln w="13970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47307" y="1572768"/>
            <a:ext cx="5277459" cy="4572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0187" y="1572768"/>
            <a:ext cx="491169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Segoe UI"/>
              </a:rPr>
              <a:t>Immediate parent — authority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6763" y="2194560"/>
            <a:ext cx="483854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B6CA8"/>
                </a:solidFill>
                <a:latin typeface="Segoe UI"/>
              </a:rPr>
              <a:t>RULE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6763" y="2450592"/>
            <a:ext cx="483854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1F2A37"/>
                </a:solidFill>
                <a:latin typeface="Segoe UI"/>
              </a:rPr>
              <a:t>The actor's session Post must be the immediate parent of the target Post (FR-UM-043)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6763" y="2980944"/>
            <a:ext cx="483854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B6CA8"/>
                </a:solidFill>
                <a:latin typeface="Segoe UI"/>
              </a:rPr>
              <a:t>GRANTS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6763" y="3236976"/>
            <a:ext cx="483854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1F2A37"/>
                </a:solidFill>
                <a:latin typeface="Segoe UI"/>
              </a:rPr>
              <a:t>The actual right to relieve, Transfer In, or record absence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6763" y="3767328"/>
            <a:ext cx="4838547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B6CA8"/>
                </a:solidFill>
                <a:latin typeface="Segoe UI"/>
              </a:rPr>
              <a:t>EXAMPLE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6763" y="4023360"/>
            <a:ext cx="4838547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6000"/>
              </a:lnSpc>
            </a:pPr>
            <a:r>
              <a:rPr sz="1150" b="0" i="0">
                <a:solidFill>
                  <a:srgbClr val="1F2A37"/>
                </a:solidFill>
                <a:latin typeface="Segoe UI"/>
              </a:rPr>
              <a:t>DRO may act on Sub-Registrar; IGR may not — SR does not report to IGR</a:t>
            </a:r>
          </a:p>
        </p:txBody>
      </p:sp>
      <p:sp>
        <p:nvSpPr>
          <p:cNvPr id="26" name="Oval 25"/>
          <p:cNvSpPr/>
          <p:nvPr/>
        </p:nvSpPr>
        <p:spPr>
          <a:xfrm>
            <a:off x="5812383" y="3291840"/>
            <a:ext cx="566928" cy="566928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300" b="1">
                <a:solidFill>
                  <a:srgbClr val="0B2545"/>
                </a:solidFill>
                <a:latin typeface="Segoe UI"/>
              </a:rPr>
              <a:t>VS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5724144"/>
            <a:ext cx="11057839" cy="512064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9808" y="5815584"/>
            <a:ext cx="10692079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5C6B7B"/>
                </a:solidFill>
                <a:latin typeface="Segoe UI"/>
              </a:rPr>
              <a:t>Both tests must pass. Seeing a descendant office in the tree does not grant authority over the posts in it.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1828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 i="0">
                <a:solidFill>
                  <a:srgbClr val="1D4E80"/>
                </a:solidFill>
                <a:latin typeface="Segoe U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615184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Officer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3529584"/>
            <a:ext cx="146304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0" y="3840480"/>
            <a:ext cx="8366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 i="0">
                <a:solidFill>
                  <a:srgbClr val="B6C9DA"/>
                </a:solidFill>
                <a:latin typeface="Segoe UI"/>
              </a:rPr>
              <a:t>Creation, transfer, the midnight occupancy refresh, and temporary absence — Transfer In now takes effect immediately.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41908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5E82A6"/>
                </a:solidFill>
                <a:latin typeface="Segoe U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4.6.1  ·  P-07 DSR OFFICER USER CREATION  ·  FR-UM-002, FR-UM-017, FR-UM-030, FR-UM-045–048, FR-UM-062, FR-UM-066(A)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DSR Officer creation with post assignment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30</a:t>
            </a:r>
          </a:p>
        </p:txBody>
      </p:sp>
      <p:sp>
        <p:nvSpPr>
          <p:cNvPr id="8" name="Oval 7"/>
          <p:cNvSpPr/>
          <p:nvPr/>
        </p:nvSpPr>
        <p:spPr>
          <a:xfrm>
            <a:off x="1434967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Open “Add DSR Department User” — authorised admin only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41335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83111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5071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Enter KGID (becomes the Username) + particulars — no email, no security questions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9479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931255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3215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Assign one or more sanctioned posts with available capacity — at least one required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37623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179399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1359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System shows roles available via Post–Role mapping for each post</a:t>
            </a:r>
          </a:p>
        </p:txBody>
      </p:sp>
      <p:sp>
        <p:nvSpPr>
          <p:cNvPr id="19" name="Oval 18"/>
          <p:cNvSpPr/>
          <p:nvPr/>
        </p:nvSpPr>
        <p:spPr>
          <a:xfrm>
            <a:off x="1434967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7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Upload approval letter — recommended, not mandatory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2641335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3683111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15071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Capture face authentication template or biometrics — mandatory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889479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5931255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63215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Review post occupancies and mapped roles; confirm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137623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179399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1359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Save — account active; occupied count updated per assigned post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535424"/>
            <a:ext cx="11057839" cy="1728216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68096" y="4654296"/>
            <a:ext cx="1065550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545"/>
                </a:solidFill>
                <a:latin typeface="Segoe UI"/>
              </a:rPr>
              <a:t>KEY CHARACTERISTICS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8096" y="4919472"/>
            <a:ext cx="10655503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C6B7B"/>
                </a:solidFill>
                <a:latin typeface="Segoe UI"/>
              </a:rPr>
              <a:t>No optional End Date or Deputation Reason is captured at creation (removed v4.19) — later movement uses Transfer Out / Transfer In instead (FR-UM-057, FR-UM-060).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4.6.2  ·  P-08 OTHER DEPARTMENT USER CREATION  ·  FR-UM-003, FR-UM-029, FR-UM-033, FR-UM-034, FR-UM-062, FR-UM-064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Other Department user creation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31</a:t>
            </a:r>
          </a:p>
        </p:txBody>
      </p:sp>
      <p:sp>
        <p:nvSpPr>
          <p:cNvPr id="8" name="Oval 7"/>
          <p:cNvSpPr/>
          <p:nvPr/>
        </p:nvSpPr>
        <p:spPr>
          <a:xfrm>
            <a:off x="1434967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Open “Add Other Department User” — authorised admin only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41335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83111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5071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Enter Employee ID/KGID + Department Code — Username = Dept Code + ID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9479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931255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3215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Enter parent department, designation, official email, mobile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37623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179399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1359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Assign exactly one role (Role Category = Other Department)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385767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427543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59503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Optionally enter Account End Date</a:t>
            </a:r>
          </a:p>
        </p:txBody>
      </p:sp>
      <p:sp>
        <p:nvSpPr>
          <p:cNvPr id="22" name="Oval 21"/>
          <p:cNvSpPr/>
          <p:nvPr/>
        </p:nvSpPr>
        <p:spPr>
          <a:xfrm>
            <a:off x="1434967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7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Upload authorisation letter / NOC — recommended, not mandatory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641335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683111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15071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Review role and End Date; confirm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889479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931255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63215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Save — account active with module access for the assigned role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137623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179399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1359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If End Date is reached — deactivate user; block login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535424"/>
            <a:ext cx="11057839" cy="1728216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8096" y="4654296"/>
            <a:ext cx="1065550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545"/>
                </a:solidFill>
                <a:latin typeface="Segoe UI"/>
              </a:rPr>
              <a:t>KEY CHARACTERISTICS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" y="4919472"/>
            <a:ext cx="10655503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C6B7B"/>
                </a:solidFill>
                <a:latin typeface="Segoe UI"/>
              </a:rPr>
              <a:t>Biometrics are not required for this category — Other Department authenticates with Username + Captcha + OTP only (FR-UM-007). No security questions are captured (no self-service reset).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4.6.3  ·  P-09 TRANSFER OUT / RELIEVING  ·  FR-UM-057, FR-UM-058, FR-UM-059, FR-UM-043, FR-UM-068, FR-UM-087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Transfer Out and relieving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32</a:t>
            </a:r>
          </a:p>
        </p:txBody>
      </p:sp>
      <p:sp>
        <p:nvSpPr>
          <p:cNvPr id="8" name="Oval 7"/>
          <p:cNvSpPr/>
          <p:nvPr/>
        </p:nvSpPr>
        <p:spPr>
          <a:xfrm>
            <a:off x="1434967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Open Transfer Out / Relieving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41335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83111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5071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System lists only offices in the actor's office span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9479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931255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3215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Within those, lists occupancies where the actor's post is immediate parent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37623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179399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1359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Superior selects the officer / post occupancy to relieve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385767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427543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59503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Enter Relieving Date, mandatory Relieving Reason, and Relieving Order</a:t>
            </a:r>
          </a:p>
        </p:txBody>
      </p:sp>
      <p:sp>
        <p:nvSpPr>
          <p:cNvPr id="22" name="Oval 21"/>
          <p:cNvSpPr/>
          <p:nvPr/>
        </p:nvSpPr>
        <p:spPr>
          <a:xfrm>
            <a:off x="1434967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7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Confirm relieving — audit-logged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641335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683111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15071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Occupancy remains active through the Relieving Date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889479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931255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63215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Midnight job after the Relieving Date de-allocates the mapping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137623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179399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1359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If no post occupancies remain — login is blocked/limited until reassigned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535424"/>
            <a:ext cx="11057839" cy="1728216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8096" y="4654296"/>
            <a:ext cx="1065550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545"/>
                </a:solidFill>
                <a:latin typeface="Segoe UI"/>
              </a:rPr>
              <a:t>KEY CHARACTERISTICS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" y="4919472"/>
            <a:ext cx="10655503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C6B7B"/>
                </a:solidFill>
                <a:latin typeface="Segoe UI"/>
              </a:rPr>
              <a:t>Relieving Reason is now mandatory — Deputation, Transfer, Suspension, Superannuation or Death (FR-UM-087) — alongside Relieving Date and Order.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4.6.4  ·  P-10 TRANSFER IN  ·  FR-UM-060, FR-UM-066(A)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Transfer In — immediate, capacity-gated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33</a:t>
            </a:r>
          </a:p>
        </p:txBody>
      </p:sp>
      <p:sp>
        <p:nvSpPr>
          <p:cNvPr id="8" name="Oval 7"/>
          <p:cNvSpPr/>
          <p:nvPr/>
        </p:nvSpPr>
        <p:spPr>
          <a:xfrm>
            <a:off x="1434967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Open Transfer In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41335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83111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5071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System lists offices in the actor's office span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9479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931255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3215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Select target Post + Office where the actor's post is immediate parent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37623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179399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1359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Proceed only if available capacity; block if at full strength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385767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427543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59503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Select / identify the officer being transferred in</a:t>
            </a:r>
          </a:p>
        </p:txBody>
      </p:sp>
      <p:sp>
        <p:nvSpPr>
          <p:cNvPr id="22" name="Oval 21"/>
          <p:cNvSpPr/>
          <p:nvPr/>
        </p:nvSpPr>
        <p:spPr>
          <a:xfrm>
            <a:off x="1434967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7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Enter Transfer Order / Reporting Order — mandatory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641335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683111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15071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Confirm — occupancy active immediately; occupied count +1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889479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931255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63215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Officer may select the post at the very next login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137623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179399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1359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Occupancy refresh job handles relieving de-allocation only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535424"/>
            <a:ext cx="11057839" cy="1728216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8096" y="4654296"/>
            <a:ext cx="1065550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545"/>
                </a:solidFill>
                <a:latin typeface="Segoe UI"/>
              </a:rPr>
              <a:t>KEY CHARACTERISTICS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" y="4919472"/>
            <a:ext cx="10655503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C6B7B"/>
                </a:solidFill>
                <a:latin typeface="Segoe UI"/>
              </a:rPr>
              <a:t>Transfer In no longer captures a Joining Date — the reserved/future-dated path is retired (FR-UM-061, FR-UM-067). A post at full strength blocks Transfer In until relieving frees capacity.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4.6.4  ·  P-12 HANDOVER TIMELINE  ·  DRO BENGALURU → SRO YESHWANTHAPURA, RELIEVING DATE 31-AUG-2026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Worked example — relieving then Transfer In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34</a:t>
            </a:r>
          </a:p>
        </p:txBody>
      </p:sp>
      <p:sp>
        <p:nvSpPr>
          <p:cNvPr id="8" name="Oval 7"/>
          <p:cNvSpPr/>
          <p:nvPr/>
        </p:nvSpPr>
        <p:spPr>
          <a:xfrm>
            <a:off x="1434967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Relieving Date entered &amp; confirmed (Day 0)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41335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83111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5071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Relieving Date ends — post still usable that day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9479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931255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3215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Midnight refresh job de-allocates the mapping</a:t>
            </a:r>
          </a:p>
        </p:txBody>
      </p:sp>
      <p:sp>
        <p:nvSpPr>
          <p:cNvPr id="16" name="Oval 15"/>
          <p:cNvSpPr/>
          <p:nvPr/>
        </p:nvSpPr>
        <p:spPr>
          <a:xfrm>
            <a:off x="1434967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7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Capacity freed — Transfer In now allowed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641335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683111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15071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Transfer In recorded — occupancy active immediately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889479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931255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63215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New officer selects the post at next login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535424"/>
            <a:ext cx="11057839" cy="1728216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8096" y="4654296"/>
            <a:ext cx="1065550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545"/>
                </a:solidFill>
                <a:latin typeface="Segoe UI"/>
              </a:rPr>
              <a:t>KEY CHARACTERISTICS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919472"/>
            <a:ext cx="10655503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C6B7B"/>
                </a:solidFill>
                <a:latin typeface="Segoe UI"/>
              </a:rPr>
              <a:t>There is no reservation against a future relieving — Transfer In of the incoming officer cannot be recorded while the post remains at full strength. IGR at Head Office cannot perform this Transfer In: Sub-Registrar does not report immediately to IGR.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4.6.5  ·  P-11 OCCUPANCY REFRESH JOB  ·  FR-UM-068 — IDEMPOTENT, RUNS SHORTLY AFTER 12:00 AM 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The midnight occupancy refresh job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35</a:t>
            </a:r>
          </a:p>
        </p:txBody>
      </p:sp>
      <p:sp>
        <p:nvSpPr>
          <p:cNvPr id="8" name="Oval 7"/>
          <p:cNvSpPr/>
          <p:nvPr/>
        </p:nvSpPr>
        <p:spPr>
          <a:xfrm>
            <a:off x="1434967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Job starts shortly after 12:00 AM IST — idempotent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41335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83111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5071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De-allocates occupancies whose Relieving Date ended the previous day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9479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931255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3215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Recalculates occupied count, capacity and the wholly-unoccupied flag</a:t>
            </a:r>
          </a:p>
        </p:txBody>
      </p:sp>
      <p:sp>
        <p:nvSpPr>
          <p:cNvPr id="16" name="Oval 15"/>
          <p:cNvSpPr/>
          <p:nvPr/>
        </p:nvSpPr>
        <p:spPr>
          <a:xfrm>
            <a:off x="1434967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7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Refreshes each officer's effective post assignments for login selection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2641335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3683111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15071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Writes an occupancy-refresh audit record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4889479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931255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63215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On failure — raises an operational alert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535424"/>
            <a:ext cx="11057839" cy="1728216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68096" y="4654296"/>
            <a:ext cx="1065550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545"/>
                </a:solidFill>
                <a:latin typeface="Segoe UI"/>
              </a:rPr>
              <a:t>KEY CHARACTERISTICS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919472"/>
            <a:ext cx="10655503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C6B7B"/>
                </a:solidFill>
                <a:latin typeface="Segoe UI"/>
              </a:rPr>
              <a:t>No reserved Transfer In activation step and no optional End Date processing remain in this job — both were retired in v4.19/v4.20. Transfer In itself now takes effect immediately when recorded.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4.6.6  ·  P-13 TEMPORARY ABSENCE AND TEMPORARY CHARGE  ·  FR-UM-079 – FR-UM-084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Temporary absence — Leave, OOD and cover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36</a:t>
            </a:r>
          </a:p>
        </p:txBody>
      </p:sp>
      <p:sp>
        <p:nvSpPr>
          <p:cNvPr id="8" name="Oval 7"/>
          <p:cNvSpPr/>
          <p:nvPr/>
        </p:nvSpPr>
        <p:spPr>
          <a:xfrm>
            <a:off x="1434967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7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Superior opens Temporary Absence / Leave / OOD — not officer self-service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41335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683111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15071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System lists office span, then occupancies with immediate-parent post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89479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931255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63215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Select occupancy; enter type, reason code, from/to dates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37623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179399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1359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Confirm absence — Occupied remains unchanged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385767" y="2327148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427543" y="1755648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59503" y="1920240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From from_date — login is denied for the absent Username</a:t>
            </a:r>
          </a:p>
        </p:txBody>
      </p:sp>
      <p:sp>
        <p:nvSpPr>
          <p:cNvPr id="22" name="Oval 21"/>
          <p:cNvSpPr/>
          <p:nvPr/>
        </p:nvSpPr>
        <p:spPr>
          <a:xfrm>
            <a:off x="1434967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7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Optionally assign Temporary Charge to another subordinate (any office)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2641335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683111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815071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Cover officer authenticates; sees own posts + Temporary charge row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889479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931255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8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63215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Cover officer selects Temporary charge — claims from covered post only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7137623" y="3689604"/>
            <a:ext cx="164592" cy="146304"/>
          </a:xfrm>
          <a:prstGeom prst="rightArrow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179399" y="3118104"/>
            <a:ext cx="329184" cy="329184"/>
          </a:xfrm>
          <a:prstGeom prst="ellipse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B2545"/>
                </a:solidFill>
                <a:latin typeface="Segoe UI"/>
              </a:rPr>
              <a:t>9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1359" y="3282696"/>
            <a:ext cx="2065263" cy="960120"/>
          </a:xfrm>
          <a:prstGeom prst="round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>
              <a:lnSpc>
                <a:spcPct val="102000"/>
              </a:lnSpc>
            </a:pPr>
            <a:r>
              <a:rPr sz="1050" b="0">
                <a:solidFill>
                  <a:srgbClr val="1F2A37"/>
                </a:solidFill>
                <a:latin typeface="Segoe UI"/>
              </a:rPr>
              <a:t>After to_date — absence and charge clear; absentee may log in again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4535424"/>
            <a:ext cx="11057839" cy="1728216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68096" y="4654296"/>
            <a:ext cx="10655503" cy="2194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2545"/>
                </a:solidFill>
                <a:latin typeface="Segoe UI"/>
              </a:rPr>
              <a:t>KEY CHARACTERISTICS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6" y="4919472"/>
            <a:ext cx="10655503" cy="1234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C6B7B"/>
                </a:solidFill>
                <a:latin typeface="Segoe UI"/>
              </a:rPr>
              <a:t>Absence does not free the slot — Transfer In must not treat the post as vacant. While an effective absence exists the officer's login is blocked entirely (distinct from FR-UM-053 additional charge).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51560" y="2331720"/>
            <a:ext cx="18288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600" b="1" i="0">
                <a:solidFill>
                  <a:srgbClr val="1D4E80"/>
                </a:solidFill>
                <a:latin typeface="Segoe U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615184"/>
            <a:ext cx="8595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Segoe UI"/>
              </a:rPr>
              <a:t>Quality, Reporting and Sign-off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3529584"/>
            <a:ext cx="146304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0" y="3840480"/>
            <a:ext cx="836676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450" b="0" i="0">
                <a:solidFill>
                  <a:srgbClr val="B6C9DA"/>
                </a:solidFill>
                <a:latin typeface="Segoe UI"/>
              </a:rPr>
              <a:t>Non-functional requirements, reports, acceptance criteria and open risks.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41908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5E82A6"/>
                </a:solidFill>
                <a:latin typeface="Segoe U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5 — 24 REQUIREMENTS ACROSS 6 CATEGORIES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Non-functional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38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572768"/>
            <a:ext cx="5300319" cy="3840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655064"/>
            <a:ext cx="502599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SECURITY AND PERFORMANCE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176272"/>
            <a:ext cx="5300319" cy="4087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No password storage anywhere; DSR Officers authenticate with Captcha + Face/Biometrics only — no OTP; Citizens and Other Department use OTP to mobile only.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TLS 1.2 or higher for all data in transit; DSR biometric/face data and Citizen Aadhaar e-KYC both comply with the Aadhaar Act 2016 and UIDAI / MeitY norms.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OTP dispatch within 5 seconds; login completes within 2 seconds after OTP or face/biometric verification.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Minimum 500 concurrent authenticated sessions at launch, validated in performance testing with Kaveri IT Cell.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4447" y="1572768"/>
            <a:ext cx="5300319" cy="384048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89039" y="1655064"/>
            <a:ext cx="5025999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Segoe UI"/>
              </a:rPr>
              <a:t>AVAILABILITY, AUDIT AND COMPLIANCE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447" y="2176272"/>
            <a:ext cx="5300319" cy="4087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The occupancy refresh job completes shortly after midnight so relieving is reflected before the first login of the day; failure raises an operational alert.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Disaster recovery targets RPO ≤ 24 hours and RTO ≤ 4 hours.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All create/update/delete, login, mobile/email change, Aadhaar e-KYC, Transfer Out/In and occupancy-refresh actions are audit-logged with timestamp and actor.</a:t>
            </a:r>
          </a:p>
          <a:p>
            <a:pPr>
              <a:lnSpc>
                <a:spcPct val="116000"/>
              </a:lnSpc>
              <a:spcAft>
                <a:spcPts val="8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>
                <a:solidFill>
                  <a:srgbClr val="1F2A37"/>
                </a:solidFill>
                <a:latin typeface="Segoe UI"/>
              </a:rPr>
              <a:t>Audit logs retained for at least 7 years; bilingual Kannada/English citizen UI, GIGW accessibility, India data residency, DPDP Act 2023 compliance.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Reporting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4690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00">
                <a:solidFill>
                  <a:srgbClr val="1F2A37"/>
                </a:solidFill>
                <a:latin typeface="Segoe UI"/>
              </a:rPr>
              <a:t>Active, inactive and suspended users; role and permission assignments across all users.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00">
                <a:solidFill>
                  <a:srgbClr val="1F2A37"/>
                </a:solidFill>
                <a:latin typeface="Segoe UI"/>
              </a:rPr>
              <a:t>Audit log of login attempts, successful and failed, over a selected date range.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00">
                <a:solidFill>
                  <a:srgbClr val="1F2A37"/>
                </a:solidFill>
                <a:latin typeface="Segoe UI"/>
              </a:rPr>
              <a:t>Sanctioned post occupancy — sanctioned strength, occupied count, remaining capacity and wholly-unoccupied flag per office (FR-UM-066).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00">
                <a:solidFill>
                  <a:srgbClr val="1F2A37"/>
                </a:solidFill>
                <a:latin typeface="Segoe UI"/>
              </a:rPr>
              <a:t>Role-to-Module mapping showing which modules and functions each role holds.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00">
                <a:solidFill>
                  <a:srgbClr val="1F2A37"/>
                </a:solidFill>
                <a:latin typeface="Segoe UI"/>
              </a:rPr>
              <a:t>A single contact-change and recovery report covering Citizen Aadhaar e-KYC / lost-mobile recovery, DSR self-service and administrator-initiated mobile changes, and email changes.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00">
                <a:solidFill>
                  <a:srgbClr val="1F2A37"/>
                </a:solidFill>
                <a:latin typeface="Segoe UI"/>
              </a:rPr>
              <a:t>Additional charge report (FR-UM-053) and Temporary Absence / Temporary Charge report (FR-UM-079–084).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00">
                <a:solidFill>
                  <a:srgbClr val="1F2A37"/>
                </a:solidFill>
                <a:latin typeface="Segoe UI"/>
              </a:rPr>
              <a:t>Occupancy-refresh report per midnight run, with before and after occupied counts (FR-UM-068).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4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400">
                <a:solidFill>
                  <a:srgbClr val="1F2A37"/>
                </a:solidFill>
                <a:latin typeface="Segoe UI"/>
              </a:rPr>
              <a:t>Transfer Out / Transfer In history and officer posting / service history.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Acceptance criteria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C6B7B"/>
                </a:solidFill>
                <a:latin typeface="Segoe UI"/>
              </a:rPr>
              <a:t>Accepted when Section 4 is implemented and passes QA including these UAT scenarios, Section 5 is verified, the Product Owner signs off UAT, and security review closes with no critical or high findings.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231136"/>
            <a:ext cx="11057839" cy="4032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 b="1">
                <a:solidFill>
                  <a:srgbClr val="0B2545"/>
                </a:solidFill>
                <a:latin typeface="Segoe UI"/>
              </a:rPr>
              <a:t>FR-UM-052  </a:t>
            </a:r>
            <a:r>
              <a:rPr sz="1350">
                <a:solidFill>
                  <a:srgbClr val="1F2A37"/>
                </a:solidFill>
                <a:latin typeface="Segoe UI"/>
              </a:rPr>
              <a:t>an officer with two occupancies must choose a post before home; a single occupancy auto-selects.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 b="1">
                <a:solidFill>
                  <a:srgbClr val="0B2545"/>
                </a:solidFill>
                <a:latin typeface="Segoe UI"/>
              </a:rPr>
              <a:t>FR-UM-053  </a:t>
            </a:r>
            <a:r>
              <a:rPr sz="1350">
                <a:solidFill>
                  <a:srgbClr val="1F2A37"/>
                </a:solidFill>
                <a:latin typeface="Segoe UI"/>
              </a:rPr>
              <a:t>additional charge lists only wholly unoccupied posts at the same office; privileges switch until switch-back.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 b="1">
                <a:solidFill>
                  <a:srgbClr val="0B2545"/>
                </a:solidFill>
                <a:latin typeface="Segoe UI"/>
              </a:rPr>
              <a:t>FR-UM-058 / 068  </a:t>
            </a:r>
            <a:r>
              <a:rPr sz="1350">
                <a:solidFill>
                  <a:srgbClr val="1F2A37"/>
                </a:solidFill>
                <a:latin typeface="Segoe UI"/>
              </a:rPr>
              <a:t>relieving holds through 23:59 IST of the Relieving Date; the midnight job then de-allocates and updates counts.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 b="1">
                <a:solidFill>
                  <a:srgbClr val="0B2545"/>
                </a:solidFill>
                <a:latin typeface="Segoe UI"/>
              </a:rPr>
              <a:t>FR-UM-060 / 066(a)  </a:t>
            </a:r>
            <a:r>
              <a:rPr sz="1350">
                <a:solidFill>
                  <a:srgbClr val="1F2A37"/>
                </a:solidFill>
                <a:latin typeface="Segoe UI"/>
              </a:rPr>
              <a:t>Transfer In to a full post is blocked; once capacity frees it succeeds immediately with a Transfer Order only — no Joining Date.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 b="1">
                <a:solidFill>
                  <a:srgbClr val="0B2545"/>
                </a:solidFill>
                <a:latin typeface="Segoe UI"/>
              </a:rPr>
              <a:t>FR-UM-069–076  </a:t>
            </a:r>
            <a:r>
              <a:rPr sz="1350">
                <a:solidFill>
                  <a:srgbClr val="1F2A37"/>
                </a:solidFill>
                <a:latin typeface="Segoe UI"/>
              </a:rPr>
              <a:t>OTP validity, code length, lockout, 10-minute idle timeout, 4-hour session cap and single active session all enforced.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 b="1">
                <a:solidFill>
                  <a:srgbClr val="0B2545"/>
                </a:solidFill>
                <a:latin typeface="Segoe UI"/>
              </a:rPr>
              <a:t>FR-UM-079–084  </a:t>
            </a:r>
            <a:r>
              <a:rPr sz="1350">
                <a:solidFill>
                  <a:srgbClr val="1F2A37"/>
                </a:solidFill>
                <a:latin typeface="Segoe UI"/>
              </a:rPr>
              <a:t>absence blocks login, keeps Occupied unchanged, and temporary charge appears for the cover officer until the to_date.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5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50" b="1">
                <a:solidFill>
                  <a:srgbClr val="0B2545"/>
                </a:solidFill>
                <a:latin typeface="Segoe UI"/>
              </a:rPr>
              <a:t>Role mapping  </a:t>
            </a:r>
            <a:r>
              <a:rPr sz="1350">
                <a:solidFill>
                  <a:srgbClr val="1F2A37"/>
                </a:solidFill>
                <a:latin typeface="Segoe UI"/>
              </a:rPr>
              <a:t>Role–Module–Function mapping completed and Domain Expert confirmed for every active role and module before go-live.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8 — 24 RISKS LOGGED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Key risks and mitigations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41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66928" y="1572768"/>
          <a:ext cx="11057837" cy="510235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289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38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40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Risk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Impact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Mitigation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Role–Module–Function mapping incomplete at go-live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Only SR, FDA (Enforcement), DEO, Citizen roles and one Other Department role are mapped; ~37 DSR roles and 3 of 8 modules have none. Application Admin, with Domain Expert sign-off, must complete the matrix before go-live.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Aadhaar e-KYC failure or UIDAI downtime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Medium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Registration and lost-mobile reset both depend on Aadhaar e-KYC (FR-UM-085); provide clear user messaging, retry, and operational monitoring of UIDAI connectivity — there is no security-question fallback.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Unauthorised relieving or Transfer In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Scope to offices under the actor (FR-UM-059), then immediate-parent posts only (FR-UM-043, FR-UM-057).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Vacancy tests confused in build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FR-UM-066 defines available capacity and wholly unoccupied separately; additional charge uses Occupied = 0.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Transfer In without available capacity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Block Transfer In when Occupied ≥ Sanctioned Strength (FR-UM-060, FR-UM-066(a)); the Joining Date / reservation path is retired.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Leave / OOD treated as a vacancy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FR-UM-081 keeps Occupied unchanged; temporary charge is superior-assigned and distinct from FR-UM-053.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Account takeover via lost-mobile reset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High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Two independent proofs — Aadhaar e-KYC and a single-use PIN to email — plus OTP verification of the new number, rate limiting and audit.</a:t>
                      </a:r>
                    </a:p>
                  </a:txBody>
                  <a:tcPr marT="36576" marB="36576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Re-authentication may slow high-volume SRO counters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Medium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1F2A37"/>
                          </a:solidFill>
                          <a:latin typeface="Segoe UI"/>
                        </a:defRPr>
                      </a:pPr>
                      <a:r>
                        <a:t>10-minute idle timeout plus Captcha + face/biometrics on every fresh DSR login adds overhead; measure end-to-end re-authentication time in performance testing with Kaveri IT Cell.</a:t>
                      </a:r>
                    </a:p>
                  </a:txBody>
                  <a:tcPr marT="36576" marB="36576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1B6CA8"/>
                </a:solidFill>
                <a:latin typeface="Segoe UI"/>
              </a:rPr>
              <a:t>SECTION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76656"/>
            <a:ext cx="11057839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 i="0">
                <a:solidFill>
                  <a:srgbClr val="0B2545"/>
                </a:solidFill>
                <a:latin typeface="Segoe UI"/>
              </a:rPr>
              <a:t>Approval and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35024"/>
            <a:ext cx="1051560" cy="40640"/>
          </a:xfrm>
          <a:prstGeom prst="rect">
            <a:avLst/>
          </a:prstGeom>
          <a:solidFill>
            <a:srgbClr val="C89B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57839" cy="11430"/>
          </a:xfrm>
          <a:prstGeom prst="rect">
            <a:avLst/>
          </a:prstGeom>
          <a:solidFill>
            <a:srgbClr val="D4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651052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5C6B7B"/>
                </a:solidFill>
                <a:latin typeface="Segoe UI"/>
              </a:rPr>
              <a:t>KAVERI 3.0  ·  User Management BRD v4.23  ·  Department of Stamps and Registration, Government of Karnataka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51052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1B6CA8"/>
                </a:solidFill>
                <a:latin typeface="Segoe UI"/>
              </a:rPr>
              <a:t>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105783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C6B7B"/>
                </a:solidFill>
                <a:latin typeface="Segoe UI"/>
              </a:rPr>
              <a:t>Signatories: Prashanth (Product Owner) · Prabhakar Naik (Domain Expert) · Kaveri IT Cell Lead (IT Security / Engineering)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231136"/>
            <a:ext cx="11057839" cy="4032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00">
                <a:solidFill>
                  <a:srgbClr val="1F2A37"/>
                </a:solidFill>
                <a:latin typeface="Segoe UI"/>
              </a:rPr>
              <a:t>Domain Expert review of the officer hierarchy, office hierarchy and Post–Role mapping seed data.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00">
                <a:solidFill>
                  <a:srgbClr val="1F2A37"/>
                </a:solidFill>
                <a:latin typeface="Segoe UI"/>
              </a:rPr>
              <a:t>Application Admin to complete Role–Module–Function mapping for every active role and module before go-live.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00">
                <a:solidFill>
                  <a:srgbClr val="1F2A37"/>
                </a:solidFill>
                <a:latin typeface="Segoe UI"/>
              </a:rPr>
              <a:t>Re-export the header text on all nineteen process/structure diagrams — their .drawio sources still show the old §6.x-style section numbers, though captions now read correctly.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00">
                <a:solidFill>
                  <a:srgbClr val="1F2A37"/>
                </a:solidFill>
                <a:latin typeface="Segoe UI"/>
              </a:rPr>
              <a:t>Align the P-13 diagram's “InCharge Officer” label with the requirement text's “Cover officer” in the .drawio source.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00">
                <a:solidFill>
                  <a:srgbClr val="1F2A37"/>
                </a:solidFill>
                <a:latin typeface="Segoe UI"/>
              </a:rPr>
              <a:t>Department to confirm the PII retention and purge policy for dormant Citizen accounts.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00">
                <a:solidFill>
                  <a:srgbClr val="1F2A37"/>
                </a:solidFill>
                <a:latin typeface="Segoe UI"/>
              </a:rPr>
              <a:t>Performance testing with Kaveri IT Cell to validate peak-load and re-authentication timings at SRO counters.</a:t>
            </a:r>
          </a:p>
          <a:p>
            <a:pPr>
              <a:lnSpc>
                <a:spcPct val="118000"/>
              </a:lnSpc>
              <a:spcAft>
                <a:spcPts val="900"/>
              </a:spcAft>
            </a:pPr>
            <a:r>
              <a:rPr sz="1300" b="1">
                <a:solidFill>
                  <a:srgbClr val="C89B3C"/>
                </a:solidFill>
                <a:latin typeface="Segoe UI"/>
              </a:rPr>
              <a:t>—  </a:t>
            </a:r>
            <a:r>
              <a:rPr sz="1300">
                <a:solidFill>
                  <a:srgbClr val="1F2A37"/>
                </a:solidFill>
                <a:latin typeface="Segoe UI"/>
              </a:rPr>
              <a:t>Product Owner sign-off on UAT, then baseline the BRD for design and development.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5614416"/>
            <a:ext cx="11057839" cy="603504"/>
          </a:xfrm>
          <a:prstGeom prst="rect">
            <a:avLst/>
          </a:prstGeom>
          <a:solidFill>
            <a:srgbClr val="F2F6FA"/>
          </a:solidFill>
          <a:ln w="9525">
            <a:solidFill>
              <a:srgbClr val="D4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86384" y="5760720"/>
            <a:ext cx="10618927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5C6B7B"/>
                </a:solidFill>
                <a:latin typeface="Segoe UI"/>
              </a:rPr>
              <a:t>Source of record: BRD_User_Management_v4.23.docx  ·  Editable diagram sources: ProcessDiagrams/User_Management/*.drawio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5930</Words>
  <Application>Microsoft Office PowerPoint</Application>
  <PresentationFormat>Widescreen</PresentationFormat>
  <Paragraphs>721</Paragraphs>
  <Slides>42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6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Administrator</dc:creator>
  <cp:keywords/>
  <dc:description>generated using python-pptx</dc:description>
  <cp:lastModifiedBy>Administrator</cp:lastModifiedBy>
  <cp:revision>1</cp:revision>
  <dcterms:created xsi:type="dcterms:W3CDTF">2013-01-27T09:14:16Z</dcterms:created>
  <dcterms:modified xsi:type="dcterms:W3CDTF">2026-09-09T05:26:21Z</dcterms:modified>
  <cp:category/>
</cp:coreProperties>
</file>