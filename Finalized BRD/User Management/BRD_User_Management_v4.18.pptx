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6" r:id="rId4"/>
    <p:sldId id="268" r:id="rId5"/>
    <p:sldId id="269" r:id="rId6"/>
    <p:sldId id="270" r:id="rId7"/>
    <p:sldId id="271" r:id="rId8"/>
    <p:sldId id="272" r:id="rId9"/>
    <p:sldId id="274" r:id="rId10"/>
    <p:sldId id="275" r:id="rId11"/>
    <p:sldId id="284" r:id="rId12"/>
    <p:sldId id="285" r:id="rId13"/>
    <p:sldId id="286" r:id="rId14"/>
    <p:sldId id="287" r:id="rId15"/>
    <p:sldId id="290" r:id="rId16"/>
    <p:sldId id="292" r:id="rId17"/>
    <p:sldId id="29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14" autoAdjust="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3986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Walkthrough of the User Management BRD v4.18 for the KAVERI 3.0 platform. All diagrams in this deck are the approved figures embedded in the BRD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481328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9B3C"/>
                </a:solidFill>
                <a:latin typeface="Segoe UI"/>
              </a:rPr>
              <a:t>KAVERI 3.0  ·  DEPARTMENT OF STAMPS AND REGISTRATION, GOVERNMENT OF KARNATAKA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102412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Business Requirements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26080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9EC4E4"/>
                </a:solidFill>
                <a:latin typeface="Segoe UI"/>
              </a:rPr>
              <a:t>User Management Module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3840480"/>
            <a:ext cx="19202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4224528"/>
            <a:ext cx="100584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>
                <a:solidFill>
                  <a:srgbClr val="C8D7E6"/>
                </a:solidFill>
                <a:latin typeface="Segoe UI"/>
              </a:rPr>
              <a:t>Identity  ·  </a:t>
            </a:r>
            <a:r>
              <a:rPr sz="1500" b="0" i="0" dirty="0" err="1">
                <a:solidFill>
                  <a:srgbClr val="C8D7E6"/>
                </a:solidFill>
                <a:latin typeface="Segoe UI"/>
              </a:rPr>
              <a:t>Passwordless</a:t>
            </a:r>
            <a:r>
              <a:rPr sz="1500" b="0" i="0" dirty="0">
                <a:solidFill>
                  <a:srgbClr val="C8D7E6"/>
                </a:solidFill>
                <a:latin typeface="Segoe UI"/>
              </a:rPr>
              <a:t> authentication  ·  Sanctioned post occupancy  ·  RBAC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349240"/>
            <a:ext cx="10058400" cy="519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 dirty="0" smtClean="0">
                <a:solidFill>
                  <a:srgbClr val="A9BCCE"/>
                </a:solidFill>
                <a:latin typeface="Segoe UI"/>
              </a:rPr>
              <a:t>Version </a:t>
            </a:r>
            <a:r>
              <a:rPr lang="en-IN" sz="1250" b="0" i="0" dirty="0" smtClean="0">
                <a:solidFill>
                  <a:srgbClr val="A9BCCE"/>
                </a:solidFill>
                <a:latin typeface="Segoe UI"/>
              </a:rPr>
              <a:t>1</a:t>
            </a:r>
            <a:r>
              <a:rPr sz="1250" b="0" i="0" dirty="0" smtClean="0">
                <a:solidFill>
                  <a:srgbClr val="A9BCCE"/>
                </a:solidFill>
                <a:latin typeface="Segoe UI"/>
              </a:rPr>
              <a:t>   </a:t>
            </a:r>
            <a:r>
              <a:rPr sz="1250" b="0" i="0" dirty="0">
                <a:solidFill>
                  <a:srgbClr val="A9BCCE"/>
                </a:solidFill>
                <a:latin typeface="Segoe UI"/>
              </a:rPr>
              <a:t>|   04 September 2026
Author: </a:t>
            </a:r>
            <a:r>
              <a:rPr sz="1250" b="0" i="0" dirty="0" err="1">
                <a:solidFill>
                  <a:srgbClr val="A9BCCE"/>
                </a:solidFill>
                <a:latin typeface="Segoe UI"/>
              </a:rPr>
              <a:t>Nandha</a:t>
            </a:r>
            <a:r>
              <a:rPr sz="1250" b="0" i="0" dirty="0">
                <a:solidFill>
                  <a:srgbClr val="A9BCCE"/>
                </a:solidFill>
                <a:latin typeface="Segoe UI"/>
              </a:rPr>
              <a:t> Kumar (Business Analyst)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31136"/>
            <a:ext cx="11057839" cy="18882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600" b="1" dirty="0">
                <a:solidFill>
                  <a:srgbClr val="0B2545"/>
                </a:solidFill>
                <a:latin typeface="Segoe UI"/>
              </a:rPr>
              <a:t>1.  </a:t>
            </a:r>
            <a:r>
              <a:rPr sz="1600" dirty="0">
                <a:solidFill>
                  <a:srgbClr val="1F2A37"/>
                </a:solidFill>
                <a:latin typeface="Segoe UI"/>
              </a:rPr>
              <a:t>Introduction, scope and business objectives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600" b="1" dirty="0">
                <a:solidFill>
                  <a:srgbClr val="0B2545"/>
                </a:solidFill>
                <a:latin typeface="Segoe UI"/>
              </a:rPr>
              <a:t>2.  </a:t>
            </a:r>
            <a:r>
              <a:rPr sz="1600" dirty="0">
                <a:solidFill>
                  <a:srgbClr val="1F2A37"/>
                </a:solidFill>
                <a:latin typeface="Segoe UI"/>
              </a:rPr>
              <a:t>Identity and </a:t>
            </a:r>
            <a:r>
              <a:rPr sz="1600" dirty="0" err="1">
                <a:solidFill>
                  <a:srgbClr val="1F2A37"/>
                </a:solidFill>
                <a:latin typeface="Segoe UI"/>
              </a:rPr>
              <a:t>passwordless</a:t>
            </a:r>
            <a:r>
              <a:rPr sz="1600" dirty="0">
                <a:solidFill>
                  <a:srgbClr val="1F2A37"/>
                </a:solidFill>
                <a:latin typeface="Segoe UI"/>
              </a:rPr>
              <a:t> authentication — Citizens, DSR Officers, Other Department users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600" b="1" dirty="0">
                <a:solidFill>
                  <a:srgbClr val="0B2545"/>
                </a:solidFill>
                <a:latin typeface="Segoe UI"/>
              </a:rPr>
              <a:t>3.  </a:t>
            </a:r>
            <a:r>
              <a:rPr sz="1600" dirty="0">
                <a:solidFill>
                  <a:srgbClr val="1F2A37"/>
                </a:solidFill>
                <a:latin typeface="Segoe UI"/>
              </a:rPr>
              <a:t>Posts, roles and role-based access control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600" b="1" dirty="0">
                <a:solidFill>
                  <a:srgbClr val="0B2545"/>
                </a:solidFill>
                <a:latin typeface="Segoe UI"/>
              </a:rPr>
              <a:t>4.  </a:t>
            </a:r>
            <a:r>
              <a:rPr sz="1600" dirty="0">
                <a:solidFill>
                  <a:srgbClr val="1F2A37"/>
                </a:solidFill>
                <a:latin typeface="Segoe UI"/>
              </a:rPr>
              <a:t>DSR Officer lifecycle — creation, transfer, occupancy and temporary absence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600" b="1" dirty="0">
                <a:solidFill>
                  <a:srgbClr val="0B2545"/>
                </a:solidFill>
                <a:latin typeface="Segoe UI"/>
              </a:rPr>
              <a:t>5.  </a:t>
            </a:r>
            <a:r>
              <a:rPr sz="1600" dirty="0">
                <a:solidFill>
                  <a:srgbClr val="1F2A37"/>
                </a:solidFill>
                <a:latin typeface="Segoe UI"/>
              </a:rPr>
              <a:t>Non-functional </a:t>
            </a:r>
            <a:r>
              <a:rPr sz="1600" dirty="0" smtClean="0">
                <a:solidFill>
                  <a:srgbClr val="1F2A37"/>
                </a:solidFill>
                <a:latin typeface="Segoe UI"/>
              </a:rPr>
              <a:t>requirements</a:t>
            </a:r>
            <a:endParaRPr sz="1600" dirty="0">
              <a:solidFill>
                <a:srgbClr val="1F2A37"/>
              </a:solidFill>
              <a:latin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Three user categories, one User Master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646219"/>
              </p:ext>
            </p:extLst>
          </p:nvPr>
        </p:nvGraphicFramePr>
        <p:xfrm>
          <a:off x="566928" y="2121408"/>
          <a:ext cx="11057836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22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7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2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25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User category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Username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Authentication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Lost-mobile reset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Public (Citizen)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Preferred Username </a:t>
                      </a:r>
                      <a:r>
                        <a:rPr lang="en-IN" dirty="0" smtClean="0"/>
                        <a:t>entered</a:t>
                      </a:r>
                      <a:r>
                        <a:rPr lang="en-IN" baseline="0" dirty="0" smtClean="0"/>
                        <a:t> by the user</a:t>
                      </a:r>
                      <a:r>
                        <a:rPr dirty="0" smtClean="0"/>
                        <a:t> </a:t>
                      </a:r>
                      <a:r>
                        <a:rPr dirty="0"/>
                        <a:t>at </a:t>
                      </a:r>
                      <a:r>
                        <a:rPr dirty="0" smtClean="0"/>
                        <a:t>registration</a:t>
                      </a:r>
                      <a:endParaRPr dirty="0"/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Username + Captcha + OTP to mobile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Self-service: 3 of 5 security questions + PIN to registered email + OTP to new </a:t>
                      </a:r>
                      <a:r>
                        <a:rPr dirty="0" smtClean="0"/>
                        <a:t>mobile</a:t>
                      </a:r>
                      <a:endParaRPr dirty="0"/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DSR Officer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 smtClean="0"/>
                        <a:t>KGID</a:t>
                      </a:r>
                      <a:endParaRPr dirty="0"/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Username (KGID) + Captcha + OTP to mobile + </a:t>
                      </a:r>
                      <a:r>
                        <a:rPr dirty="0" smtClean="0"/>
                        <a:t>Biometrics</a:t>
                      </a:r>
                      <a:endParaRPr dirty="0"/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Not available — administrator changes the mobile with reason and </a:t>
                      </a:r>
                      <a:r>
                        <a:rPr dirty="0" smtClean="0"/>
                        <a:t>audit</a:t>
                      </a:r>
                      <a:endParaRPr dirty="0"/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Other Department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 smtClean="0"/>
                        <a:t>KGID</a:t>
                      </a:r>
                      <a:endParaRPr dirty="0"/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Username (KGID) + Captcha + OTP to mobile + Biometrics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Not available — administrator changes the mobile with reason and </a:t>
                      </a:r>
                      <a:r>
                        <a:rPr dirty="0" smtClean="0"/>
                        <a:t>audit</a:t>
                      </a:r>
                      <a:endParaRPr dirty="0"/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Citizen self-registration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115236"/>
            <a:ext cx="11167567" cy="3148736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6798"/>
            <a:ext cx="12192000" cy="32244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Login across all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0776" y="1828800"/>
            <a:ext cx="8730143" cy="372160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-02_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640" y="1883664"/>
            <a:ext cx="8620415" cy="3611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Citizen lost-mobile reset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276351"/>
            <a:ext cx="11167567" cy="2826506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01065"/>
            <a:ext cx="12192000" cy="28558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Departmental mobile change — administrator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1851142"/>
            <a:ext cx="11167567" cy="3676924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-04_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06006"/>
            <a:ext cx="11057839" cy="35671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OTP and session 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 dirty="0">
                <a:solidFill>
                  <a:srgbClr val="5C6B7B"/>
                </a:solidFill>
                <a:latin typeface="Segoe UI"/>
              </a:rPr>
              <a:t>Applies to every user category. The 15-minute idle timeout matters most on shared SRO counter machines, where the session post is fixed for the whole session.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534269"/>
              </p:ext>
            </p:extLst>
          </p:nvPr>
        </p:nvGraphicFramePr>
        <p:xfrm>
          <a:off x="566928" y="2121408"/>
          <a:ext cx="10601842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25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6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Control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Rule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Login OTP validity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5 minutes from dispatch (IST)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lang="en-IN" dirty="0" smtClean="0"/>
                        <a:t>OTP</a:t>
                      </a:r>
                      <a:r>
                        <a:rPr dirty="0" smtClean="0"/>
                        <a:t> </a:t>
                      </a:r>
                      <a:r>
                        <a:rPr dirty="0"/>
                        <a:t>length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 smtClean="0"/>
                        <a:t>6 numeric digits</a:t>
                      </a:r>
                      <a:endParaRPr dirty="0"/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Incorrect entries per </a:t>
                      </a:r>
                      <a:r>
                        <a:rPr lang="en-IN" dirty="0" smtClean="0"/>
                        <a:t>OTP</a:t>
                      </a:r>
                      <a:endParaRPr dirty="0"/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Maximum 3, then the </a:t>
                      </a:r>
                      <a:r>
                        <a:rPr lang="en-IN" dirty="0" smtClean="0"/>
                        <a:t>OTP</a:t>
                      </a:r>
                      <a:r>
                        <a:rPr dirty="0" smtClean="0"/>
                        <a:t> </a:t>
                      </a:r>
                      <a:r>
                        <a:rPr dirty="0"/>
                        <a:t>is invalidated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lang="en-IN" dirty="0" smtClean="0"/>
                        <a:t>OTP </a:t>
                      </a:r>
                      <a:r>
                        <a:rPr dirty="0" smtClean="0"/>
                        <a:t>Resend </a:t>
                      </a:r>
                      <a:r>
                        <a:rPr dirty="0" err="1"/>
                        <a:t>cooldown</a:t>
                      </a:r>
                      <a:endParaRPr dirty="0"/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30 seconds; maximum 3 resends per channel per 15 minutes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Failed-login lockout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lang="en-IN" dirty="0" smtClean="0"/>
                        <a:t>3</a:t>
                      </a:r>
                      <a:r>
                        <a:rPr dirty="0" smtClean="0"/>
                        <a:t> </a:t>
                      </a:r>
                      <a:r>
                        <a:rPr dirty="0"/>
                        <a:t>failures lock the Username for 15 minutes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Idle timeout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15 minutes of inactivity ends the session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Absolute session limit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8 hours from login, even if the user is active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Concurrent sessions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rPr dirty="0"/>
                        <a:t>One per Username — last login wins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DSR Officer post selection at 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1913701"/>
            <a:ext cx="11167567" cy="3551805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7732"/>
            <a:ext cx="12192000" cy="36625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endParaRPr sz="1050" b="1" i="0" dirty="0">
              <a:solidFill>
                <a:srgbClr val="1B6CA8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Additional charge of an unoccupied subordinate post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57839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endParaRPr sz="1150" b="1" i="0" dirty="0">
              <a:solidFill>
                <a:srgbClr val="1B6CA8"/>
              </a:solidFill>
              <a:latin typeface="Segoe U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2064" y="1912864"/>
            <a:ext cx="11167567" cy="3553479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-06_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67728"/>
            <a:ext cx="11057839" cy="3443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DSR Officer creation with post assignment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1969202"/>
            <a:ext cx="11167567" cy="3440803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28" y="1355344"/>
            <a:ext cx="11625072" cy="43940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Other Department user creation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1869629"/>
            <a:ext cx="11167567" cy="3639950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8371"/>
            <a:ext cx="12192000" cy="37612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Transfer Out and relieving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1918305"/>
            <a:ext cx="11167567" cy="3542597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-09_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73169"/>
            <a:ext cx="11057839" cy="34328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Transfer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5657" y="1828800"/>
            <a:ext cx="9940381" cy="3721608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-10_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521" y="1883664"/>
            <a:ext cx="9830653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76656"/>
            <a:ext cx="11057839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 dirty="0">
                <a:solidFill>
                  <a:srgbClr val="0B2545"/>
                </a:solidFill>
                <a:latin typeface="Segoe UI"/>
              </a:rPr>
              <a:t>Temporary absence — Leave, OOD and </a:t>
            </a:r>
            <a:r>
              <a:rPr lang="en-IN" sz="2700" b="1" i="0" dirty="0" smtClean="0">
                <a:solidFill>
                  <a:srgbClr val="0B2545"/>
                </a:solidFill>
                <a:latin typeface="Segoe UI"/>
              </a:rPr>
              <a:t>in-charge</a:t>
            </a:r>
            <a:endParaRPr sz="2700" b="1" i="0" dirty="0">
              <a:solidFill>
                <a:srgbClr val="0B2545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35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1928191"/>
            <a:ext cx="11167567" cy="3522826"/>
          </a:xfrm>
          <a:prstGeom prst="rect">
            <a:avLst/>
          </a:prstGeom>
          <a:solidFill>
            <a:srgbClr val="FFFFFF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4268"/>
            <a:ext cx="12192000" cy="37294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Non-functional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10143439" cy="3840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55064"/>
            <a:ext cx="10418833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SECURITY AND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76272"/>
            <a:ext cx="10077398" cy="1615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350" dirty="0">
                <a:solidFill>
                  <a:srgbClr val="1F2A37"/>
                </a:solidFill>
                <a:latin typeface="Segoe UI"/>
              </a:rPr>
              <a:t>No password storage anywhere; the login OTP goes only to the registered mobile.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350" dirty="0">
                <a:solidFill>
                  <a:srgbClr val="1F2A37"/>
                </a:solidFill>
                <a:latin typeface="Segoe UI"/>
              </a:rPr>
              <a:t>TLS 1.2 or higher for all data in transit</a:t>
            </a:r>
            <a:r>
              <a:rPr sz="1350" dirty="0" smtClean="0">
                <a:solidFill>
                  <a:srgbClr val="1F2A37"/>
                </a:solidFill>
                <a:latin typeface="Segoe UI"/>
              </a:rPr>
              <a:t>;</a:t>
            </a:r>
            <a:endParaRPr lang="en-IN" sz="1350" dirty="0" smtClean="0">
              <a:solidFill>
                <a:srgbClr val="1F2A37"/>
              </a:solidFill>
              <a:latin typeface="Segoe UI"/>
            </a:endParaRP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 dirty="0" smtClean="0">
                <a:solidFill>
                  <a:srgbClr val="C89B3C"/>
                </a:solidFill>
                <a:latin typeface="Segoe UI"/>
              </a:rPr>
              <a:t>—  </a:t>
            </a:r>
            <a:r>
              <a:rPr sz="1350" dirty="0">
                <a:solidFill>
                  <a:srgbClr val="1F2A37"/>
                </a:solidFill>
                <a:latin typeface="Segoe UI"/>
              </a:rPr>
              <a:t>Security-question answers stored hashed, never displayed, never entered by an administrator.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350" dirty="0">
                <a:solidFill>
                  <a:srgbClr val="1F2A37"/>
                </a:solidFill>
                <a:latin typeface="Segoe UI"/>
              </a:rPr>
              <a:t>OTP dispatch within 5 seconds; authentication completes within 2 seconds after verification.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350" dirty="0">
                <a:solidFill>
                  <a:srgbClr val="1F2A37"/>
                </a:solidFill>
                <a:latin typeface="Segoe UI"/>
              </a:rPr>
              <a:t>Minimum </a:t>
            </a:r>
            <a:r>
              <a:rPr lang="en-IN" sz="1350" dirty="0" smtClean="0">
                <a:solidFill>
                  <a:srgbClr val="1F2A37"/>
                </a:solidFill>
                <a:latin typeface="Segoe UI"/>
              </a:rPr>
              <a:t>10000</a:t>
            </a:r>
            <a:r>
              <a:rPr sz="1350" dirty="0" smtClean="0">
                <a:solidFill>
                  <a:srgbClr val="1F2A37"/>
                </a:solidFill>
                <a:latin typeface="Segoe UI"/>
              </a:rPr>
              <a:t> </a:t>
            </a:r>
            <a:r>
              <a:rPr sz="1350" dirty="0">
                <a:solidFill>
                  <a:srgbClr val="1F2A37"/>
                </a:solidFill>
                <a:latin typeface="Segoe UI"/>
              </a:rPr>
              <a:t>concurrent authenticated sessions at launch, validated in performance testing.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Reporting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v4.18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17328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400" dirty="0">
                <a:solidFill>
                  <a:srgbClr val="1F2A37"/>
                </a:solidFill>
                <a:latin typeface="Segoe UI"/>
              </a:rPr>
              <a:t>Active, inactive and suspended users; role and permission assignments across all users.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400" dirty="0">
                <a:solidFill>
                  <a:srgbClr val="1F2A37"/>
                </a:solidFill>
                <a:latin typeface="Segoe UI"/>
              </a:rPr>
              <a:t>Audit log of login attempts, successful and failed, over a selected date range.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 dirty="0">
                <a:solidFill>
                  <a:srgbClr val="C89B3C"/>
                </a:solidFill>
                <a:latin typeface="Segoe UI"/>
              </a:rPr>
              <a:t>—  </a:t>
            </a:r>
            <a:r>
              <a:rPr sz="1400" dirty="0">
                <a:solidFill>
                  <a:srgbClr val="1F2A37"/>
                </a:solidFill>
                <a:latin typeface="Segoe UI"/>
              </a:rPr>
              <a:t>Sanctioned post occupancy — sanctioned strength, occupied count, remaining capacity and wholly-unoccupied flag per </a:t>
            </a:r>
            <a:r>
              <a:rPr sz="1400" dirty="0" smtClean="0">
                <a:solidFill>
                  <a:srgbClr val="1F2A37"/>
                </a:solidFill>
                <a:latin typeface="Segoe UI"/>
              </a:rPr>
              <a:t>office</a:t>
            </a:r>
            <a:endParaRPr lang="en-IN" sz="1400" dirty="0" smtClean="0">
              <a:solidFill>
                <a:srgbClr val="1F2A37"/>
              </a:solidFill>
              <a:latin typeface="Segoe UI"/>
            </a:endParaRP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 dirty="0" smtClean="0">
                <a:solidFill>
                  <a:srgbClr val="C89B3C"/>
                </a:solidFill>
                <a:latin typeface="Segoe UI"/>
              </a:rPr>
              <a:t>—  </a:t>
            </a:r>
            <a:r>
              <a:rPr sz="1400" dirty="0">
                <a:solidFill>
                  <a:srgbClr val="1F2A37"/>
                </a:solidFill>
                <a:latin typeface="Segoe UI"/>
              </a:rPr>
              <a:t>Additional charge report </a:t>
            </a:r>
            <a:r>
              <a:rPr sz="1400" dirty="0" smtClean="0">
                <a:solidFill>
                  <a:srgbClr val="1F2A37"/>
                </a:solidFill>
                <a:latin typeface="Segoe UI"/>
              </a:rPr>
              <a:t>and </a:t>
            </a:r>
            <a:r>
              <a:rPr sz="1400" dirty="0">
                <a:solidFill>
                  <a:srgbClr val="1F2A37"/>
                </a:solidFill>
                <a:latin typeface="Segoe UI"/>
              </a:rPr>
              <a:t>Temporary Absence / Temporary Charge </a:t>
            </a:r>
            <a:r>
              <a:rPr sz="1400" dirty="0" smtClean="0">
                <a:solidFill>
                  <a:srgbClr val="1F2A37"/>
                </a:solidFill>
                <a:latin typeface="Segoe UI"/>
              </a:rPr>
              <a:t>report</a:t>
            </a:r>
            <a:endParaRPr sz="1400" dirty="0">
              <a:solidFill>
                <a:srgbClr val="1F2A37"/>
              </a:solidFill>
              <a:latin typeface="Segoe UI"/>
            </a:endParaRP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 dirty="0" smtClean="0">
                <a:solidFill>
                  <a:srgbClr val="C89B3C"/>
                </a:solidFill>
                <a:latin typeface="Segoe UI"/>
              </a:rPr>
              <a:t>—  </a:t>
            </a:r>
            <a:r>
              <a:rPr sz="1400" dirty="0">
                <a:solidFill>
                  <a:srgbClr val="1F2A37"/>
                </a:solidFill>
                <a:latin typeface="Segoe UI"/>
              </a:rPr>
              <a:t>Transfer Out / Transfer In history and officer posting / service history.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832</Words>
  <Application>Microsoft Office PowerPoint</Application>
  <PresentationFormat>Widescreen</PresentationFormat>
  <Paragraphs>106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Administrator</cp:lastModifiedBy>
  <cp:revision>26</cp:revision>
  <dcterms:created xsi:type="dcterms:W3CDTF">2013-01-27T09:14:16Z</dcterms:created>
  <dcterms:modified xsi:type="dcterms:W3CDTF">2026-09-04T10:13:04Z</dcterms:modified>
  <cp:category/>
</cp:coreProperties>
</file>