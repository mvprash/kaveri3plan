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60" r:id="rId3"/>
    <p:sldId id="262" r:id="rId4"/>
    <p:sldId id="266" r:id="rId5"/>
    <p:sldId id="267" r:id="rId6"/>
    <p:sldId id="269" r:id="rId7"/>
    <p:sldId id="270" r:id="rId8"/>
    <p:sldId id="271" r:id="rId9"/>
    <p:sldId id="273" r:id="rId10"/>
    <p:sldId id="274" r:id="rId11"/>
    <p:sldId id="275" r:id="rId12"/>
    <p:sldId id="276" r:id="rId13"/>
    <p:sldId id="281" r:id="rId14"/>
    <p:sldId id="284" r:id="rId15"/>
    <p:sldId id="285" r:id="rId16"/>
    <p:sldId id="286" r:id="rId17"/>
    <p:sldId id="287" r:id="rId18"/>
    <p:sldId id="288" r:id="rId19"/>
    <p:sldId id="291" r:id="rId20"/>
    <p:sldId id="292" r:id="rId21"/>
    <p:sldId id="293" r:id="rId22"/>
    <p:sldId id="294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29" autoAdjust="0"/>
    <p:restoredTop sz="94660"/>
  </p:normalViewPr>
  <p:slideViewPr>
    <p:cSldViewPr snapToGrid="0" snapToObjects="1">
      <p:cViewPr varScale="1">
        <p:scale>
          <a:sx n="114" d="100"/>
          <a:sy n="114" d="100"/>
        </p:scale>
        <p:origin x="330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7425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Walkthrough of the User Management BRD v4.23 for the KAVERI 3.0 platform. v4.23 is a consistency-review pass over v4.18: it renumbers Functional Requirements as Section 4 (closing the historical Section 2/5 gap) and folds in the authentication and lifecycle changes made in v4.19-v4.22. Every diagram in this deck is redrawn as native shapes from the BRD's own process and structure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50607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1481328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89B3C"/>
                </a:solidFill>
                <a:latin typeface="Segoe UI"/>
              </a:rPr>
              <a:t>KAVERI 3.0  ·  DEPARTMENT OF STAMPS AND REGISTRATION, GOVERNMENT OF KARNATAKA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10312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Business Requirements Document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06324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9EC4E4"/>
                </a:solidFill>
                <a:latin typeface="Segoe UI"/>
              </a:rPr>
              <a:t>User Management Module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3840480"/>
            <a:ext cx="192024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4224528"/>
            <a:ext cx="100584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 dirty="0">
                <a:solidFill>
                  <a:srgbClr val="C8D7E6"/>
                </a:solidFill>
                <a:latin typeface="Segoe UI"/>
              </a:rPr>
              <a:t>Identity  ·  Password less authentication  ·  Aadhaar e-KYC  ·  Sanctioned post occupancy  ·  RBAC  ·  Officer lifecycle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349240"/>
            <a:ext cx="10058400" cy="490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 dirty="0">
                <a:solidFill>
                  <a:srgbClr val="A9BCCE"/>
                </a:solidFill>
                <a:latin typeface="Segoe UI"/>
              </a:rPr>
              <a:t>Document BRD-K3-UM-001   |   Version </a:t>
            </a:r>
            <a:r>
              <a:rPr lang="en-US" sz="1250" dirty="0">
                <a:solidFill>
                  <a:srgbClr val="A9BCCE"/>
                </a:solidFill>
                <a:latin typeface="Segoe UI"/>
              </a:rPr>
              <a:t>1.0</a:t>
            </a:r>
            <a:r>
              <a:rPr sz="1250" b="0" i="0" dirty="0">
                <a:solidFill>
                  <a:srgbClr val="A9BCCE"/>
                </a:solidFill>
                <a:latin typeface="Segoe UI"/>
              </a:rPr>
              <a:t>   |   </a:t>
            </a:r>
            <a:r>
              <a:rPr lang="en-US" sz="1250" dirty="0">
                <a:solidFill>
                  <a:srgbClr val="A9BCCE"/>
                </a:solidFill>
                <a:latin typeface="Segoe UI"/>
              </a:rPr>
              <a:t>19</a:t>
            </a:r>
            <a:r>
              <a:rPr sz="1250" b="0" i="0" dirty="0">
                <a:solidFill>
                  <a:srgbClr val="A9BCCE"/>
                </a:solidFill>
                <a:latin typeface="Segoe UI"/>
              </a:rPr>
              <a:t> September 2026
Author: Nandha Kumar (Business Analyst)   |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2331720"/>
            <a:ext cx="1828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 i="0">
                <a:solidFill>
                  <a:srgbClr val="1D4E80"/>
                </a:solidFill>
                <a:latin typeface="Segoe U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2615184"/>
            <a:ext cx="8595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Introduction and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3529584"/>
            <a:ext cx="146304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10367" y="641908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5E82A6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</a:t>
            </a:r>
            <a:r>
              <a:rPr lang="en-IN" sz="900" b="0" i="0">
                <a:solidFill>
                  <a:srgbClr val="5C6B7B"/>
                </a:solidFill>
                <a:latin typeface="Segoe UI"/>
              </a:rPr>
              <a:t>V-1</a:t>
            </a:r>
            <a:r>
              <a:rPr sz="900" b="0" i="0">
                <a:solidFill>
                  <a:srgbClr val="5C6B7B"/>
                </a:solidFill>
                <a:latin typeface="Segoe UI"/>
              </a:rPr>
              <a:t>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5783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C6B7B"/>
                </a:solidFill>
                <a:latin typeface="Segoe UI"/>
              </a:rPr>
              <a:t>In scope for the User Management module: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231136"/>
            <a:ext cx="11057839" cy="207140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500" b="1" dirty="0">
                <a:solidFill>
                  <a:srgbClr val="C89B3C"/>
                </a:solidFill>
                <a:latin typeface="Segoe UI"/>
              </a:rPr>
              <a:t>—  </a:t>
            </a:r>
            <a:r>
              <a:rPr sz="1500" dirty="0">
                <a:solidFill>
                  <a:srgbClr val="1F2A37"/>
                </a:solidFill>
                <a:latin typeface="Segoe UI"/>
              </a:rPr>
              <a:t>User registration and profile management for Citizens, DSR Officers and Other Department users (single User Master).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500" b="1" dirty="0">
                <a:solidFill>
                  <a:srgbClr val="C89B3C"/>
                </a:solidFill>
                <a:latin typeface="Segoe UI"/>
              </a:rPr>
              <a:t>—  </a:t>
            </a:r>
            <a:r>
              <a:rPr sz="1500" dirty="0">
                <a:solidFill>
                  <a:srgbClr val="1F2A37"/>
                </a:solidFill>
                <a:latin typeface="Segoe UI"/>
              </a:rPr>
              <a:t>Password less authentication, session policy, Citizen lost-mobile reset, DSR post selection and additional charge.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500" b="1" dirty="0">
                <a:solidFill>
                  <a:srgbClr val="C89B3C"/>
                </a:solidFill>
                <a:latin typeface="Segoe UI"/>
              </a:rPr>
              <a:t>—  </a:t>
            </a:r>
            <a:r>
              <a:rPr sz="1500" dirty="0">
                <a:solidFill>
                  <a:srgbClr val="1F2A37"/>
                </a:solidFill>
                <a:latin typeface="Segoe UI"/>
              </a:rPr>
              <a:t>Unified Role Master; Posts and Sanctioned Posts masters; office and officer hierarchies; R</a:t>
            </a:r>
            <a:r>
              <a:rPr lang="en-US" sz="1500" dirty="0">
                <a:solidFill>
                  <a:srgbClr val="1F2A37"/>
                </a:solidFill>
                <a:latin typeface="Segoe UI"/>
              </a:rPr>
              <a:t>ole based </a:t>
            </a:r>
            <a:r>
              <a:rPr lang="en-US" sz="1500">
                <a:solidFill>
                  <a:srgbClr val="1F2A37"/>
                </a:solidFill>
                <a:latin typeface="Segoe UI"/>
              </a:rPr>
              <a:t>access control</a:t>
            </a:r>
            <a:r>
              <a:rPr sz="1500">
                <a:solidFill>
                  <a:srgbClr val="1F2A37"/>
                </a:solidFill>
                <a:latin typeface="Segoe UI"/>
              </a:rPr>
              <a:t> </a:t>
            </a:r>
            <a:r>
              <a:rPr sz="1500" dirty="0">
                <a:solidFill>
                  <a:srgbClr val="1F2A37"/>
                </a:solidFill>
                <a:latin typeface="Segoe UI"/>
              </a:rPr>
              <a:t>via Module, Function and Resource mapping.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500" b="1" dirty="0">
                <a:solidFill>
                  <a:srgbClr val="C89B3C"/>
                </a:solidFill>
                <a:latin typeface="Segoe UI"/>
              </a:rPr>
              <a:t>—  </a:t>
            </a:r>
            <a:r>
              <a:rPr sz="1500" dirty="0">
                <a:solidFill>
                  <a:srgbClr val="1F2A37"/>
                </a:solidFill>
                <a:latin typeface="Segoe UI"/>
              </a:rPr>
              <a:t>DSR lifecycle: post assignment, Transfer Out / In, occupancy refresh, Temporary Absence and Temporary Charge</a:t>
            </a:r>
            <a:r>
              <a:rPr lang="en-US" sz="1500" dirty="0">
                <a:solidFill>
                  <a:srgbClr val="1F2A37"/>
                </a:solidFill>
                <a:latin typeface="Segoe UI"/>
              </a:rPr>
              <a:t>.</a:t>
            </a:r>
            <a:endParaRPr sz="1500" dirty="0">
              <a:solidFill>
                <a:srgbClr val="1F2A37"/>
              </a:solidFill>
              <a:latin typeface="Segoe UI"/>
            </a:endParaRP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500" b="1" dirty="0">
                <a:solidFill>
                  <a:srgbClr val="C89B3C"/>
                </a:solidFill>
                <a:latin typeface="Segoe UI"/>
              </a:rPr>
              <a:t>—  </a:t>
            </a:r>
            <a:r>
              <a:rPr sz="1500" dirty="0">
                <a:solidFill>
                  <a:srgbClr val="1F2A37"/>
                </a:solidFill>
                <a:latin typeface="Segoe UI"/>
              </a:rPr>
              <a:t>Administrative user management, audit logging and reporting.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2331720"/>
            <a:ext cx="1828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 i="0">
                <a:solidFill>
                  <a:srgbClr val="1D4E80"/>
                </a:solidFill>
                <a:latin typeface="Segoe U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2615184"/>
            <a:ext cx="8595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Identity and Authentication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3529584"/>
            <a:ext cx="146304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60320" y="3840480"/>
            <a:ext cx="83667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 i="0">
                <a:solidFill>
                  <a:srgbClr val="B6C9DA"/>
                </a:solidFill>
                <a:latin typeface="Segoe UI"/>
              </a:rPr>
              <a:t>One User Master, three categories, and no passwords anywhere in the platform.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41908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5E82A6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Three user categories, one User Master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</a:t>
            </a:r>
            <a:r>
              <a:rPr lang="en-IN" sz="900" b="0" i="0">
                <a:solidFill>
                  <a:srgbClr val="5C6B7B"/>
                </a:solidFill>
                <a:latin typeface="Segoe UI"/>
              </a:rPr>
              <a:t>V-1</a:t>
            </a:r>
            <a:r>
              <a:rPr sz="900" b="0" i="0">
                <a:solidFill>
                  <a:srgbClr val="5C6B7B"/>
                </a:solidFill>
                <a:latin typeface="Segoe UI"/>
              </a:rPr>
              <a:t>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5C6B7B"/>
                </a:solidFill>
                <a:latin typeface="Segoe UI"/>
              </a:rPr>
              <a:t>Differentiation is by User Category on users and Role Category on roles — there are no separate masters per category.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087491"/>
              </p:ext>
            </p:extLst>
          </p:nvPr>
        </p:nvGraphicFramePr>
        <p:xfrm>
          <a:off x="566928" y="2121408"/>
          <a:ext cx="11057836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221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72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36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348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6012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User category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Username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Authentication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Lost-mobile / contact reset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Public (Citizen)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rPr dirty="0"/>
                        <a:t>Preferred Username chosen at registration 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Username + Captcha + OTP to mobile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rPr dirty="0"/>
                        <a:t>Aadhaar e-KYC + PIN to registered email + OTP to new mobile — no security questions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DSR Officer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rPr dirty="0"/>
                        <a:t>KGID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rPr dirty="0"/>
                        <a:t>Username (KGID) + Captcha + Face authentication or Biometrics — no OTP, then post selection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rPr dirty="0"/>
                        <a:t>Self-service after login — OTP-verified mobile change, no administrator needed 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Other Department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rPr dirty="0"/>
                        <a:t>Department Code + Employee ID/KGID 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rPr dirty="0"/>
                        <a:t>Username + Captcha + OTP to mobile — no biometrics 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rPr dirty="0"/>
                        <a:t>Not available — administrator changes the mobile with reason and audit 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/>
          <p:cNvSpPr/>
          <p:nvPr/>
        </p:nvSpPr>
        <p:spPr>
          <a:xfrm>
            <a:off x="566927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 dirty="0">
                <a:solidFill>
                  <a:srgbClr val="1F2A37"/>
                </a:solidFill>
                <a:latin typeface="Segoe UI"/>
              </a:rPr>
              <a:t>Enter both OTPs — email and mobile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15071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 dirty="0">
                <a:solidFill>
                  <a:srgbClr val="1F2A37"/>
                </a:solidFill>
                <a:latin typeface="Segoe UI"/>
              </a:rPr>
              <a:t>Complete mandatory Aadhaar e-KYC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63215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 dirty="0">
                <a:solidFill>
                  <a:srgbClr val="1F2A37"/>
                </a:solidFill>
                <a:latin typeface="Segoe UI"/>
              </a:rPr>
              <a:t>Save — account created, Citizen role assigned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1359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System dispatches a separate OTP to the email and to the mobile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3215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 dirty="0">
                <a:solidFill>
                  <a:srgbClr val="1F2A37"/>
                </a:solidFill>
                <a:latin typeface="Segoe UI"/>
              </a:rPr>
              <a:t>Enter email address and mobile number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5071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 dirty="0">
                <a:solidFill>
                  <a:srgbClr val="1F2A37"/>
                </a:solidFill>
                <a:latin typeface="Segoe UI"/>
              </a:rPr>
              <a:t>Choose preferred Username; system checks availability across the User Master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7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 dirty="0">
                <a:solidFill>
                  <a:srgbClr val="1F2A37"/>
                </a:solidFill>
                <a:latin typeface="Segoe UI"/>
              </a:rPr>
              <a:t>Open registration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Citizen self-registration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</a:t>
            </a:r>
            <a:r>
              <a:rPr lang="en-IN" sz="900" b="0" i="0">
                <a:solidFill>
                  <a:srgbClr val="5C6B7B"/>
                </a:solidFill>
                <a:latin typeface="Segoe UI"/>
              </a:rPr>
              <a:t>V-1</a:t>
            </a:r>
            <a:r>
              <a:rPr sz="900" b="0" i="0">
                <a:solidFill>
                  <a:srgbClr val="5C6B7B"/>
                </a:solidFill>
                <a:latin typeface="Segoe UI"/>
              </a:rPr>
              <a:t>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14</a:t>
            </a:r>
          </a:p>
        </p:txBody>
      </p:sp>
      <p:sp>
        <p:nvSpPr>
          <p:cNvPr id="8" name="Oval 7"/>
          <p:cNvSpPr/>
          <p:nvPr/>
        </p:nvSpPr>
        <p:spPr>
          <a:xfrm>
            <a:off x="1434967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1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41335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683111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2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89479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931255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3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137623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179399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4</a:t>
            </a:r>
          </a:p>
        </p:txBody>
      </p:sp>
      <p:sp>
        <p:nvSpPr>
          <p:cNvPr id="19" name="Oval 18"/>
          <p:cNvSpPr/>
          <p:nvPr/>
        </p:nvSpPr>
        <p:spPr>
          <a:xfrm>
            <a:off x="1434967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5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641335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683111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6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889479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931255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4535424"/>
            <a:ext cx="11057839" cy="1728216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8096" y="4654296"/>
            <a:ext cx="1065550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2545"/>
                </a:solidFill>
                <a:latin typeface="Segoe UI"/>
              </a:rPr>
              <a:t>KEY CHARACTERISTICS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" y="4919472"/>
            <a:ext cx="10655503" cy="1842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dirty="0">
                <a:solidFill>
                  <a:srgbClr val="5C6B7B"/>
                </a:solidFill>
                <a:latin typeface="Segoe UI"/>
              </a:rPr>
              <a:t>No approval workflow. Email and mobile are each OTP-verified and Aadhaar e-KYC must also succeed before the account is created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/>
          <p:cNvSpPr/>
          <p:nvPr/>
        </p:nvSpPr>
        <p:spPr>
          <a:xfrm>
            <a:off x="566927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Citizen who cannot receive the OTP leaves login for lost-mobile reset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15071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 dirty="0">
                <a:solidFill>
                  <a:srgbClr val="1F2A37"/>
                </a:solidFill>
                <a:latin typeface="Segoe UI"/>
              </a:rPr>
              <a:t>On success, enter home under the assigned post (DSR selects post first)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63215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After login, Citizen or DSR may update their mobile from profile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1359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Citizen/Other Dept enter OTP; DSR completes Face authentication or Biometrics — no OTP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3215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Dispatch login OTP to the registered mobile — Citizens and Other Department 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5071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Validate Captcha; look up the account by Username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7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Enter Username + Captcha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41335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ight Arrow 12"/>
          <p:cNvSpPr/>
          <p:nvPr/>
        </p:nvSpPr>
        <p:spPr>
          <a:xfrm>
            <a:off x="4889479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ight Arrow 15"/>
          <p:cNvSpPr/>
          <p:nvPr/>
        </p:nvSpPr>
        <p:spPr>
          <a:xfrm>
            <a:off x="7137623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434967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5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641335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683111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6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889479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931255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Login across all categories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</a:t>
            </a:r>
            <a:r>
              <a:rPr lang="en-IN" sz="900" b="0" i="0">
                <a:solidFill>
                  <a:srgbClr val="5C6B7B"/>
                </a:solidFill>
                <a:latin typeface="Segoe UI"/>
              </a:rPr>
              <a:t>V-1</a:t>
            </a:r>
            <a:r>
              <a:rPr sz="900" b="0" i="0">
                <a:solidFill>
                  <a:srgbClr val="5C6B7B"/>
                </a:solidFill>
                <a:latin typeface="Segoe UI"/>
              </a:rPr>
              <a:t>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15</a:t>
            </a:r>
          </a:p>
        </p:txBody>
      </p:sp>
      <p:sp>
        <p:nvSpPr>
          <p:cNvPr id="8" name="Oval 7"/>
          <p:cNvSpPr/>
          <p:nvPr/>
        </p:nvSpPr>
        <p:spPr>
          <a:xfrm>
            <a:off x="1434967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3683111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5931255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8179399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4535424"/>
            <a:ext cx="11057839" cy="1728216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8096" y="4654296"/>
            <a:ext cx="1065550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2545"/>
                </a:solidFill>
                <a:latin typeface="Segoe UI"/>
              </a:rPr>
              <a:t>KEY CHARACTERISTICS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" y="4919472"/>
            <a:ext cx="10655503" cy="3874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dirty="0">
                <a:solidFill>
                  <a:srgbClr val="5C6B7B"/>
                </a:solidFill>
                <a:latin typeface="Segoe UI"/>
              </a:rPr>
              <a:t>The account resolves from the Username alone — no category selector is shown. DSR Officers authenticate with Captcha + Face/Biometrics only; the login OTP is never sent to email.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/>
          <p:cNvSpPr/>
          <p:nvPr/>
        </p:nvSpPr>
        <p:spPr>
          <a:xfrm>
            <a:off x="566927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Enter the PIN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15071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Enter the new mobile number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63215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System sends an OTP to the new mobile; enter it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1359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Mobile updated; registered email notified; audit logged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59503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Continue login with OTP to the new mobile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59503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System sends a single-use, time-limited PIN to the registered email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1359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Complete Aadhaar e-KYC successfully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3215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System initiates Aadhaar e-KYC for identity verification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5071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Enter Username + Captcha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7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Choose “Lost / changed mobile number” — Citizens 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Citizen lost-mobile reset — Aadhaar e-KYC plus PIN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</a:t>
            </a:r>
            <a:r>
              <a:rPr lang="en-IN" sz="900" b="0" i="0">
                <a:solidFill>
                  <a:srgbClr val="5C6B7B"/>
                </a:solidFill>
                <a:latin typeface="Segoe UI"/>
              </a:rPr>
              <a:t>V-1</a:t>
            </a:r>
            <a:r>
              <a:rPr sz="900" b="0" i="0">
                <a:solidFill>
                  <a:srgbClr val="5C6B7B"/>
                </a:solidFill>
                <a:latin typeface="Segoe UI"/>
              </a:rPr>
              <a:t>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16</a:t>
            </a:r>
          </a:p>
        </p:txBody>
      </p:sp>
      <p:sp>
        <p:nvSpPr>
          <p:cNvPr id="8" name="Oval 7"/>
          <p:cNvSpPr/>
          <p:nvPr/>
        </p:nvSpPr>
        <p:spPr>
          <a:xfrm>
            <a:off x="1434967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1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41335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683111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2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89479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931255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3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137623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179399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4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385767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427543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5</a:t>
            </a:r>
          </a:p>
        </p:txBody>
      </p:sp>
      <p:sp>
        <p:nvSpPr>
          <p:cNvPr id="22" name="Oval 21"/>
          <p:cNvSpPr/>
          <p:nvPr/>
        </p:nvSpPr>
        <p:spPr>
          <a:xfrm>
            <a:off x="1434967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6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2641335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3683111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7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889479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931255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8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137623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179399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9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385767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427543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10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535424"/>
            <a:ext cx="11057839" cy="1728216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68096" y="4654296"/>
            <a:ext cx="1065550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2545"/>
                </a:solidFill>
                <a:latin typeface="Segoe UI"/>
              </a:rPr>
              <a:t>KEY CHARACTERISTICS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" y="4919472"/>
            <a:ext cx="10655503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C6B7B"/>
                </a:solidFill>
                <a:latin typeface="Segoe UI"/>
              </a:rPr>
              <a:t>Two independent proofs — a successful Aadhaar e-KYC and a single-use email PIN — are required before the mobile may change; the new number is itself OTP-verified. Security questions are retired.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OTP and session policy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</a:t>
            </a:r>
            <a:r>
              <a:rPr lang="en-IN" sz="900" b="0" i="0">
                <a:solidFill>
                  <a:srgbClr val="5C6B7B"/>
                </a:solidFill>
                <a:latin typeface="Segoe UI"/>
              </a:rPr>
              <a:t>V-1</a:t>
            </a:r>
            <a:r>
              <a:rPr sz="900" b="0" i="0">
                <a:solidFill>
                  <a:srgbClr val="5C6B7B"/>
                </a:solidFill>
                <a:latin typeface="Segoe UI"/>
              </a:rPr>
              <a:t>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 dirty="0">
                <a:solidFill>
                  <a:srgbClr val="5C6B7B"/>
                </a:solidFill>
                <a:latin typeface="Segoe UI"/>
              </a:rPr>
              <a:t>Applies to every user category. The 10-minute idle timeout and 4-hour session cap matter most on shared SRO counter machines, where the session post is fixed for the whole session.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2476297"/>
              </p:ext>
            </p:extLst>
          </p:nvPr>
        </p:nvGraphicFramePr>
        <p:xfrm>
          <a:off x="566928" y="2121408"/>
          <a:ext cx="11057837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98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92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Control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Rule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rPr dirty="0"/>
                        <a:t>Login OTP validity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rPr dirty="0"/>
                        <a:t>5 minutes from dispatch (IST)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rPr dirty="0"/>
                        <a:t>Registration OTP 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rPr dirty="0"/>
                        <a:t>10 minutes from dispatch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rPr lang="en-IN" dirty="0"/>
                        <a:t>OTP </a:t>
                      </a:r>
                      <a:r>
                        <a:rPr dirty="0"/>
                        <a:t>Code length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rPr dirty="0"/>
                        <a:t>6 numeric digits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rPr dirty="0"/>
                        <a:t>Incorrect entries per code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rPr dirty="0"/>
                        <a:t>Maximum 3, then the </a:t>
                      </a:r>
                      <a:r>
                        <a:rPr lang="en-IN" dirty="0"/>
                        <a:t>OTP </a:t>
                      </a:r>
                      <a:r>
                        <a:rPr dirty="0"/>
                        <a:t>code is invalidated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rPr dirty="0"/>
                        <a:t>Resend </a:t>
                      </a:r>
                      <a:r>
                        <a:rPr dirty="0" err="1"/>
                        <a:t>cooldown</a:t>
                      </a:r>
                      <a:endParaRPr dirty="0"/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rPr dirty="0"/>
                        <a:t>60 seconds;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Failed-login lockout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rPr dirty="0"/>
                        <a:t>5 failures lock the Username for 15 minutes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Idle timeout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rPr dirty="0"/>
                        <a:t>10 minutes of inactivity ends the session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Absolute session limit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rPr dirty="0"/>
                        <a:t>4 hours from login, even if the user is active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Concurrent sessions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rPr dirty="0"/>
                        <a:t>One per Username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2331720"/>
            <a:ext cx="1828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 i="0">
                <a:solidFill>
                  <a:srgbClr val="1D4E80"/>
                </a:solidFill>
                <a:latin typeface="Segoe U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2615184"/>
            <a:ext cx="8595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Posts, Roles and Access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3529584"/>
            <a:ext cx="146304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60320" y="3840480"/>
            <a:ext cx="83667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 i="0">
                <a:solidFill>
                  <a:srgbClr val="B6C9DA"/>
                </a:solidFill>
                <a:latin typeface="Segoe UI"/>
              </a:rPr>
              <a:t>Access follows the post an officer occupies — not a privilege attached to the person.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41908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5E82A6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/>
          <p:cNvSpPr/>
          <p:nvPr/>
        </p:nvSpPr>
        <p:spPr>
          <a:xfrm>
            <a:off x="9559504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Officer selects exactly one assigned post and confirms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1359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Each option labelled Role — Post Name — Office Name (Office Code)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3215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One active post auto-selects; two or more show a mandatory list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5071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Load active post occupancies (relieved posts excluded)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7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Authenticate — Username (KGID) + Captcha + Face/Biometrics, no OTP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DSR Officer post selection at login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</a:t>
            </a:r>
            <a:r>
              <a:rPr lang="en-IN" sz="900" b="0" i="0">
                <a:solidFill>
                  <a:srgbClr val="5C6B7B"/>
                </a:solidFill>
                <a:latin typeface="Segoe UI"/>
              </a:rPr>
              <a:t>V-1</a:t>
            </a:r>
            <a:r>
              <a:rPr sz="900" b="0" i="0">
                <a:solidFill>
                  <a:srgbClr val="5C6B7B"/>
                </a:solidFill>
                <a:latin typeface="Segoe UI"/>
              </a:rPr>
              <a:t>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20</a:t>
            </a:r>
          </a:p>
        </p:txBody>
      </p:sp>
      <p:sp>
        <p:nvSpPr>
          <p:cNvPr id="8" name="Oval 7"/>
          <p:cNvSpPr/>
          <p:nvPr/>
        </p:nvSpPr>
        <p:spPr>
          <a:xfrm>
            <a:off x="1434967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1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41335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683111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2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89479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931255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3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137623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179399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4</a:t>
            </a:r>
          </a:p>
        </p:txBody>
      </p:sp>
      <p:sp>
        <p:nvSpPr>
          <p:cNvPr id="19" name="Oval 18"/>
          <p:cNvSpPr/>
          <p:nvPr/>
        </p:nvSpPr>
        <p:spPr>
          <a:xfrm>
            <a:off x="10466666" y="177850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4535424"/>
            <a:ext cx="11057839" cy="1728216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8096" y="4654296"/>
            <a:ext cx="1065550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2545"/>
                </a:solidFill>
                <a:latin typeface="Segoe UI"/>
              </a:rPr>
              <a:t>KEY CHARACTERISTICS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" y="4919472"/>
            <a:ext cx="10655503" cy="1842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dirty="0">
                <a:solidFill>
                  <a:srgbClr val="5C6B7B"/>
                </a:solidFill>
                <a:latin typeface="Segoe UI"/>
              </a:rPr>
              <a:t>Mandatory only when more than one occupancy is active. Claims derive from the selected post alone via Post–Role </a:t>
            </a:r>
            <a:r>
              <a:rPr sz="1100" b="0" i="0" dirty="0" smtClean="0">
                <a:solidFill>
                  <a:srgbClr val="5C6B7B"/>
                </a:solidFill>
                <a:latin typeface="Segoe UI"/>
              </a:rPr>
              <a:t>mapping</a:t>
            </a:r>
            <a:endParaRPr sz="1100" b="0" i="0" dirty="0">
              <a:solidFill>
                <a:srgbClr val="5C6B7B"/>
              </a:solidFill>
              <a:latin typeface="Segoe UI"/>
            </a:endParaRPr>
          </a:p>
        </p:txBody>
      </p:sp>
      <p:sp>
        <p:nvSpPr>
          <p:cNvPr id="30" name="Right Arrow 29"/>
          <p:cNvSpPr/>
          <p:nvPr/>
        </p:nvSpPr>
        <p:spPr>
          <a:xfrm>
            <a:off x="9385766" y="230428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/>
          <p:cNvSpPr/>
          <p:nvPr/>
        </p:nvSpPr>
        <p:spPr>
          <a:xfrm>
            <a:off x="566927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 dirty="0">
                <a:solidFill>
                  <a:srgbClr val="1F2A37"/>
                </a:solidFill>
                <a:latin typeface="Segoe UI"/>
              </a:rPr>
              <a:t>Officer selects a post, switches back, or clears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15071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lang="en-IN" sz="1050" b="0" dirty="0">
                <a:solidFill>
                  <a:srgbClr val="1F2A37"/>
                </a:solidFill>
                <a:latin typeface="Segoe UI"/>
              </a:rPr>
              <a:t>System works as per the new post selection</a:t>
            </a:r>
            <a:endParaRPr sz="1050" b="0" dirty="0">
              <a:solidFill>
                <a:srgbClr val="1F2A37"/>
              </a:solidFill>
              <a:latin typeface="Segoe U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311359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 dirty="0">
                <a:solidFill>
                  <a:srgbClr val="1F2A37"/>
                </a:solidFill>
                <a:latin typeface="Segoe UI"/>
              </a:rPr>
              <a:t>Lists wholly unoccupied subordinate posts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3215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System reads Hierarchy Master children of the assigned post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5071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 dirty="0">
                <a:solidFill>
                  <a:srgbClr val="1F2A37"/>
                </a:solidFill>
                <a:latin typeface="Segoe UI"/>
              </a:rPr>
              <a:t>Opens “Additional charge”  post-login only, </a:t>
            </a:r>
            <a:r>
              <a:rPr lang="en-IN" sz="1050" dirty="0">
                <a:solidFill>
                  <a:srgbClr val="1F2A37"/>
                </a:solidFill>
                <a:latin typeface="Segoe UI"/>
              </a:rPr>
              <a:t>(logout not required)</a:t>
            </a:r>
            <a:endParaRPr sz="1050" b="0" dirty="0">
              <a:solidFill>
                <a:srgbClr val="1F2A37"/>
              </a:solidFill>
              <a:latin typeface="Segoe U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66927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Officer is logged in under the assigned Post + Office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Additional charge of an unoccupied subordinate post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</a:t>
            </a:r>
            <a:r>
              <a:rPr lang="en-IN" sz="900" b="0" i="0">
                <a:solidFill>
                  <a:srgbClr val="5C6B7B"/>
                </a:solidFill>
                <a:latin typeface="Segoe UI"/>
              </a:rPr>
              <a:t>V-1</a:t>
            </a:r>
            <a:r>
              <a:rPr sz="900" b="0" i="0">
                <a:solidFill>
                  <a:srgbClr val="5C6B7B"/>
                </a:solidFill>
                <a:latin typeface="Segoe UI"/>
              </a:rPr>
              <a:t>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21</a:t>
            </a:r>
          </a:p>
        </p:txBody>
      </p:sp>
      <p:sp>
        <p:nvSpPr>
          <p:cNvPr id="8" name="Oval 7"/>
          <p:cNvSpPr/>
          <p:nvPr/>
        </p:nvSpPr>
        <p:spPr>
          <a:xfrm>
            <a:off x="1434967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1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41335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683111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2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89479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931255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3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137623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179399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4</a:t>
            </a:r>
          </a:p>
        </p:txBody>
      </p:sp>
      <p:sp>
        <p:nvSpPr>
          <p:cNvPr id="22" name="Oval 21"/>
          <p:cNvSpPr/>
          <p:nvPr/>
        </p:nvSpPr>
        <p:spPr>
          <a:xfrm>
            <a:off x="1434967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6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2641335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3683111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4535424"/>
            <a:ext cx="11057839" cy="1728216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68096" y="4654296"/>
            <a:ext cx="1065550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2545"/>
                </a:solidFill>
                <a:latin typeface="Segoe UI"/>
              </a:rPr>
              <a:t>KEY CHARACTERISTICS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" y="4919472"/>
            <a:ext cx="10655503" cy="1842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dirty="0">
                <a:solidFill>
                  <a:srgbClr val="5C6B7B"/>
                </a:solidFill>
                <a:latin typeface="Segoe UI"/>
              </a:rPr>
              <a:t>A subordinate post qualifies only when wholly unoccupied (Occupied = 0);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DSR Officer Hierarchy Master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</a:t>
            </a:r>
            <a:r>
              <a:rPr lang="en-IN" sz="900" b="0" i="0">
                <a:solidFill>
                  <a:srgbClr val="5C6B7B"/>
                </a:solidFill>
                <a:latin typeface="Segoe UI"/>
              </a:rPr>
              <a:t>V-1</a:t>
            </a:r>
            <a:r>
              <a:rPr sz="900" b="0" i="0">
                <a:solidFill>
                  <a:srgbClr val="5C6B7B"/>
                </a:solidFill>
                <a:latin typeface="Segoe UI"/>
              </a:rPr>
              <a:t>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92727" y="1143000"/>
            <a:ext cx="4206240" cy="512064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 dirty="0">
                <a:solidFill>
                  <a:srgbClr val="1F2A37"/>
                </a:solidFill>
                <a:latin typeface="Segoe UI"/>
              </a:rPr>
              <a:t>ACS / Principal Secretary / Secretary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98567" y="1709928"/>
            <a:ext cx="2194560" cy="512064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IGR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32807" y="2276856"/>
            <a:ext cx="2926080" cy="512064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DIGR (Enforcement)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32807" y="2843784"/>
            <a:ext cx="2926080" cy="512064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District Registrar (DRO)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24247" y="3410712"/>
            <a:ext cx="2743200" cy="512064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Sub-Registrar (SR)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69967" y="3977640"/>
            <a:ext cx="2651760" cy="512064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 dirty="0" smtClean="0">
                <a:solidFill>
                  <a:srgbClr val="1F2A37"/>
                </a:solidFill>
                <a:latin typeface="Segoe UI"/>
              </a:rPr>
              <a:t>FDA</a:t>
            </a:r>
            <a:endParaRPr sz="1050" b="0" dirty="0">
              <a:solidFill>
                <a:srgbClr val="1F2A37"/>
              </a:solidFill>
              <a:latin typeface="Segoe U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815687" y="4519422"/>
            <a:ext cx="2651760" cy="512064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lang="en-IN" sz="1050" b="0" dirty="0" smtClean="0">
                <a:solidFill>
                  <a:srgbClr val="1F2A37"/>
                </a:solidFill>
                <a:latin typeface="Segoe UI"/>
              </a:rPr>
              <a:t>SDA</a:t>
            </a:r>
            <a:endParaRPr sz="1050" b="0" dirty="0">
              <a:solidFill>
                <a:srgbClr val="1F2A37"/>
              </a:solidFill>
              <a:latin typeface="Segoe U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820301" y="5111496"/>
            <a:ext cx="2651760" cy="512064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lang="en-IN" sz="1050" b="0" dirty="0" smtClean="0">
                <a:solidFill>
                  <a:srgbClr val="1F2A37"/>
                </a:solidFill>
                <a:latin typeface="Segoe UI"/>
              </a:rPr>
              <a:t>DEO</a:t>
            </a:r>
            <a:endParaRPr sz="1050" b="0" dirty="0">
              <a:solidFill>
                <a:srgbClr val="1F2A37"/>
              </a:solidFill>
              <a:latin typeface="Segoe UI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D4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D4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D4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D4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0" y="0"/>
            <a:ext cx="0" cy="0"/>
          </a:xfrm>
          <a:prstGeom prst="line">
            <a:avLst/>
          </a:prstGeom>
          <a:ln w="19050">
            <a:solidFill>
              <a:srgbClr val="D4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D4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D4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2331720"/>
            <a:ext cx="1828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 i="0">
                <a:solidFill>
                  <a:srgbClr val="1D4E80"/>
                </a:solidFill>
                <a:latin typeface="Segoe U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2615184"/>
            <a:ext cx="8595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Officer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3529584"/>
            <a:ext cx="146304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60320" y="3840480"/>
            <a:ext cx="83667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 i="0">
                <a:solidFill>
                  <a:srgbClr val="B6C9DA"/>
                </a:solidFill>
                <a:latin typeface="Segoe UI"/>
              </a:rPr>
              <a:t>Creation, transfer, the midnight occupancy refresh, and temporary absence — Transfer In now takes effect immediately.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41908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5E82A6"/>
                </a:solidFill>
                <a:latin typeface="Segoe UI"/>
              </a:rPr>
              <a:t>29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/>
          <p:cNvSpPr/>
          <p:nvPr/>
        </p:nvSpPr>
        <p:spPr>
          <a:xfrm>
            <a:off x="566927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Upload approval letter — recommended, not mandatory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15071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 dirty="0">
                <a:solidFill>
                  <a:srgbClr val="1F2A37"/>
                </a:solidFill>
                <a:latin typeface="Segoe UI"/>
              </a:rPr>
              <a:t>Capture face authentication </a:t>
            </a:r>
            <a:r>
              <a:rPr lang="en-IN" sz="1050" dirty="0" smtClean="0">
                <a:solidFill>
                  <a:srgbClr val="1F2A37"/>
                </a:solidFill>
                <a:latin typeface="Segoe UI"/>
              </a:rPr>
              <a:t>and</a:t>
            </a:r>
            <a:r>
              <a:rPr sz="1050" b="0" dirty="0" smtClean="0">
                <a:solidFill>
                  <a:srgbClr val="1F2A37"/>
                </a:solidFill>
                <a:latin typeface="Segoe UI"/>
              </a:rPr>
              <a:t> </a:t>
            </a:r>
            <a:r>
              <a:rPr sz="1050" b="0" dirty="0">
                <a:solidFill>
                  <a:srgbClr val="1F2A37"/>
                </a:solidFill>
                <a:latin typeface="Segoe UI"/>
              </a:rPr>
              <a:t>biometrics — mandatory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72360" y="3276908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Save — account active; occupied count updated per assigned post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1359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System shows roles available via Post–Role mapping for each post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3215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Assign one or more sanctioned posts with available capacity — at least one required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5071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 dirty="0">
                <a:solidFill>
                  <a:srgbClr val="1F2A37"/>
                </a:solidFill>
                <a:latin typeface="Segoe UI"/>
              </a:rPr>
              <a:t>Enter KGID (becomes the Username) + particulars — no email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7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Open “Add DSR Department User” — authorised admin 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DSR Officer creation with post assignment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</a:t>
            </a:r>
            <a:r>
              <a:rPr lang="en-IN" sz="900" b="0" i="0">
                <a:solidFill>
                  <a:srgbClr val="5C6B7B"/>
                </a:solidFill>
                <a:latin typeface="Segoe UI"/>
              </a:rPr>
              <a:t>V-1</a:t>
            </a:r>
            <a:r>
              <a:rPr sz="900" b="0" i="0">
                <a:solidFill>
                  <a:srgbClr val="5C6B7B"/>
                </a:solidFill>
                <a:latin typeface="Segoe UI"/>
              </a:rPr>
              <a:t>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30</a:t>
            </a:r>
          </a:p>
        </p:txBody>
      </p:sp>
      <p:sp>
        <p:nvSpPr>
          <p:cNvPr id="8" name="Oval 7"/>
          <p:cNvSpPr/>
          <p:nvPr/>
        </p:nvSpPr>
        <p:spPr>
          <a:xfrm>
            <a:off x="1434967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1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41335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683111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2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89479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931255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3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137623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179399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4</a:t>
            </a:r>
          </a:p>
        </p:txBody>
      </p:sp>
      <p:sp>
        <p:nvSpPr>
          <p:cNvPr id="19" name="Oval 18"/>
          <p:cNvSpPr/>
          <p:nvPr/>
        </p:nvSpPr>
        <p:spPr>
          <a:xfrm>
            <a:off x="1434967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5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641335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683111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6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889479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940400" y="3112316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200" b="1" dirty="0">
                <a:solidFill>
                  <a:srgbClr val="0B2545"/>
                </a:solidFill>
                <a:latin typeface="Segoe UI"/>
              </a:rPr>
              <a:t>7</a:t>
            </a:r>
            <a:endParaRPr sz="1200" b="1" dirty="0">
              <a:solidFill>
                <a:srgbClr val="0B2545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/>
          <p:cNvSpPr/>
          <p:nvPr/>
        </p:nvSpPr>
        <p:spPr>
          <a:xfrm>
            <a:off x="566927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 dirty="0">
                <a:solidFill>
                  <a:srgbClr val="1F2A37"/>
                </a:solidFill>
                <a:latin typeface="Segoe UI"/>
              </a:rPr>
              <a:t>Upload </a:t>
            </a:r>
            <a:r>
              <a:rPr sz="1050" b="0" dirty="0" err="1">
                <a:solidFill>
                  <a:srgbClr val="1F2A37"/>
                </a:solidFill>
                <a:latin typeface="Segoe UI"/>
              </a:rPr>
              <a:t>authorisation</a:t>
            </a:r>
            <a:r>
              <a:rPr sz="1050" b="0" dirty="0">
                <a:solidFill>
                  <a:srgbClr val="1F2A37"/>
                </a:solidFill>
                <a:latin typeface="Segoe UI"/>
              </a:rPr>
              <a:t> letter 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15071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 dirty="0">
                <a:solidFill>
                  <a:srgbClr val="1F2A37"/>
                </a:solidFill>
                <a:latin typeface="Segoe UI"/>
              </a:rPr>
              <a:t>Review role and End Date; confirm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63215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 dirty="0">
                <a:solidFill>
                  <a:srgbClr val="1F2A37"/>
                </a:solidFill>
                <a:latin typeface="Segoe UI"/>
              </a:rPr>
              <a:t>Save — account active with module access for the assigned role</a:t>
            </a:r>
            <a:r>
              <a:rPr lang="en-IN" sz="1050" b="0" dirty="0">
                <a:solidFill>
                  <a:srgbClr val="1F2A37"/>
                </a:solidFill>
                <a:latin typeface="Segoe UI"/>
              </a:rPr>
              <a:t>s</a:t>
            </a:r>
            <a:endParaRPr sz="1050" b="0" dirty="0">
              <a:solidFill>
                <a:srgbClr val="1F2A37"/>
              </a:solidFill>
              <a:latin typeface="Segoe UI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559503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lang="en-US" sz="1050" b="0" dirty="0">
                <a:solidFill>
                  <a:srgbClr val="1F2A37"/>
                </a:solidFill>
                <a:latin typeface="Segoe UI"/>
              </a:rPr>
              <a:t>E</a:t>
            </a:r>
            <a:r>
              <a:rPr sz="1050" b="0" dirty="0">
                <a:solidFill>
                  <a:srgbClr val="1F2A37"/>
                </a:solidFill>
                <a:latin typeface="Segoe UI"/>
              </a:rPr>
              <a:t>nter Account End Date</a:t>
            </a:r>
            <a:r>
              <a:rPr lang="en-US" sz="1050" b="0" dirty="0">
                <a:solidFill>
                  <a:srgbClr val="1F2A37"/>
                </a:solidFill>
                <a:latin typeface="Segoe UI"/>
              </a:rPr>
              <a:t> - </a:t>
            </a:r>
            <a:r>
              <a:rPr lang="en-IN" sz="1050" dirty="0">
                <a:solidFill>
                  <a:srgbClr val="1F2A37"/>
                </a:solidFill>
                <a:latin typeface="Segoe UI"/>
              </a:rPr>
              <a:t>Optional</a:t>
            </a:r>
            <a:endParaRPr sz="1050" b="0" dirty="0">
              <a:solidFill>
                <a:srgbClr val="1F2A37"/>
              </a:solidFill>
              <a:latin typeface="Segoe U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311359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 dirty="0">
                <a:solidFill>
                  <a:srgbClr val="1F2A37"/>
                </a:solidFill>
                <a:latin typeface="Segoe UI"/>
              </a:rPr>
              <a:t>Assign </a:t>
            </a:r>
            <a:r>
              <a:rPr lang="en-IN" sz="1050" b="0" dirty="0">
                <a:solidFill>
                  <a:srgbClr val="1F2A37"/>
                </a:solidFill>
                <a:latin typeface="Segoe UI"/>
              </a:rPr>
              <a:t>required </a:t>
            </a:r>
            <a:r>
              <a:rPr sz="1050" b="0" dirty="0">
                <a:solidFill>
                  <a:srgbClr val="1F2A37"/>
                </a:solidFill>
                <a:latin typeface="Segoe UI"/>
              </a:rPr>
              <a:t>role</a:t>
            </a:r>
            <a:r>
              <a:rPr lang="en-IN" sz="1050" b="0" dirty="0">
                <a:solidFill>
                  <a:srgbClr val="1F2A37"/>
                </a:solidFill>
                <a:latin typeface="Segoe UI"/>
              </a:rPr>
              <a:t>s</a:t>
            </a:r>
            <a:endParaRPr sz="1050" b="0" dirty="0">
              <a:solidFill>
                <a:srgbClr val="1F2A37"/>
              </a:solidFill>
              <a:latin typeface="Segoe U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063215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Enter parent department, designation, official email, mobile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5071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 dirty="0">
                <a:solidFill>
                  <a:srgbClr val="1F2A37"/>
                </a:solidFill>
                <a:latin typeface="Segoe UI"/>
              </a:rPr>
              <a:t>Enter Employee ID/KGID + Department Code — Username = </a:t>
            </a:r>
            <a:r>
              <a:rPr sz="1050" b="0" dirty="0" err="1">
                <a:solidFill>
                  <a:srgbClr val="1F2A37"/>
                </a:solidFill>
                <a:latin typeface="Segoe UI"/>
              </a:rPr>
              <a:t>Dept</a:t>
            </a:r>
            <a:r>
              <a:rPr sz="1050" b="0" dirty="0">
                <a:solidFill>
                  <a:srgbClr val="1F2A37"/>
                </a:solidFill>
                <a:latin typeface="Segoe UI"/>
              </a:rPr>
              <a:t> Code + 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7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Open “Add Other Department User” — authorised admin 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Other Department user creation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</a:t>
            </a:r>
            <a:r>
              <a:rPr lang="en-IN" sz="900" b="0" i="0">
                <a:solidFill>
                  <a:srgbClr val="5C6B7B"/>
                </a:solidFill>
                <a:latin typeface="Segoe UI"/>
              </a:rPr>
              <a:t>V-1</a:t>
            </a:r>
            <a:r>
              <a:rPr sz="900" b="0" i="0">
                <a:solidFill>
                  <a:srgbClr val="5C6B7B"/>
                </a:solidFill>
                <a:latin typeface="Segoe UI"/>
              </a:rPr>
              <a:t>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31</a:t>
            </a:r>
          </a:p>
        </p:txBody>
      </p:sp>
      <p:sp>
        <p:nvSpPr>
          <p:cNvPr id="8" name="Oval 7"/>
          <p:cNvSpPr/>
          <p:nvPr/>
        </p:nvSpPr>
        <p:spPr>
          <a:xfrm>
            <a:off x="1434967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1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41335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683111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2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89479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931255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3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137623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179399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4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385767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427543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5</a:t>
            </a:r>
          </a:p>
        </p:txBody>
      </p:sp>
      <p:sp>
        <p:nvSpPr>
          <p:cNvPr id="22" name="Oval 21"/>
          <p:cNvSpPr/>
          <p:nvPr/>
        </p:nvSpPr>
        <p:spPr>
          <a:xfrm>
            <a:off x="1434967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6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2641335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3683111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7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889479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931255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/>
          <p:cNvSpPr/>
          <p:nvPr/>
        </p:nvSpPr>
        <p:spPr>
          <a:xfrm>
            <a:off x="566927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Confirm relieving — audit-logged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15071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Occupancy remains active through the Relieving Date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3070" y="1892808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Enter Relieving Date, mandatory Relieving Reason, and Relieving Order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54071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Superior selects the officer / post occupancy to relieve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5071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lang="en-US" sz="1050" dirty="0">
                <a:solidFill>
                  <a:srgbClr val="1F2A37"/>
                </a:solidFill>
                <a:latin typeface="Segoe UI"/>
              </a:rPr>
              <a:t>System lists offices in his/her jurisdiction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7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Open Transfer Out / Relieving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Transfer Out and relieving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</a:t>
            </a:r>
            <a:r>
              <a:rPr lang="en-IN" sz="900" b="0" i="0">
                <a:solidFill>
                  <a:srgbClr val="5C6B7B"/>
                </a:solidFill>
                <a:latin typeface="Segoe UI"/>
              </a:rPr>
              <a:t>V-1</a:t>
            </a:r>
            <a:r>
              <a:rPr sz="900" b="0" i="0">
                <a:solidFill>
                  <a:srgbClr val="5C6B7B"/>
                </a:solidFill>
                <a:latin typeface="Segoe UI"/>
              </a:rPr>
              <a:t>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32</a:t>
            </a:r>
          </a:p>
        </p:txBody>
      </p:sp>
      <p:sp>
        <p:nvSpPr>
          <p:cNvPr id="8" name="Oval 7"/>
          <p:cNvSpPr/>
          <p:nvPr/>
        </p:nvSpPr>
        <p:spPr>
          <a:xfrm>
            <a:off x="1434967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1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41335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683111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2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889478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ight Arrow 18"/>
          <p:cNvSpPr/>
          <p:nvPr/>
        </p:nvSpPr>
        <p:spPr>
          <a:xfrm>
            <a:off x="7119334" y="2299716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161110" y="1728216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rgbClr val="0B2545"/>
                </a:solidFill>
                <a:latin typeface="Segoe UI"/>
              </a:rPr>
              <a:t>4</a:t>
            </a:r>
            <a:endParaRPr sz="1200" b="1" dirty="0">
              <a:solidFill>
                <a:srgbClr val="0B2545"/>
              </a:solidFill>
              <a:latin typeface="Segoe UI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1434967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rgbClr val="0B2545"/>
                </a:solidFill>
                <a:latin typeface="Segoe UI"/>
              </a:rPr>
              <a:t>5</a:t>
            </a:r>
            <a:endParaRPr sz="1200" b="1" dirty="0">
              <a:solidFill>
                <a:srgbClr val="0B2545"/>
              </a:solidFill>
              <a:latin typeface="Segoe UI"/>
            </a:endParaRPr>
          </a:p>
        </p:txBody>
      </p:sp>
      <p:sp>
        <p:nvSpPr>
          <p:cNvPr id="24" name="Right Arrow 23"/>
          <p:cNvSpPr/>
          <p:nvPr/>
        </p:nvSpPr>
        <p:spPr>
          <a:xfrm>
            <a:off x="2641335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3683111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rgbClr val="0B2545"/>
                </a:solidFill>
                <a:latin typeface="Segoe UI"/>
              </a:rPr>
              <a:t>6</a:t>
            </a:r>
            <a:endParaRPr sz="1200" b="1" dirty="0">
              <a:solidFill>
                <a:srgbClr val="0B2545"/>
              </a:solidFill>
              <a:latin typeface="Segoe U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66928" y="4535424"/>
            <a:ext cx="11057839" cy="1728216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68096" y="4654296"/>
            <a:ext cx="1065550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2545"/>
                </a:solidFill>
                <a:latin typeface="Segoe UI"/>
              </a:rPr>
              <a:t>KEY CHARACTERISTICS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" y="4919472"/>
            <a:ext cx="10655503" cy="1842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dirty="0">
                <a:solidFill>
                  <a:srgbClr val="5C6B7B"/>
                </a:solidFill>
                <a:latin typeface="Segoe UI"/>
              </a:rPr>
              <a:t>Relieving Reason is now mandatory — Deputation, Transfer, Suspension, Superannuation or Death — alongside Relieving Date and Order.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C8073A9-ACE0-3EA8-CD21-C8FD18F88548}"/>
              </a:ext>
            </a:extLst>
          </p:cNvPr>
          <p:cNvSpPr/>
          <p:nvPr/>
        </p:nvSpPr>
        <p:spPr>
          <a:xfrm>
            <a:off x="5922110" y="1754093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rgbClr val="0B2545"/>
                </a:solidFill>
                <a:latin typeface="Segoe UI"/>
              </a:rPr>
              <a:t>3</a:t>
            </a:r>
            <a:endParaRPr sz="1200" b="1" dirty="0">
              <a:solidFill>
                <a:srgbClr val="0B2545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/>
          <p:cNvSpPr/>
          <p:nvPr/>
        </p:nvSpPr>
        <p:spPr>
          <a:xfrm>
            <a:off x="566927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 dirty="0">
                <a:solidFill>
                  <a:srgbClr val="1F2A37"/>
                </a:solidFill>
                <a:latin typeface="Segoe UI"/>
              </a:rPr>
              <a:t>Enter Transfer Order / Reporting Order — mandatory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15071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 dirty="0">
                <a:solidFill>
                  <a:srgbClr val="1F2A37"/>
                </a:solidFill>
                <a:latin typeface="Segoe UI"/>
              </a:rPr>
              <a:t>Confirm — occupancy active immediately; occupied count +1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59503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 dirty="0">
                <a:solidFill>
                  <a:srgbClr val="1F2A37"/>
                </a:solidFill>
                <a:latin typeface="Segoe UI"/>
              </a:rPr>
              <a:t>Select the officer being transferred 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1359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 dirty="0">
                <a:solidFill>
                  <a:srgbClr val="1F2A37"/>
                </a:solidFill>
                <a:latin typeface="Segoe UI"/>
              </a:rPr>
              <a:t>Proceed only if</a:t>
            </a:r>
            <a:r>
              <a:rPr lang="en-IN" sz="1050" b="0" dirty="0">
                <a:solidFill>
                  <a:srgbClr val="1F2A37"/>
                </a:solidFill>
                <a:latin typeface="Segoe UI"/>
              </a:rPr>
              <a:t> there is </a:t>
            </a:r>
            <a:r>
              <a:rPr sz="1050" b="0" dirty="0">
                <a:solidFill>
                  <a:srgbClr val="1F2A37"/>
                </a:solidFill>
                <a:latin typeface="Segoe UI"/>
              </a:rPr>
              <a:t> </a:t>
            </a:r>
            <a:r>
              <a:rPr lang="en-IN" sz="1050" b="0" dirty="0">
                <a:solidFill>
                  <a:srgbClr val="1F2A37"/>
                </a:solidFill>
                <a:latin typeface="Segoe UI"/>
              </a:rPr>
              <a:t>occupancy</a:t>
            </a:r>
            <a:endParaRPr sz="1050" b="0" dirty="0">
              <a:solidFill>
                <a:srgbClr val="1F2A37"/>
              </a:solidFill>
              <a:latin typeface="Segoe U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063215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 dirty="0">
                <a:solidFill>
                  <a:srgbClr val="1F2A37"/>
                </a:solidFill>
                <a:latin typeface="Segoe UI"/>
              </a:rPr>
              <a:t>Select </a:t>
            </a:r>
            <a:r>
              <a:rPr lang="en-IN" sz="1050" b="0" dirty="0">
                <a:solidFill>
                  <a:srgbClr val="1F2A37"/>
                </a:solidFill>
                <a:latin typeface="Segoe UI"/>
              </a:rPr>
              <a:t>the </a:t>
            </a:r>
            <a:r>
              <a:rPr sz="1050" b="0" dirty="0">
                <a:solidFill>
                  <a:srgbClr val="1F2A37"/>
                </a:solidFill>
                <a:latin typeface="Segoe UI"/>
              </a:rPr>
              <a:t>Post</a:t>
            </a:r>
            <a:r>
              <a:rPr lang="en-IN" sz="1050" b="0" dirty="0">
                <a:solidFill>
                  <a:srgbClr val="1F2A37"/>
                </a:solidFill>
                <a:latin typeface="Segoe UI"/>
              </a:rPr>
              <a:t> </a:t>
            </a:r>
            <a:r>
              <a:rPr sz="1050" b="0" dirty="0">
                <a:solidFill>
                  <a:srgbClr val="1F2A37"/>
                </a:solidFill>
                <a:latin typeface="Segoe UI"/>
              </a:rPr>
              <a:t>where the </a:t>
            </a:r>
            <a:r>
              <a:rPr lang="en-IN" sz="1050" b="0" dirty="0">
                <a:solidFill>
                  <a:srgbClr val="1F2A37"/>
                </a:solidFill>
                <a:latin typeface="Segoe UI"/>
              </a:rPr>
              <a:t>officer </a:t>
            </a:r>
            <a:r>
              <a:rPr lang="en-IN" sz="1050" dirty="0" smtClean="0">
                <a:solidFill>
                  <a:srgbClr val="1F2A37"/>
                </a:solidFill>
                <a:latin typeface="Segoe UI"/>
              </a:rPr>
              <a:t>is</a:t>
            </a:r>
            <a:r>
              <a:rPr lang="en-IN" sz="1050" b="0" dirty="0" smtClean="0">
                <a:solidFill>
                  <a:srgbClr val="1F2A37"/>
                </a:solidFill>
                <a:latin typeface="Segoe UI"/>
              </a:rPr>
              <a:t> </a:t>
            </a:r>
            <a:r>
              <a:rPr lang="en-IN" sz="1050" b="0" dirty="0">
                <a:solidFill>
                  <a:srgbClr val="1F2A37"/>
                </a:solidFill>
                <a:latin typeface="Segoe UI"/>
              </a:rPr>
              <a:t>transferred</a:t>
            </a:r>
            <a:endParaRPr sz="1050" b="0" dirty="0">
              <a:solidFill>
                <a:srgbClr val="1F2A37"/>
              </a:solidFill>
              <a:latin typeface="Segoe U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815071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 dirty="0">
                <a:solidFill>
                  <a:srgbClr val="1F2A37"/>
                </a:solidFill>
                <a:latin typeface="Segoe UI"/>
              </a:rPr>
              <a:t>System lists offices in </a:t>
            </a:r>
            <a:r>
              <a:rPr lang="en-IN" sz="1050" b="0" dirty="0">
                <a:solidFill>
                  <a:srgbClr val="1F2A37"/>
                </a:solidFill>
                <a:latin typeface="Segoe UI"/>
              </a:rPr>
              <a:t>his/her jurisdiction</a:t>
            </a:r>
            <a:endParaRPr sz="1050" b="0" dirty="0">
              <a:solidFill>
                <a:srgbClr val="1F2A37"/>
              </a:solidFill>
              <a:latin typeface="Segoe U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66927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Open Transfer 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 dirty="0">
                <a:solidFill>
                  <a:srgbClr val="0B2545"/>
                </a:solidFill>
                <a:latin typeface="Segoe UI"/>
              </a:rPr>
              <a:t>Transfer </a:t>
            </a:r>
            <a:r>
              <a:rPr sz="2700" b="1" i="0" dirty="0" smtClean="0">
                <a:solidFill>
                  <a:srgbClr val="0B2545"/>
                </a:solidFill>
                <a:latin typeface="Segoe UI"/>
              </a:rPr>
              <a:t>In</a:t>
            </a:r>
            <a:endParaRPr sz="2700" b="1" i="0" dirty="0">
              <a:solidFill>
                <a:srgbClr val="0B2545"/>
              </a:solidFill>
              <a:latin typeface="Segoe U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</a:t>
            </a:r>
            <a:r>
              <a:rPr lang="en-IN" sz="900" b="0" i="0">
                <a:solidFill>
                  <a:srgbClr val="5C6B7B"/>
                </a:solidFill>
                <a:latin typeface="Segoe UI"/>
              </a:rPr>
              <a:t>V-1</a:t>
            </a:r>
            <a:r>
              <a:rPr sz="900" b="0" i="0">
                <a:solidFill>
                  <a:srgbClr val="5C6B7B"/>
                </a:solidFill>
                <a:latin typeface="Segoe UI"/>
              </a:rPr>
              <a:t>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33</a:t>
            </a:r>
          </a:p>
        </p:txBody>
      </p:sp>
      <p:sp>
        <p:nvSpPr>
          <p:cNvPr id="8" name="Oval 7"/>
          <p:cNvSpPr/>
          <p:nvPr/>
        </p:nvSpPr>
        <p:spPr>
          <a:xfrm>
            <a:off x="1434967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1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41335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683111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2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89479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931255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3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137623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179399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4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385767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427543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5</a:t>
            </a:r>
          </a:p>
        </p:txBody>
      </p:sp>
      <p:sp>
        <p:nvSpPr>
          <p:cNvPr id="22" name="Oval 21"/>
          <p:cNvSpPr/>
          <p:nvPr/>
        </p:nvSpPr>
        <p:spPr>
          <a:xfrm>
            <a:off x="1434967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6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2641335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3683111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/>
          <p:cNvSpPr/>
          <p:nvPr/>
        </p:nvSpPr>
        <p:spPr>
          <a:xfrm>
            <a:off x="566927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lang="en-IN" sz="1050" b="0" dirty="0">
                <a:solidFill>
                  <a:srgbClr val="1F2A37"/>
                </a:solidFill>
                <a:latin typeface="Segoe UI"/>
              </a:rPr>
              <a:t>A</a:t>
            </a:r>
            <a:r>
              <a:rPr sz="1050" b="0" dirty="0" err="1">
                <a:solidFill>
                  <a:srgbClr val="1F2A37"/>
                </a:solidFill>
                <a:latin typeface="Segoe UI"/>
              </a:rPr>
              <a:t>ssign</a:t>
            </a:r>
            <a:r>
              <a:rPr sz="1050" b="0" dirty="0">
                <a:solidFill>
                  <a:srgbClr val="1F2A37"/>
                </a:solidFill>
                <a:latin typeface="Segoe UI"/>
              </a:rPr>
              <a:t> Temporary Charge to another subordinate (any office)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59503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 dirty="0" smtClean="0">
                <a:solidFill>
                  <a:srgbClr val="1F2A37"/>
                </a:solidFill>
                <a:latin typeface="Segoe UI"/>
              </a:rPr>
              <a:t>From</a:t>
            </a:r>
            <a:r>
              <a:rPr lang="en-IN" sz="1050" b="0" dirty="0" smtClean="0">
                <a:solidFill>
                  <a:srgbClr val="1F2A37"/>
                </a:solidFill>
                <a:latin typeface="Segoe UI"/>
              </a:rPr>
              <a:t> -</a:t>
            </a:r>
            <a:r>
              <a:rPr sz="1050" b="0" dirty="0" smtClean="0">
                <a:solidFill>
                  <a:srgbClr val="1F2A37"/>
                </a:solidFill>
                <a:latin typeface="Segoe UI"/>
              </a:rPr>
              <a:t> </a:t>
            </a:r>
            <a:r>
              <a:rPr sz="1050" b="0" dirty="0" err="1">
                <a:solidFill>
                  <a:srgbClr val="1F2A37"/>
                </a:solidFill>
                <a:latin typeface="Segoe UI"/>
              </a:rPr>
              <a:t>from_date</a:t>
            </a:r>
            <a:r>
              <a:rPr sz="1050" b="0" dirty="0">
                <a:solidFill>
                  <a:srgbClr val="1F2A37"/>
                </a:solidFill>
                <a:latin typeface="Segoe UI"/>
              </a:rPr>
              <a:t> — login is denied for the absent </a:t>
            </a:r>
            <a:r>
              <a:rPr lang="en-IN" sz="1050" b="0" dirty="0">
                <a:solidFill>
                  <a:srgbClr val="1F2A37"/>
                </a:solidFill>
                <a:latin typeface="Segoe UI"/>
              </a:rPr>
              <a:t>u</a:t>
            </a:r>
            <a:r>
              <a:rPr sz="1050" b="0" dirty="0" err="1">
                <a:solidFill>
                  <a:srgbClr val="1F2A37"/>
                </a:solidFill>
                <a:latin typeface="Segoe UI"/>
              </a:rPr>
              <a:t>ser</a:t>
            </a:r>
            <a:endParaRPr sz="1050" b="0" dirty="0">
              <a:solidFill>
                <a:srgbClr val="1F2A37"/>
              </a:solidFill>
              <a:latin typeface="Segoe U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311359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 dirty="0">
                <a:solidFill>
                  <a:srgbClr val="1F2A37"/>
                </a:solidFill>
                <a:latin typeface="Segoe UI"/>
              </a:rPr>
              <a:t>Confirm absence — Occupied </a:t>
            </a:r>
            <a:r>
              <a:rPr lang="en-IN" sz="1050" b="0" dirty="0">
                <a:solidFill>
                  <a:srgbClr val="1F2A37"/>
                </a:solidFill>
                <a:latin typeface="Segoe UI"/>
              </a:rPr>
              <a:t>post </a:t>
            </a:r>
            <a:r>
              <a:rPr sz="1050" b="0" dirty="0">
                <a:solidFill>
                  <a:srgbClr val="1F2A37"/>
                </a:solidFill>
                <a:latin typeface="Segoe UI"/>
              </a:rPr>
              <a:t>remains unchanged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3215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lang="en-IN" sz="1050" b="0" dirty="0">
                <a:solidFill>
                  <a:srgbClr val="1F2A37"/>
                </a:solidFill>
                <a:latin typeface="Segoe UI"/>
              </a:rPr>
              <a:t>s</a:t>
            </a:r>
            <a:r>
              <a:rPr sz="1050" b="0" dirty="0">
                <a:solidFill>
                  <a:srgbClr val="1F2A37"/>
                </a:solidFill>
                <a:latin typeface="Segoe UI"/>
              </a:rPr>
              <a:t>elect</a:t>
            </a:r>
            <a:r>
              <a:rPr lang="en-IN" sz="1050" b="0" dirty="0">
                <a:solidFill>
                  <a:srgbClr val="1F2A37"/>
                </a:solidFill>
                <a:latin typeface="Segoe UI"/>
              </a:rPr>
              <a:t>s</a:t>
            </a:r>
            <a:r>
              <a:rPr sz="1050" b="0" dirty="0">
                <a:solidFill>
                  <a:srgbClr val="1F2A37"/>
                </a:solidFill>
                <a:latin typeface="Segoe UI"/>
              </a:rPr>
              <a:t> </a:t>
            </a:r>
            <a:r>
              <a:rPr lang="en-IN" sz="1050" b="0" dirty="0">
                <a:solidFill>
                  <a:srgbClr val="1F2A37"/>
                </a:solidFill>
                <a:latin typeface="Segoe UI"/>
              </a:rPr>
              <a:t>the occupied post</a:t>
            </a:r>
            <a:r>
              <a:rPr sz="1050" b="0" dirty="0">
                <a:solidFill>
                  <a:srgbClr val="1F2A37"/>
                </a:solidFill>
                <a:latin typeface="Segoe UI"/>
              </a:rPr>
              <a:t>; enter type, reason, from</a:t>
            </a:r>
            <a:r>
              <a:rPr lang="en-IN" sz="1050" b="0" dirty="0">
                <a:solidFill>
                  <a:srgbClr val="1F2A37"/>
                </a:solidFill>
                <a:latin typeface="Segoe UI"/>
              </a:rPr>
              <a:t> and </a:t>
            </a:r>
            <a:r>
              <a:rPr sz="1050" b="0" dirty="0">
                <a:solidFill>
                  <a:srgbClr val="1F2A37"/>
                </a:solidFill>
                <a:latin typeface="Segoe UI"/>
              </a:rPr>
              <a:t>to dates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5071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 dirty="0">
                <a:solidFill>
                  <a:srgbClr val="1F2A37"/>
                </a:solidFill>
                <a:latin typeface="Segoe UI"/>
              </a:rPr>
              <a:t>System lists </a:t>
            </a:r>
            <a:r>
              <a:rPr lang="en-IN" sz="1050" b="0" dirty="0">
                <a:solidFill>
                  <a:srgbClr val="1F2A37"/>
                </a:solidFill>
                <a:latin typeface="Segoe UI"/>
              </a:rPr>
              <a:t>all </a:t>
            </a:r>
            <a:r>
              <a:rPr sz="1050" b="0" dirty="0">
                <a:solidFill>
                  <a:srgbClr val="1F2A37"/>
                </a:solidFill>
                <a:latin typeface="Segoe UI"/>
              </a:rPr>
              <a:t>office</a:t>
            </a:r>
            <a:r>
              <a:rPr lang="en-IN" sz="1050" dirty="0">
                <a:solidFill>
                  <a:srgbClr val="1F2A37"/>
                </a:solidFill>
                <a:latin typeface="Segoe UI"/>
              </a:rPr>
              <a:t>s under his jurisdiction</a:t>
            </a:r>
            <a:endParaRPr sz="1050" b="0" dirty="0">
              <a:solidFill>
                <a:srgbClr val="1F2A37"/>
              </a:solidFill>
              <a:latin typeface="Segoe U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66927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lang="en-IN" sz="1050" b="0" dirty="0">
                <a:solidFill>
                  <a:srgbClr val="1F2A37"/>
                </a:solidFill>
                <a:latin typeface="Segoe UI"/>
              </a:rPr>
              <a:t>Department user Enters “</a:t>
            </a:r>
            <a:r>
              <a:rPr sz="1050" b="0" dirty="0">
                <a:solidFill>
                  <a:srgbClr val="1F2A37"/>
                </a:solidFill>
                <a:latin typeface="Segoe UI"/>
              </a:rPr>
              <a:t>Temporary Absence / Leave / OOD</a:t>
            </a:r>
            <a:r>
              <a:rPr lang="en-IN" sz="1050" b="0" dirty="0">
                <a:solidFill>
                  <a:srgbClr val="1F2A37"/>
                </a:solidFill>
                <a:latin typeface="Segoe UI"/>
              </a:rPr>
              <a:t>“ </a:t>
            </a:r>
            <a:endParaRPr sz="1050" b="0" dirty="0">
              <a:solidFill>
                <a:srgbClr val="1F2A37"/>
              </a:solidFill>
              <a:latin typeface="Segoe U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 dirty="0">
                <a:solidFill>
                  <a:srgbClr val="0B2545"/>
                </a:solidFill>
                <a:latin typeface="Segoe UI"/>
              </a:rPr>
              <a:t>Temporary </a:t>
            </a:r>
            <a:r>
              <a:rPr sz="2700" b="1" i="0" dirty="0" smtClean="0">
                <a:solidFill>
                  <a:srgbClr val="0B2545"/>
                </a:solidFill>
                <a:latin typeface="Segoe UI"/>
              </a:rPr>
              <a:t>absence</a:t>
            </a:r>
            <a:endParaRPr sz="2700" b="1" i="0" dirty="0">
              <a:solidFill>
                <a:srgbClr val="0B2545"/>
              </a:solidFill>
              <a:latin typeface="Segoe U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</a:t>
            </a:r>
            <a:r>
              <a:rPr lang="en-IN" sz="900" b="0" i="0">
                <a:solidFill>
                  <a:srgbClr val="5C6B7B"/>
                </a:solidFill>
                <a:latin typeface="Segoe UI"/>
              </a:rPr>
              <a:t>V-1</a:t>
            </a:r>
            <a:r>
              <a:rPr sz="900" b="0" i="0">
                <a:solidFill>
                  <a:srgbClr val="5C6B7B"/>
                </a:solidFill>
                <a:latin typeface="Segoe UI"/>
              </a:rPr>
              <a:t>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36</a:t>
            </a:r>
          </a:p>
        </p:txBody>
      </p:sp>
      <p:sp>
        <p:nvSpPr>
          <p:cNvPr id="8" name="Oval 7"/>
          <p:cNvSpPr/>
          <p:nvPr/>
        </p:nvSpPr>
        <p:spPr>
          <a:xfrm>
            <a:off x="1434967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1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41335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683111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2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89479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931255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3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137623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179399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4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385767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427543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5</a:t>
            </a:r>
          </a:p>
        </p:txBody>
      </p:sp>
      <p:sp>
        <p:nvSpPr>
          <p:cNvPr id="22" name="Oval 21"/>
          <p:cNvSpPr/>
          <p:nvPr/>
        </p:nvSpPr>
        <p:spPr>
          <a:xfrm>
            <a:off x="1434967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4535424"/>
            <a:ext cx="11057839" cy="1728216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68096" y="4654296"/>
            <a:ext cx="1065550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2545"/>
                </a:solidFill>
                <a:latin typeface="Segoe UI"/>
              </a:rPr>
              <a:t>KEY CHARACTERISTICS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" y="4919472"/>
            <a:ext cx="10655503" cy="203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dirty="0">
                <a:solidFill>
                  <a:srgbClr val="5C6B7B"/>
                </a:solidFill>
                <a:latin typeface="Segoe UI"/>
              </a:rPr>
              <a:t>Absence does not free the slot — Transfer In must not treat the post as vacant. While an effective absence exists the officer's login is blocked entirely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2331720"/>
            <a:ext cx="1828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 i="0">
                <a:solidFill>
                  <a:srgbClr val="1D4E80"/>
                </a:solidFill>
                <a:latin typeface="Segoe U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2615184"/>
            <a:ext cx="8595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Quality, Reporting and Sign-off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3529584"/>
            <a:ext cx="146304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60320" y="3840480"/>
            <a:ext cx="83667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 i="0">
                <a:solidFill>
                  <a:srgbClr val="B6C9DA"/>
                </a:solidFill>
                <a:latin typeface="Segoe UI"/>
              </a:rPr>
              <a:t>Non-functional requirements, reports, acceptance criteria and open risks.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41908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5E82A6"/>
                </a:solidFill>
                <a:latin typeface="Segoe UI"/>
              </a:rPr>
              <a:t>37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Non-functional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</a:t>
            </a:r>
            <a:r>
              <a:rPr lang="en-IN" sz="900" b="0" i="0">
                <a:solidFill>
                  <a:srgbClr val="5C6B7B"/>
                </a:solidFill>
                <a:latin typeface="Segoe UI"/>
              </a:rPr>
              <a:t>V-1</a:t>
            </a:r>
            <a:r>
              <a:rPr sz="900" b="0" i="0">
                <a:solidFill>
                  <a:srgbClr val="5C6B7B"/>
                </a:solidFill>
                <a:latin typeface="Segoe UI"/>
              </a:rPr>
              <a:t>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38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72768"/>
            <a:ext cx="5300319" cy="38404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655064"/>
            <a:ext cx="502599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SECURITY AND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176272"/>
            <a:ext cx="5300319" cy="14189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 dirty="0">
                <a:solidFill>
                  <a:srgbClr val="C89B3C"/>
                </a:solidFill>
                <a:latin typeface="Segoe UI"/>
              </a:rPr>
              <a:t>—  </a:t>
            </a:r>
            <a:r>
              <a:rPr sz="1350" dirty="0">
                <a:solidFill>
                  <a:srgbClr val="1F2A37"/>
                </a:solidFill>
                <a:latin typeface="Segoe UI"/>
              </a:rPr>
              <a:t>No password storage anywhere; DSR Officers authenticate with Captcha + Face/Biometrics only — no OTP; Citizens and Other Department use OTP to mobile only.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 dirty="0">
                <a:solidFill>
                  <a:srgbClr val="C89B3C"/>
                </a:solidFill>
                <a:latin typeface="Segoe UI"/>
              </a:rPr>
              <a:t>—  </a:t>
            </a:r>
            <a:r>
              <a:rPr lang="en-IN" sz="1350" dirty="0">
                <a:solidFill>
                  <a:srgbClr val="1F2A37"/>
                </a:solidFill>
                <a:latin typeface="Segoe UI"/>
              </a:rPr>
              <a:t>(</a:t>
            </a:r>
            <a:r>
              <a:rPr lang="en-IN" sz="1400" dirty="0"/>
              <a:t>Transport Layer Security)T</a:t>
            </a:r>
            <a:r>
              <a:rPr lang="en-IN" sz="1350" dirty="0">
                <a:solidFill>
                  <a:srgbClr val="1F2A37"/>
                </a:solidFill>
                <a:latin typeface="Segoe UI"/>
              </a:rPr>
              <a:t>LS</a:t>
            </a:r>
            <a:r>
              <a:rPr sz="1350" dirty="0">
                <a:solidFill>
                  <a:srgbClr val="1F2A37"/>
                </a:solidFill>
                <a:latin typeface="Segoe UI"/>
              </a:rPr>
              <a:t> 1.2 or higher for all data in transit</a:t>
            </a:r>
            <a:r>
              <a:rPr sz="1350" dirty="0" smtClean="0">
                <a:solidFill>
                  <a:srgbClr val="1F2A37"/>
                </a:solidFill>
                <a:latin typeface="Segoe UI"/>
              </a:rPr>
              <a:t>;</a:t>
            </a:r>
            <a:endParaRPr lang="en-IN" sz="1350" dirty="0" smtClean="0">
              <a:solidFill>
                <a:srgbClr val="1F2A37"/>
              </a:solidFill>
              <a:latin typeface="Segoe UI"/>
            </a:endParaRP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 dirty="0" smtClean="0">
                <a:solidFill>
                  <a:srgbClr val="C89B3C"/>
                </a:solidFill>
                <a:latin typeface="Segoe UI"/>
              </a:rPr>
              <a:t>—  </a:t>
            </a:r>
            <a:r>
              <a:rPr sz="1350" dirty="0">
                <a:solidFill>
                  <a:srgbClr val="1F2A37"/>
                </a:solidFill>
                <a:latin typeface="Segoe UI"/>
              </a:rPr>
              <a:t>Minimum </a:t>
            </a:r>
            <a:r>
              <a:rPr lang="en-IN" sz="1350" dirty="0">
                <a:solidFill>
                  <a:srgbClr val="1F2A37"/>
                </a:solidFill>
                <a:latin typeface="Segoe UI"/>
              </a:rPr>
              <a:t>4</a:t>
            </a:r>
            <a:r>
              <a:rPr lang="en-IN" sz="1350" dirty="0" smtClean="0">
                <a:solidFill>
                  <a:srgbClr val="1F2A37"/>
                </a:solidFill>
                <a:latin typeface="Segoe UI"/>
              </a:rPr>
              <a:t>0</a:t>
            </a:r>
            <a:r>
              <a:rPr lang="en-IN" sz="1350" dirty="0" smtClean="0">
                <a:solidFill>
                  <a:srgbClr val="1F2A37"/>
                </a:solidFill>
                <a:latin typeface="Segoe UI"/>
              </a:rPr>
              <a:t>0</a:t>
            </a:r>
            <a:r>
              <a:rPr sz="1350" dirty="0">
                <a:solidFill>
                  <a:srgbClr val="1F2A37"/>
                </a:solidFill>
                <a:latin typeface="Segoe UI"/>
              </a:rPr>
              <a:t>00 concurrent authenticated sessions</a:t>
            </a:r>
            <a:r>
              <a:rPr lang="en-IN" sz="1350" dirty="0">
                <a:solidFill>
                  <a:srgbClr val="1F2A37"/>
                </a:solidFill>
                <a:latin typeface="Segoe UI"/>
              </a:rPr>
              <a:t>.</a:t>
            </a:r>
            <a:endParaRPr sz="1350" dirty="0">
              <a:solidFill>
                <a:srgbClr val="1F2A37"/>
              </a:solidFill>
              <a:latin typeface="Segoe U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324447" y="1572768"/>
            <a:ext cx="5300319" cy="38404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89039" y="1655064"/>
            <a:ext cx="502599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AVAILABILITY, AUDIT AND COMPLIANCE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447" y="2176272"/>
            <a:ext cx="5300319" cy="10664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 dirty="0">
                <a:solidFill>
                  <a:srgbClr val="C89B3C"/>
                </a:solidFill>
                <a:latin typeface="Segoe UI"/>
              </a:rPr>
              <a:t>—  </a:t>
            </a:r>
            <a:r>
              <a:rPr sz="1350" dirty="0">
                <a:solidFill>
                  <a:srgbClr val="1F2A37"/>
                </a:solidFill>
                <a:latin typeface="Segoe UI"/>
              </a:rPr>
              <a:t>All create/update/delete, login, mobile/email change, </a:t>
            </a:r>
            <a:r>
              <a:rPr sz="1350" dirty="0" err="1">
                <a:solidFill>
                  <a:srgbClr val="1F2A37"/>
                </a:solidFill>
                <a:latin typeface="Segoe UI"/>
              </a:rPr>
              <a:t>Aadhaar</a:t>
            </a:r>
            <a:r>
              <a:rPr sz="1350" dirty="0">
                <a:solidFill>
                  <a:srgbClr val="1F2A37"/>
                </a:solidFill>
                <a:latin typeface="Segoe UI"/>
              </a:rPr>
              <a:t> e-KYC, Transfer Out/In are audit-logged with timestamp and actor.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 dirty="0">
                <a:solidFill>
                  <a:srgbClr val="C89B3C"/>
                </a:solidFill>
                <a:latin typeface="Segoe UI"/>
              </a:rPr>
              <a:t>—  </a:t>
            </a:r>
            <a:r>
              <a:rPr sz="1350" dirty="0">
                <a:solidFill>
                  <a:srgbClr val="1F2A37"/>
                </a:solidFill>
                <a:latin typeface="Segoe UI"/>
              </a:rPr>
              <a:t>Audit logs retained for at least 7 years; DPDP Act 2023 compliance.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Reporting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</a:t>
            </a:r>
            <a:r>
              <a:rPr lang="en-IN" sz="900" b="0" i="0">
                <a:solidFill>
                  <a:srgbClr val="5C6B7B"/>
                </a:solidFill>
                <a:latin typeface="Segoe UI"/>
              </a:rPr>
              <a:t>V-1</a:t>
            </a:r>
            <a:r>
              <a:rPr sz="900" b="0" i="0">
                <a:solidFill>
                  <a:srgbClr val="5C6B7B"/>
                </a:solidFill>
                <a:latin typeface="Segoe UI"/>
              </a:rPr>
              <a:t>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57839" cy="3096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00" b="1" dirty="0">
                <a:solidFill>
                  <a:srgbClr val="C89B3C"/>
                </a:solidFill>
                <a:latin typeface="Segoe UI"/>
              </a:rPr>
              <a:t>—  </a:t>
            </a:r>
            <a:r>
              <a:rPr sz="1400" dirty="0">
                <a:solidFill>
                  <a:srgbClr val="1F2A37"/>
                </a:solidFill>
                <a:latin typeface="Segoe UI"/>
              </a:rPr>
              <a:t>Active, inactive and suspended users; role and permission assignments across all users.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00" b="1" dirty="0">
                <a:solidFill>
                  <a:srgbClr val="C89B3C"/>
                </a:solidFill>
                <a:latin typeface="Segoe UI"/>
              </a:rPr>
              <a:t>—  </a:t>
            </a:r>
            <a:r>
              <a:rPr sz="1400" dirty="0">
                <a:solidFill>
                  <a:srgbClr val="1F2A37"/>
                </a:solidFill>
                <a:latin typeface="Segoe UI"/>
              </a:rPr>
              <a:t>Audit log of login attempts, successful and failed, over a selected date range.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00" b="1" dirty="0">
                <a:solidFill>
                  <a:srgbClr val="C89B3C"/>
                </a:solidFill>
                <a:latin typeface="Segoe UI"/>
              </a:rPr>
              <a:t>—  </a:t>
            </a:r>
            <a:r>
              <a:rPr sz="1400" dirty="0">
                <a:solidFill>
                  <a:srgbClr val="1F2A37"/>
                </a:solidFill>
                <a:latin typeface="Segoe UI"/>
              </a:rPr>
              <a:t>Sanctioned post occupancy — sanctioned strength, occupied count, remaining capacity and wholly-unoccupied flag per office.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00" b="1" dirty="0">
                <a:solidFill>
                  <a:srgbClr val="C89B3C"/>
                </a:solidFill>
                <a:latin typeface="Segoe UI"/>
              </a:rPr>
              <a:t>—  </a:t>
            </a:r>
            <a:r>
              <a:rPr sz="1400" dirty="0">
                <a:solidFill>
                  <a:srgbClr val="1F2A37"/>
                </a:solidFill>
                <a:latin typeface="Segoe UI"/>
              </a:rPr>
              <a:t>Role-to-Module mapping showing which modules and functions each role holds.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00" b="1" dirty="0">
                <a:solidFill>
                  <a:srgbClr val="C89B3C"/>
                </a:solidFill>
                <a:latin typeface="Segoe UI"/>
              </a:rPr>
              <a:t>—  </a:t>
            </a:r>
            <a:r>
              <a:rPr sz="1400" dirty="0">
                <a:solidFill>
                  <a:srgbClr val="1F2A37"/>
                </a:solidFill>
                <a:latin typeface="Segoe UI"/>
              </a:rPr>
              <a:t>A single contact-change and recovery report covering Citizen </a:t>
            </a:r>
            <a:r>
              <a:rPr sz="1400" dirty="0" err="1">
                <a:solidFill>
                  <a:srgbClr val="1F2A37"/>
                </a:solidFill>
                <a:latin typeface="Segoe UI"/>
              </a:rPr>
              <a:t>Aadhaar</a:t>
            </a:r>
            <a:r>
              <a:rPr sz="1400" dirty="0">
                <a:solidFill>
                  <a:srgbClr val="1F2A37"/>
                </a:solidFill>
                <a:latin typeface="Segoe UI"/>
              </a:rPr>
              <a:t> e-KYC / lost-mobile recovery, DSR self-service and administrator-initiated mobile changes, and email changes.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00" b="1" dirty="0">
                <a:solidFill>
                  <a:srgbClr val="C89B3C"/>
                </a:solidFill>
                <a:latin typeface="Segoe UI"/>
              </a:rPr>
              <a:t>—  </a:t>
            </a:r>
            <a:r>
              <a:rPr sz="1400" dirty="0">
                <a:solidFill>
                  <a:srgbClr val="1F2A37"/>
                </a:solidFill>
                <a:latin typeface="Segoe UI"/>
              </a:rPr>
              <a:t>Additional charge report and Temporary Absence / Temporary Charge report.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00" b="1" dirty="0">
                <a:solidFill>
                  <a:srgbClr val="C89B3C"/>
                </a:solidFill>
                <a:latin typeface="Segoe UI"/>
              </a:rPr>
              <a:t>—  </a:t>
            </a:r>
            <a:r>
              <a:rPr sz="1400" dirty="0">
                <a:solidFill>
                  <a:srgbClr val="1F2A37"/>
                </a:solidFill>
                <a:latin typeface="Segoe UI"/>
              </a:rPr>
              <a:t>Occupancy-refresh report per midnight run, with before and after occupied counts.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00" b="1" dirty="0">
                <a:solidFill>
                  <a:srgbClr val="C89B3C"/>
                </a:solidFill>
                <a:latin typeface="Segoe UI"/>
              </a:rPr>
              <a:t>—  </a:t>
            </a:r>
            <a:r>
              <a:rPr sz="1400" dirty="0">
                <a:solidFill>
                  <a:srgbClr val="1F2A37"/>
                </a:solidFill>
                <a:latin typeface="Segoe UI"/>
              </a:rPr>
              <a:t>Transfer Out / Transfer In history and officer posting / service history.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1873</TotalTime>
  <Words>2004</Words>
  <Application>Microsoft Office PowerPoint</Application>
  <PresentationFormat>Widescreen</PresentationFormat>
  <Paragraphs>293</Paragraphs>
  <Slides>22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Administrator</dc:creator>
  <cp:keywords/>
  <dc:description>generated using python-pptx</dc:description>
  <cp:lastModifiedBy>Administrator</cp:lastModifiedBy>
  <cp:revision>48</cp:revision>
  <dcterms:created xsi:type="dcterms:W3CDTF">2013-01-27T09:14:16Z</dcterms:created>
  <dcterms:modified xsi:type="dcterms:W3CDTF">2026-09-19T10:01:32Z</dcterms:modified>
  <cp:category/>
</cp:coreProperties>
</file>