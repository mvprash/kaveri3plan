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1" r:id="rId5"/>
    <p:sldId id="278" r:id="rId6"/>
    <p:sldId id="279" r:id="rId7"/>
    <p:sldId id="280" r:id="rId8"/>
    <p:sldId id="262" r:id="rId9"/>
    <p:sldId id="264" r:id="rId10"/>
    <p:sldId id="283" r:id="rId11"/>
    <p:sldId id="265" r:id="rId12"/>
    <p:sldId id="266" r:id="rId13"/>
    <p:sldId id="281" r:id="rId14"/>
    <p:sldId id="267" r:id="rId15"/>
    <p:sldId id="268" r:id="rId16"/>
    <p:sldId id="269" r:id="rId17"/>
    <p:sldId id="282" r:id="rId18"/>
    <p:sldId id="270" r:id="rId19"/>
    <p:sldId id="271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84BDD-C9E6-4DF8-A3E6-089E69B50F68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7317B-2922-4319-BFE5-B0B3F54F79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332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7317B-2922-4319-BFE5-B0B3F54F7903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05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074920" y="960120"/>
            <a:ext cx="868680" cy="86868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69280" y="960120"/>
            <a:ext cx="868680" cy="86868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 spc="150">
                <a:solidFill>
                  <a:srgbClr val="C9A227"/>
                </a:solidFill>
                <a:latin typeface="Calibri"/>
              </a:rPr>
              <a:t>KAVERI 3.0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mbria"/>
              </a:rPr>
              <a:t>Valuation Module (CVC)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DCE6F2"/>
                </a:solidFill>
                <a:latin typeface="Calibri"/>
              </a:rPr>
              <a:t>Business Requirements Document — Executive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0492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 dirty="0">
                <a:solidFill>
                  <a:srgbClr val="DCE6F2"/>
                </a:solidFill>
                <a:latin typeface="Calibri"/>
              </a:rPr>
              <a:t>General Revision · Individual Project </a:t>
            </a:r>
            <a:r>
              <a:rPr lang="en-IN" sz="1300" b="0" i="1" dirty="0" smtClean="0">
                <a:solidFill>
                  <a:srgbClr val="DCE6F2"/>
                </a:solidFill>
                <a:latin typeface="Calibri"/>
              </a:rPr>
              <a:t>Guidance Value </a:t>
            </a:r>
            <a:r>
              <a:rPr sz="1300" b="0" i="1" dirty="0" smtClean="0">
                <a:solidFill>
                  <a:srgbClr val="DCE6F2"/>
                </a:solidFill>
                <a:latin typeface="Calibri"/>
              </a:rPr>
              <a:t>Fixation </a:t>
            </a:r>
            <a:r>
              <a:rPr sz="1300" b="0" i="1" dirty="0">
                <a:solidFill>
                  <a:srgbClr val="DCE6F2"/>
                </a:solidFill>
                <a:latin typeface="Calibri"/>
              </a:rPr>
              <a:t>· Guidance Value Publication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3714"/>
            <a:ext cx="105156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 i="0" dirty="0">
                <a:solidFill>
                  <a:srgbClr val="DCE6F2"/>
                </a:solidFill>
                <a:latin typeface="Calibri"/>
              </a:rPr>
              <a:t>Document ID: BRD-K3-CVC-GVF-001     ·     Version 8     ·     Status: Draft     ·     Last updated 30-09-2026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Applicable Acts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The Department of Stamps and Registration, through the IGR as Chairman of the Central Valuation Committee, administers the following 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11172548" cy="2839212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KSA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The Karnataka Stamp Act, 1957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10607040" cy="339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Sec. 2(ac) defines CVC; Sec. 45-B constitutes CVC under IGR for estimation, publication and revision of market value guidelines and district / sub-district sub-committees; Sec. 45-A applies guidelines at registration; Sec. 3 + Schedule charge ad valorem duty. Strengthened by Act 8 of 2003 (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w.e.f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. 1-4-2003).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Karnataka Stamp Act, 1957 — Key Sections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56334"/>
              </p:ext>
            </p:extLst>
          </p:nvPr>
        </p:nvGraphicFramePr>
        <p:xfrm>
          <a:off x="457200" y="1417320"/>
          <a:ext cx="1077163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2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BRD relevance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F2A37"/>
                          </a:solidFill>
                          <a:latin typeface="Calibri"/>
                        </a:rPr>
                        <a:t>Sec. 2(ac)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Definition — Central Valuation Committee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CVC is the statutory owner of guideline rate masters and approvals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F2A37"/>
                          </a:solidFill>
                          <a:latin typeface="Calibri"/>
                        </a:rPr>
                        <a:t>Sec. 45-B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Constitution of CVC; estimation, publication and revision of market value guidelines; district / sub-district sub-committees; CVC final authority for policy and methodology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 dirty="0">
                          <a:solidFill>
                            <a:srgbClr val="1F2A37"/>
                          </a:solidFill>
                          <a:latin typeface="Calibri"/>
                        </a:rPr>
                        <a:t>Primary legal basis for General Revision and for fixation of guidance value for new individual projects (DR acceptance of citizen request under Sec. 45-B framework)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456432"/>
            <a:ext cx="11277295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mbria"/>
              </a:rPr>
              <a:t>Relevant Rules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659267"/>
              </p:ext>
            </p:extLst>
          </p:nvPr>
        </p:nvGraphicFramePr>
        <p:xfrm>
          <a:off x="457200" y="3822191"/>
          <a:ext cx="10725912" cy="1560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0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5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Rule / provision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1F2A37"/>
                          </a:solidFill>
                          <a:latin typeface="Calibri"/>
                        </a:rPr>
                        <a:t>Stamp Act Sec. 45-B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F2A37"/>
                          </a:solidFill>
                          <a:latin typeface="Calibri"/>
                        </a:rPr>
                        <a:t>CVC under IGR; publish and revise market value guidelines; constitute market valuation sub-committees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1F2A37"/>
                          </a:solidFill>
                          <a:latin typeface="Calibri"/>
                        </a:rPr>
                        <a:t>CVC Rules 2003 — Rule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F2A37"/>
                          </a:solidFill>
                          <a:latin typeface="Calibri"/>
                        </a:rPr>
                        <a:t>CVC instructions; notice of intention; 15-day objections; signed statement of average rates (booklet + soft copy) to DR; DR verification and 15-day rectification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8676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1F2A37"/>
                          </a:solidFill>
                          <a:latin typeface="Calibri"/>
                        </a:rPr>
                        <a:t>CVC Rules 2003 — Rule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F2A37"/>
                          </a:solidFill>
                          <a:latin typeface="Calibri"/>
                        </a:rPr>
                        <a:t>CVC Secretary verification; CVC decision on Sub-Committee / DR suggestions; attestation; publication in offices; printed copies for sale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84371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468111"/>
            <a:ext cx="11277295" cy="1325880"/>
          </a:xfrm>
          <a:prstGeom prst="rect">
            <a:avLst/>
          </a:prstGeom>
          <a:noFill/>
        </p:spPr>
        <p:txBody>
          <a:bodyPr wrap="square" lIns="3600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1">
                <a:solidFill>
                  <a:srgbClr val="1F6B7A"/>
                </a:solidFill>
                <a:latin typeface="Calibri"/>
              </a:rPr>
              <a:t>Related notifications / amendments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1">
                <a:solidFill>
                  <a:srgbClr val="1F6B7A"/>
                </a:solidFill>
                <a:latin typeface="Calibri"/>
              </a:rPr>
              <a:t>•  Act 8 of 2003  (w.e.f. 1-4-2003)  —  Substituted / strengthened Sec. 45-B CVC framework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1">
                <a:solidFill>
                  <a:srgbClr val="1F6B7A"/>
                </a:solidFill>
                <a:latin typeface="Calibri"/>
              </a:rPr>
              <a:t>•  CVC instructions to Sub-Committees — Rule 5(1)  (per revision cycle: yearly or mid-year)  —  Triggers General Revision; CVC approves statements (Rule 7); gazette fixes effective 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Definitions and Glossary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Cambria"/>
              </a:rPr>
              <a:t>4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370846"/>
              </p:ext>
            </p:extLst>
          </p:nvPr>
        </p:nvGraphicFramePr>
        <p:xfrm>
          <a:off x="457200" y="1600200"/>
          <a:ext cx="11274552" cy="4663440"/>
        </p:xfrm>
        <a:graphic>
          <a:graphicData uri="http://schemas.openxmlformats.org/drawingml/2006/table">
            <a:tbl>
              <a:tblPr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Guidance / Guideline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Market value guideline rate published under Sec. 45-B for a territorial unit (village / road / survey / project / property class); used for stamp-duty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Central Valuation Committee as defined in Sec. 2(ac) and constituted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General Revision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Cycle to estimate / revise market value guidelines for the next calendar year, triggered by CVC instructions to Sub-Committees (Rule 5(1)); includes mid-year revision for specific Sub-Committees.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87687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Individual Project Fixation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Fixation of guidance value for a newly developed property / project on citizen or party application, accepted by DR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27734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Market Valuation Sub-Committee (Rule 4) headed by the Tahsildar, with the Sub-Registrar as Member Secretary.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03248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Effective date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Date fixed by CVC / gazette from which new guidance rates are adopted in Kaveri for calculation and display.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3318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Public opinion period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Fifteen (15) days for public objections / suggestions after the Sub-Committee’s notice of intention (Rule 5(2)).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932007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Notice of intention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 notice in local newspapers and office notice boards announcing its plan to estimate / revise market values (Rule 5(2)).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331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Statement of average rates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Signed Sub-Committee statement of average rates (agricultural land; residential, commercial, industrial sites), village-wise and local-body-wise; sent as booklet + soft copy.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26945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Rectification period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Fifteen (15) days from the District Registrar’s reference to correct and resubmit the statement (Rule 5(3)).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123447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Attested statement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CVC-approved statement attested by the CVC Secretary and sent to DR and Sub-Committees for publication (Rule 7(3)).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80736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C6B7B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mbria"/>
              </a:rPr>
              <a:t>Central Valuation Committee — Composition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5C6B7B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288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C6B7B"/>
                </a:solidFill>
                <a:latin typeface="Calibri"/>
              </a:rPr>
              <a:t>Karnataka Stamp (Constitution of Central Valuation Committee for Estimation, Publication and Revision of Market Value Guidelines of Properties) Rules, 2003 — Rule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727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1682496"/>
            <a:ext cx="3282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CHAIRMAN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28269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mbria"/>
              </a:rPr>
              <a:t>Commissioner of </a:t>
            </a:r>
            <a:r>
              <a:rPr sz="1400" b="1" i="0" dirty="0" smtClean="0">
                <a:solidFill>
                  <a:srgbClr val="1B2A4A"/>
                </a:solidFill>
                <a:latin typeface="Cambria"/>
              </a:rPr>
              <a:t>Stamps</a:t>
            </a:r>
            <a:r>
              <a:rPr lang="en-IN" sz="1400" b="1" i="0" dirty="0" smtClean="0">
                <a:solidFill>
                  <a:srgbClr val="1B2A4A"/>
                </a:solidFill>
                <a:latin typeface="Cambria"/>
              </a:rPr>
              <a:t> (IGR)</a:t>
            </a:r>
            <a:endParaRPr sz="1400" b="1" i="0" dirty="0">
              <a:solidFill>
                <a:srgbClr val="1B2A4A"/>
              </a:solidFill>
              <a:latin typeface="Cambri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33672" y="15727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98264" y="1682496"/>
            <a:ext cx="3282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MEMBER SECRETARY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1938528"/>
            <a:ext cx="328269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mbria"/>
              </a:rPr>
              <a:t>DIGR </a:t>
            </a:r>
            <a:r>
              <a:rPr sz="1400" b="1" i="0" dirty="0" smtClean="0">
                <a:solidFill>
                  <a:srgbClr val="1B2A4A"/>
                </a:solidFill>
                <a:latin typeface="Cambria"/>
              </a:rPr>
              <a:t>(</a:t>
            </a:r>
            <a:r>
              <a:rPr lang="en-IN" sz="1400" b="1" dirty="0" smtClean="0">
                <a:solidFill>
                  <a:srgbClr val="1B2A4A"/>
                </a:solidFill>
                <a:latin typeface="Cambria"/>
              </a:rPr>
              <a:t>Valuation</a:t>
            </a:r>
            <a:r>
              <a:rPr sz="1400" b="1" i="0" dirty="0" smtClean="0">
                <a:solidFill>
                  <a:srgbClr val="1B2A4A"/>
                </a:solidFill>
                <a:latin typeface="Cambria"/>
              </a:rPr>
              <a:t>)</a:t>
            </a:r>
            <a:endParaRPr sz="1400" b="1" i="0" dirty="0">
              <a:solidFill>
                <a:srgbClr val="1B2A4A"/>
              </a:solidFill>
              <a:latin typeface="Cambria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10144" y="15727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1682496"/>
            <a:ext cx="3282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STRENGTH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938528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mbria"/>
              </a:rPr>
              <a:t>Total members ≤ 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97480"/>
            <a:ext cx="11277295" cy="31546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2825496"/>
            <a:ext cx="108749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Members — one representative from each of the following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200400"/>
            <a:ext cx="5349240" cy="2148840"/>
          </a:xfrm>
          <a:prstGeom prst="rect">
            <a:avLst/>
          </a:prstGeom>
          <a:noFill/>
        </p:spPr>
        <p:txBody>
          <a:bodyPr wrap="square" lIns="36000" tIns="18000" rIns="18000" bIns="180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(i) Directorate of Town Planning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(ii) Directorate of Survey and Settlement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(iii) Bangalore City Corporation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(iv) Bangalore Development Authority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(v) Income-tax Department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(vi) Karnataka Public Works Department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200400"/>
            <a:ext cx="5349240" cy="2148840"/>
          </a:xfrm>
          <a:prstGeom prst="rect">
            <a:avLst/>
          </a:prstGeom>
          <a:noFill/>
        </p:spPr>
        <p:txBody>
          <a:bodyPr wrap="square" lIns="36000" tIns="18000" rIns="18000" bIns="180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(vii) Karnataka Irrigation Department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(viii) Registration and Stamps Department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(ix) Institute of Chartered Valuers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(x) Federation of Karnataka Chamber of Commerce and Industries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(xi) Any other person having expertise in the subject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394960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1F6B7A"/>
                </a:solidFill>
                <a:latin typeface="Calibri"/>
              </a:rPr>
              <a:t>Non-official members: term of two years, subject to the pleasure of the Government.  Member Secretary (DIGR–Intelligence) handles day-to-day administration, correspondence, and compilation / publication of market value guidelines.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C6B7B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mbria"/>
              </a:rPr>
              <a:t>Market Valuation Sub-Committees — Composition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5C6B7B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288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C6B7B"/>
                </a:solidFill>
                <a:latin typeface="Calibri"/>
              </a:rPr>
              <a:t>Karnataka Stamp (Constitution of C.V.C. etc.) Rules, 2003 — Rule 4  ·  Constituted by CVC for each sub-district and district for estimation &amp; revision of market value guidelines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36192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1645920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HEAD (SUB-DISTRICT)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83664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Tahsildar of the concerned taluk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1536192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98264" y="1645920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MEMBER SECRETARY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1883664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Sub-Registrar of the sub-district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36192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1645920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883664"/>
            <a:ext cx="3282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Office of the Sub-Registrar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5176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2779776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Members drawn from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154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Department of Revenue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Department of Survey and Settlement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Public Works Department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Municipal Councils or Town Panchayaths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651760"/>
            <a:ext cx="5559552" cy="23317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2779776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Administrative &amp; supervisory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154680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Administrative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35584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Registrar of the district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721608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Supervisory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922776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Central Valuation Committee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288536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District Sub-Committees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448970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Function under the Registrar of the district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20640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1F6B7A"/>
                </a:solidFill>
                <a:latin typeface="Calibri"/>
              </a:rPr>
              <a:t>Sub-Registrar (Member Secretary) looks after administration of the Sub-Committees, correspondence, and compilation of market-value data as per Sub-Committee resolutions.  CVC office (Rule 3): Office of the Inspector General of Registration and Commissioner of Stamps, or such other place as the Committee decides.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47472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C6B7B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05156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Cambria"/>
              </a:rPr>
              <a:t>Guidelines for Estimating Guidance Value</a:t>
            </a:r>
          </a:p>
        </p:txBody>
      </p:sp>
      <p:sp>
        <p:nvSpPr>
          <p:cNvPr id="4" name="Oval 3"/>
          <p:cNvSpPr/>
          <p:nvPr/>
        </p:nvSpPr>
        <p:spPr>
          <a:xfrm>
            <a:off x="11292840" y="329184"/>
            <a:ext cx="475488" cy="47548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32918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5C6B7B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288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87552"/>
            <a:ext cx="1136599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5C6B7B"/>
                </a:solidFill>
                <a:latin typeface="Calibri"/>
              </a:rPr>
              <a:t>Karnataka Stamp (Constitution of C.V.C. etc.) Rules, 2003 — Rule 6.  Average-rate factors for Sub-Committee statements — also the evidence checklist when proposing new guidance value.  Tags (#) show where data can be extracted electronically.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2759202" cy="33832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444752"/>
            <a:ext cx="253974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mbria"/>
              </a:rPr>
              <a:t>Lands — R.6(1)(a)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700784"/>
            <a:ext cx="25397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Dry / garden / wet classification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Soil class in survey records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Other valuation influencers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Value of adjacent / vicinity lands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Crop nature &amp; 5-year avg. yield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Nearness to road &amp; market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Distance from village; location; level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Transport &amp; irrigation facilities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" y="4096512"/>
            <a:ext cx="2612898" cy="566928"/>
          </a:xfrm>
          <a:prstGeom prst="roundRect">
            <a:avLst>
              <a:gd name="adj" fmla="val 6000"/>
            </a:avLst>
          </a:prstGeom>
          <a:solidFill>
            <a:srgbClr val="D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9496" y="4133088"/>
            <a:ext cx="250317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1">
                <a:solidFill>
                  <a:srgbClr val="1F6B7A"/>
                </a:solidFill>
                <a:latin typeface="Calibri"/>
              </a:rPr>
              <a:t>e-Source / Department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4297680"/>
            <a:ext cx="250317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1" dirty="0">
                <a:solidFill>
                  <a:srgbClr val="1B2A4A"/>
                </a:solidFill>
                <a:latin typeface="Calibri"/>
              </a:rPr>
              <a:t>#</a:t>
            </a:r>
            <a:r>
              <a:rPr sz="850" b="1" i="1" dirty="0" err="1">
                <a:solidFill>
                  <a:srgbClr val="1B2A4A"/>
                </a:solidFill>
                <a:latin typeface="Calibri"/>
              </a:rPr>
              <a:t>Bhoomi</a:t>
            </a:r>
            <a:r>
              <a:rPr sz="850" b="1" i="1" dirty="0">
                <a:solidFill>
                  <a:srgbClr val="1B2A4A"/>
                </a:solidFill>
                <a:latin typeface="Calibri"/>
              </a:rPr>
              <a:t>/RTC  #SSLR  #KSRSAC-GIS  #Agriculture  #Irrigation  #</a:t>
            </a:r>
            <a:r>
              <a:rPr sz="850" b="1" i="1" dirty="0" err="1" smtClean="0">
                <a:solidFill>
                  <a:srgbClr val="1B2A4A"/>
                </a:solidFill>
                <a:latin typeface="Calibri"/>
              </a:rPr>
              <a:t>Kaveri-Regn</a:t>
            </a:r>
            <a:r>
              <a:rPr lang="en-IN" sz="850" b="1" i="1" dirty="0" smtClean="0">
                <a:solidFill>
                  <a:srgbClr val="1B2A4A"/>
                </a:solidFill>
                <a:latin typeface="Calibri"/>
              </a:rPr>
              <a:t> #DTCP</a:t>
            </a:r>
            <a:endParaRPr sz="850" b="1" i="1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280410" y="1371600"/>
            <a:ext cx="2759202" cy="33832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90138" y="1444752"/>
            <a:ext cx="253974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mbria"/>
              </a:rPr>
              <a:t>House sites — R.6(1)(b)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0138" y="1700784"/>
            <a:ext cx="25397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General locality site values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Proximity to road / rail / bus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Proximity to market &amp; shops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Offices, hospitals, schools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Development / industrial activity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Land tax &amp; local body valuation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Other material / special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3562" y="4096512"/>
            <a:ext cx="2612898" cy="566928"/>
          </a:xfrm>
          <a:prstGeom prst="roundRect">
            <a:avLst>
              <a:gd name="adj" fmla="val 6000"/>
            </a:avLst>
          </a:prstGeom>
          <a:solidFill>
            <a:srgbClr val="D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08426" y="4133088"/>
            <a:ext cx="250317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1">
                <a:solidFill>
                  <a:srgbClr val="1F6B7A"/>
                </a:solidFill>
                <a:latin typeface="Calibri"/>
              </a:rPr>
              <a:t>e-Source / Department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426" y="4297680"/>
            <a:ext cx="250317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1">
                <a:solidFill>
                  <a:srgbClr val="1B2A4A"/>
                </a:solidFill>
                <a:latin typeface="Calibri"/>
              </a:rPr>
              <a:t>#Kaveri-Regn  #KSRSAC-GIS  #ULB/e-Aasthi  #DTCP/BDA/UDA  #Transport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9340" y="1371600"/>
            <a:ext cx="2759202" cy="33832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59068" y="1444752"/>
            <a:ext cx="253974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mbria"/>
              </a:rPr>
              <a:t>Other properties — R.6(1)(c)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9068" y="1700784"/>
            <a:ext cx="25397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Nature &amp; condition of property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Purpose for which used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•  Any other special valuation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2492" y="4096512"/>
            <a:ext cx="2612898" cy="566928"/>
          </a:xfrm>
          <a:prstGeom prst="roundRect">
            <a:avLst>
              <a:gd name="adj" fmla="val 6000"/>
            </a:avLst>
          </a:prstGeom>
          <a:solidFill>
            <a:srgbClr val="D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77356" y="4133088"/>
            <a:ext cx="250317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1">
                <a:solidFill>
                  <a:srgbClr val="1F6B7A"/>
                </a:solidFill>
                <a:latin typeface="Calibri"/>
              </a:rPr>
              <a:t>e-Source / Department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7356" y="4297680"/>
            <a:ext cx="250317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1">
                <a:solidFill>
                  <a:srgbClr val="1B2A4A"/>
                </a:solidFill>
                <a:latin typeface="Calibri"/>
              </a:rPr>
              <a:t>#Kaveri-Regn  #ULB-BldgPlan  #Khata  #KSRSAC-GIS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8270" y="1371600"/>
            <a:ext cx="2759202" cy="33832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27998" y="1444752"/>
            <a:ext cx="253974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mbria"/>
              </a:rPr>
              <a:t>Rate suggestions — R.6(2)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7998" y="1700784"/>
            <a:ext cx="25397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Non-agri / industrial: agri multiple or per sq.ft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Agricultural: dry / wet / garden + village proximity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Plantations: treat as garden lands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Buildings: PWD construction norms</a:t>
            </a:r>
          </a:p>
          <a:p>
            <a:pPr>
              <a:lnSpc>
                <a:spcPct val="102000"/>
              </a:lnSpc>
              <a:spcAft>
                <a:spcPts val="150"/>
              </a:spcAft>
            </a:pPr>
            <a:r>
              <a:rPr sz="850" b="0" i="0">
                <a:solidFill>
                  <a:srgbClr val="1F2A37"/>
                </a:solidFill>
                <a:latin typeface="Calibri"/>
              </a:rPr>
              <a:t>•  Civic amenities in construction cost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1422" y="4096512"/>
            <a:ext cx="2612898" cy="566928"/>
          </a:xfrm>
          <a:prstGeom prst="roundRect">
            <a:avLst>
              <a:gd name="adj" fmla="val 6000"/>
            </a:avLst>
          </a:prstGeom>
          <a:solidFill>
            <a:srgbClr val="D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6286" y="4133088"/>
            <a:ext cx="250317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1">
                <a:solidFill>
                  <a:srgbClr val="1F6B7A"/>
                </a:solidFill>
                <a:latin typeface="Calibri"/>
              </a:rPr>
              <a:t>e-Source / Department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6286" y="4297680"/>
            <a:ext cx="250317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1">
                <a:solidFill>
                  <a:srgbClr val="1B2A4A"/>
                </a:solidFill>
                <a:latin typeface="Calibri"/>
              </a:rPr>
              <a:t>#Bhoomi  #PWD-SoR  #Horticulture  #BESCOM/ESCOM  #BWSSB/ULB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4864608"/>
            <a:ext cx="11365992" cy="1353312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6072" y="4937760"/>
            <a:ext cx="110368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mbria"/>
              </a:rPr>
              <a:t>Evidence for proposing new guidance value  ·  Electronic extraction 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5193792"/>
            <a:ext cx="1103680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1F6B7A"/>
                </a:solidFill>
                <a:latin typeface="Calibri"/>
              </a:rPr>
              <a:t>Rule 6 factors = statutory checklist for Sub-Committee statements and for evidence packs on General Revision / Individual Project proposals (BRD 7.ii.d / 7.iii.c).  Primary e-feeds (as available): Kaveri registration transactions · Bhoomi/RTC &amp; SSLR survey · KSRSAC GIS layers · ULB khata / property tax (e-Aasthi) · DTCP / BDA / UDA planning · PWD Schedule of Rates · Agriculture / Horticulture / Irrigation dept. systems · utility masters (BESCOM/ESCOM, BWSSB/KUWSDB).  Registrar verifies statements (15-day rectification); booklets / soft copies to Secretary, CVC in first week of January.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PEOPLE &amp;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Stakeholders and Actors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Cambria"/>
              </a:rPr>
              <a:t>8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IGR / Chairman CVC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 dirty="0">
                <a:solidFill>
                  <a:srgbClr val="5B6B84"/>
                </a:solidFill>
                <a:latin typeface="Calibri"/>
              </a:rPr>
              <a:t>Chairs CVC; CVC instructions to Sub-Committees start General Revision (Rule 5(1)); approves final value for individual projects.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8323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884627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4627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DIGR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115" y="1709928"/>
            <a:ext cx="143987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1B2A4A"/>
                </a:solidFill>
                <a:latin typeface="Calibri"/>
              </a:rPr>
              <a:t>DIGR (Valuation</a:t>
            </a:r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)</a:t>
            </a:r>
            <a:r>
              <a:rPr lang="en-IN" sz="1050" b="1" i="0" dirty="0" smtClean="0">
                <a:solidFill>
                  <a:srgbClr val="1B2A4A"/>
                </a:solidFill>
                <a:latin typeface="Calibri"/>
              </a:rPr>
              <a:t> / Secretary CVC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02915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CVC Secretary: checks DR statements and places them before CVC (Rule 7(1)); attests approved statements (Rule 7(3)); reviews individual-project proposals.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9446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165750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65750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238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District Registrar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038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Checks Sub-Committee statements; returns mistakes for 15-day rectification; sends booklets to CVC Secretary; forwards attested statements; accepts Sec. 45-B requests.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0569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46873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6873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2361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Sub-Registrar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5161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Sub-Committee Secretary: publishes notice of intention; sorts objections; prepares and co-signs the statement; sends booklet + soft copy to DR.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1692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27996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27996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3484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Market Valuation Sub-committee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6284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Tahsildar (Chairman), SR (Secretary), Revenue, Survey, PWD, local bodies: considers objections, decides rates, signs statement, publishes approved rates.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2270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8574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574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CVC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4062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Central Valuation Committee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862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Issues instructions (Rule 5(1)); discusses district-wise rates, accepts / rejects suggestions, records decisions (Rule 7(2)); fixes sale price and effective date.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73393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919697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19697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C/P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95185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Citizen / Party / Developer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937985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Applies for individual project fixation (with ULPIN); files objections within 15 days of the notice of intention; may buy approved statements.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75405" y="4018788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221709" y="4146804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21709" y="41468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97197" y="4128516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Kaveri IT Cell / System Admin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997" y="4585716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Maintains Valuation Module; publishes approved rates from effective date; integrations (KSRSAC, RTC, etc.).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FUTURE STATE (TO-BE)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Two </a:t>
            </a:r>
            <a:r>
              <a:rPr lang="en-IN" sz="3000" b="1" i="0" dirty="0" smtClean="0">
                <a:solidFill>
                  <a:srgbClr val="1B2A4A"/>
                </a:solidFill>
                <a:latin typeface="Cambria"/>
              </a:rPr>
              <a:t>Guidance Value </a:t>
            </a:r>
            <a:r>
              <a:rPr sz="3000" b="1" i="0" dirty="0" smtClean="0">
                <a:solidFill>
                  <a:srgbClr val="1B2A4A"/>
                </a:solidFill>
                <a:latin typeface="Cambria"/>
              </a:rPr>
              <a:t>Fixation 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Paths in </a:t>
            </a:r>
            <a:r>
              <a:rPr sz="3000" b="1" i="0" dirty="0" err="1">
                <a:solidFill>
                  <a:srgbClr val="1B2A4A"/>
                </a:solidFill>
                <a:latin typeface="Cambria"/>
              </a:rPr>
              <a:t>Kaveri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9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Kaveri 3.0 provides an end-to-end Valuation Module workbench. Approved rates are versioned, gazette-linked, and activated only from the notified effective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A — General Revision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Estimation / revision of guidance values for the next calendar year (Rules 5 and 7), triggered by CVC instructions to Sub-Committees: notice of intention → 15-day objections → signed Sub-Committee statement → DR verification → CVC Secretary → CVC decision → attestation and publication → effective date / e-Gazette → Kaveri adoption.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458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1088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088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637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B — Individual Project </a:t>
            </a:r>
            <a:r>
              <a:rPr sz="1400" b="1" i="0" dirty="0" smtClean="0">
                <a:solidFill>
                  <a:srgbClr val="1B2A4A"/>
                </a:solidFill>
                <a:latin typeface="Calibri"/>
              </a:rPr>
              <a:t>Fixation</a:t>
            </a:r>
            <a:endParaRPr sz="14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917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Citizen / party-initiated request for a newly developed property (ULPIN given; boundary fetched from ULMS), accepted by the District Registrar under Sec. 45-B: DR inspection → Secretary CVC review → Chairman CVC (IGR) approval → Kaveri adoption.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FUTURE STATE (TO-BE)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Details Captured for Each Valuation Area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10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B6B84"/>
                </a:solidFill>
                <a:latin typeface="Calibri"/>
              </a:rPr>
              <a:t>For every valuation area, Kaveri 3.0 records the details below. They are used by both General Revision and Individual Project Fixation.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267692"/>
              </p:ext>
            </p:extLst>
          </p:nvPr>
        </p:nvGraphicFramePr>
        <p:xfrm>
          <a:off x="457200" y="1691640"/>
          <a:ext cx="7818120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is captured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Calibri"/>
                        </a:rPr>
                        <a:t>Area / extent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B2A4A"/>
                          </a:solidFill>
                          <a:latin typeface="Calibri"/>
                        </a:rPr>
                        <a:t>Size of the valuation area in square </a:t>
                      </a:r>
                      <a:r>
                        <a:rPr sz="1100" b="0" dirty="0" err="1" smtClean="0">
                          <a:solidFill>
                            <a:srgbClr val="1B2A4A"/>
                          </a:solidFill>
                          <a:latin typeface="Calibri"/>
                        </a:rPr>
                        <a:t>metres</a:t>
                      </a:r>
                      <a:endParaRPr sz="1100" b="0" dirty="0">
                        <a:solidFill>
                          <a:srgbClr val="1B2A4A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Calibri"/>
                        </a:rPr>
                        <a:t>Location (geo-fence)</a:t>
                      </a:r>
                    </a:p>
                  </a:txBody>
                  <a:tcPr marL="73152" marR="73152" marT="36576" marB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Calibri"/>
                        </a:rPr>
                        <a:t>Geo-coordinates of the area boundary, mapped as a polygon. Used to identify the area on the map, overlay evidence (e.g. KSRSAC) and apply the correct rate.</a:t>
                      </a:r>
                    </a:p>
                  </a:txBody>
                  <a:tcPr marL="73152" marR="73152" marT="36576" marB="36576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Calibri"/>
                        </a:rPr>
                        <a:t>Rate categories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Calibri"/>
                        </a:rPr>
                        <a:t>Guidance rates under two categories: Non-Agricultural and Agricultural.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Calibri"/>
                        </a:rPr>
                        <a:t>Non-Agricultural rates</a:t>
                      </a:r>
                    </a:p>
                  </a:txBody>
                  <a:tcPr marL="73152" marR="73152" marT="36576" marB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A"/>
                          </a:solidFill>
                          <a:latin typeface="Calibri"/>
                        </a:rPr>
                        <a:t>Separate rates for Residential, Commercial and Industrial use.</a:t>
                      </a:r>
                    </a:p>
                  </a:txBody>
                  <a:tcPr marL="73152" marR="73152" marT="36576" marB="36576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2A4A"/>
                          </a:solidFill>
                          <a:latin typeface="Calibri"/>
                        </a:rPr>
                        <a:t>Agricultural rates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B2A4A"/>
                          </a:solidFill>
                          <a:latin typeface="Calibri"/>
                        </a:rPr>
                        <a:t>Separate rates for Dry, Wet and </a:t>
                      </a:r>
                      <a:r>
                        <a:rPr sz="1100" b="0" dirty="0" err="1">
                          <a:solidFill>
                            <a:srgbClr val="1B2A4A"/>
                          </a:solidFill>
                          <a:latin typeface="Calibri"/>
                        </a:rPr>
                        <a:t>Bhagayat</a:t>
                      </a:r>
                      <a:r>
                        <a:rPr sz="1100" b="0">
                          <a:solidFill>
                            <a:srgbClr val="1B2A4A"/>
                          </a:solidFill>
                          <a:latin typeface="Calibri"/>
                        </a:rPr>
                        <a:t> </a:t>
                      </a:r>
                      <a:r>
                        <a:rPr sz="1100" b="0" smtClean="0">
                          <a:solidFill>
                            <a:srgbClr val="1B2A4A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>
                          <a:solidFill>
                            <a:srgbClr val="1B2A4A"/>
                          </a:solidFill>
                          <a:latin typeface="Calibri"/>
                        </a:rPr>
                        <a:t>land.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03920" y="1691640"/>
            <a:ext cx="3227832" cy="448056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41080" y="1801368"/>
            <a:ext cx="2953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mbria"/>
              </a:rPr>
              <a:t>At a glance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2148840"/>
            <a:ext cx="2953512" cy="384048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Valuation area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2624328"/>
            <a:ext cx="2953512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00" b="0">
                <a:solidFill>
                  <a:srgbClr val="1B2A4A"/>
                </a:solidFill>
                <a:latin typeface="Calibri"/>
              </a:rPr>
              <a:t>Area / extent in m²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3026664"/>
            <a:ext cx="2953512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00" b="0">
                <a:solidFill>
                  <a:srgbClr val="1B2A4A"/>
                </a:solidFill>
                <a:latin typeface="Calibri"/>
              </a:rPr>
              <a:t>Geo-fence (boundary on map)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474720"/>
            <a:ext cx="29535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Calibri"/>
              </a:rPr>
              <a:t>Guidance rates by 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3721608"/>
            <a:ext cx="1408176" cy="45720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Non-Agricultural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50808" y="4297680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00" b="0">
                <a:solidFill>
                  <a:srgbClr val="1B2A4A"/>
                </a:solidFill>
                <a:latin typeface="Calibri"/>
              </a:rPr>
              <a:t>Residential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0808" y="4700016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00" b="0">
                <a:solidFill>
                  <a:srgbClr val="1B2A4A"/>
                </a:solidFill>
                <a:latin typeface="Calibri"/>
              </a:rPr>
              <a:t>Commercial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0808" y="510235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00" b="0">
                <a:solidFill>
                  <a:srgbClr val="1B2A4A"/>
                </a:solidFill>
                <a:latin typeface="Calibri"/>
              </a:rPr>
              <a:t>Industrial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86416" y="3721608"/>
            <a:ext cx="1408176" cy="45720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Agricultural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96144" y="4297680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00" b="0">
                <a:solidFill>
                  <a:srgbClr val="1B2A4A"/>
                </a:solidFill>
                <a:latin typeface="Calibri"/>
              </a:rPr>
              <a:t>Dry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96144" y="4700016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00" b="0">
                <a:solidFill>
                  <a:srgbClr val="1B2A4A"/>
                </a:solidFill>
                <a:latin typeface="Calibri"/>
              </a:rPr>
              <a:t>Wet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96144" y="510235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00" b="0" dirty="0" err="1" smtClean="0">
                <a:solidFill>
                  <a:srgbClr val="1B2A4A"/>
                </a:solidFill>
                <a:latin typeface="Calibri"/>
              </a:rPr>
              <a:t>Bhagayat</a:t>
            </a:r>
            <a:endParaRPr sz="900" b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41080" y="5532120"/>
            <a:ext cx="29535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5B6B84"/>
                </a:solidFill>
                <a:latin typeface="Calibri"/>
              </a:rPr>
              <a:t>Rate categories and types are maintained by CVC / DIGR Admin as masters, with English and Kannada labels, so new types can be added later.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11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CVC (Chairman IGR) issues instructions and general policy guidelines to all Market Valuation Sub-Committees for the next calendar year (Rule 5(1)); CVC may also order any Sub-Committee to revise rates mid-year.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Officer Workbench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CVC · CVC SECRETARY · DR · SUB-COMMITTEE · SR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Officer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CVC instructions → notice of intention → 15-day objections → Secretary sorts objections → Sub-Committee decides rates → signed statement (booklet + soft copy) → DR check and 15-day rectification → CVC Secretary → CVC decision → attestation → publication and sale → effective date / e-Gazette → Kaveri adoption.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Evidence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Rule 6 factors with historical registration (transaction) data, KSRSAC GIS / maps, developer publications, RTC data, khata data, town planning inputs — available on the Sub-Committee workbench.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/ Public Portal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VIEW · OBJECT · BUY ·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/ public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View the Sub-Committee’s notice of intention; file objections / suggestions within 15 days (online or at the SRO); view / download approved statements and buy printed copies; track cycle status.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Objections go to the Sub-Committee Secretary and Sub-Committee; their views are recorded in the signed statement. The portal does not propose or approve rates.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Process Flow — General Revision (15 Stages + Kaveri Steps)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9498"/>
            <a:ext cx="502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i="0" dirty="0" smtClean="0">
                <a:solidFill>
                  <a:srgbClr val="FFFFFF"/>
                </a:solidFill>
                <a:latin typeface="Cambria"/>
              </a:rPr>
              <a:t>12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72768"/>
            <a:ext cx="1700784" cy="111556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1288" y="1426464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61288" y="142646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755648"/>
            <a:ext cx="1572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C9A227"/>
                </a:solidFill>
                <a:latin typeface="Calibri"/>
              </a:rPr>
              <a:t>CVC</a:t>
            </a:r>
          </a:p>
          <a:p>
            <a:pPr algn="ctr"/>
            <a:r>
              <a:rPr sz="819">
                <a:solidFill>
                  <a:srgbClr val="1B2A4A"/>
                </a:solidFill>
                <a:latin typeface="Calibri"/>
              </a:rPr>
              <a:t>Sends instructions and guidelines to all Sub-Committees (yearly, or to one Sub-Committee mid-year)</a:t>
            </a:r>
          </a:p>
          <a:p>
            <a:pPr algn="ctr"/>
            <a:r>
              <a:rPr sz="750" i="1">
                <a:solidFill>
                  <a:srgbClr val="5B6B84"/>
                </a:solidFill>
                <a:latin typeface="Calibri"/>
              </a:rPr>
              <a:t>Rule 5(1)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7984" y="2057400"/>
            <a:ext cx="210312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68295" y="1572768"/>
            <a:ext cx="1700784" cy="111556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2383" y="1426464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2383" y="142646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2303" y="1755648"/>
            <a:ext cx="1572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C9A227"/>
                </a:solidFill>
                <a:latin typeface="Calibri"/>
              </a:rPr>
              <a:t>Sub-Committee</a:t>
            </a:r>
          </a:p>
          <a:p>
            <a:pPr algn="ctr"/>
            <a:r>
              <a:rPr sz="819">
                <a:solidFill>
                  <a:srgbClr val="1B2A4A"/>
                </a:solidFill>
                <a:latin typeface="Calibri"/>
              </a:rPr>
              <a:t>Announces the plan to revise rates in newspapers and on office notice boards</a:t>
            </a:r>
          </a:p>
          <a:p>
            <a:pPr algn="ctr"/>
            <a:r>
              <a:rPr sz="750" i="1">
                <a:solidFill>
                  <a:srgbClr val="5B6B84"/>
                </a:solidFill>
                <a:latin typeface="Calibri"/>
              </a:rPr>
              <a:t>Rule 5(2)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69079" y="2057400"/>
            <a:ext cx="210312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79390" y="1572768"/>
            <a:ext cx="1700784" cy="111556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83478" y="1426464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78" y="142646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398" y="1755648"/>
            <a:ext cx="1572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C9A227"/>
                </a:solidFill>
                <a:latin typeface="Calibri"/>
              </a:rPr>
              <a:t>Public</a:t>
            </a:r>
          </a:p>
          <a:p>
            <a:pPr algn="ctr"/>
            <a:r>
              <a:rPr sz="819">
                <a:solidFill>
                  <a:srgbClr val="1B2A4A"/>
                </a:solidFill>
                <a:latin typeface="Calibri"/>
              </a:rPr>
              <a:t>Sends objections or suggestions within 15 days</a:t>
            </a:r>
          </a:p>
          <a:p>
            <a:pPr algn="ctr"/>
            <a:r>
              <a:rPr sz="750" i="1">
                <a:solidFill>
                  <a:srgbClr val="5B6B84"/>
                </a:solidFill>
                <a:latin typeface="Calibri"/>
              </a:rPr>
              <a:t>Rule 5(2)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0174" y="2057400"/>
            <a:ext cx="210312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90485" y="1572768"/>
            <a:ext cx="1700784" cy="111556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94573" y="1426464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94573" y="142646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3" y="1755648"/>
            <a:ext cx="1572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C9A227"/>
                </a:solidFill>
                <a:latin typeface="Calibri"/>
              </a:rPr>
              <a:t>Sub-Committee Secretary (SR)</a:t>
            </a:r>
          </a:p>
          <a:p>
            <a:pPr algn="ctr"/>
            <a:r>
              <a:rPr sz="819">
                <a:solidFill>
                  <a:srgbClr val="1B2A4A"/>
                </a:solidFill>
                <a:latin typeface="Calibri"/>
              </a:rPr>
              <a:t>Sorts objections and places them before the Sub-Committee</a:t>
            </a:r>
          </a:p>
          <a:p>
            <a:pPr algn="ctr"/>
            <a:r>
              <a:rPr sz="750" i="1">
                <a:solidFill>
                  <a:srgbClr val="5B6B84"/>
                </a:solidFill>
                <a:latin typeface="Calibri"/>
              </a:rPr>
              <a:t>Rule 5(2)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91269" y="2057400"/>
            <a:ext cx="210312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01580" y="1572768"/>
            <a:ext cx="1700784" cy="111556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05668" y="1426464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05668" y="142646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88" y="1755648"/>
            <a:ext cx="1572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C9A227"/>
                </a:solidFill>
                <a:latin typeface="Calibri"/>
              </a:rPr>
              <a:t>Sub-Committee</a:t>
            </a:r>
          </a:p>
          <a:p>
            <a:pPr algn="ctr"/>
            <a:r>
              <a:rPr sz="819">
                <a:solidFill>
                  <a:srgbClr val="1B2A4A"/>
                </a:solidFill>
                <a:latin typeface="Calibri"/>
              </a:rPr>
              <a:t>Meets, considers public views and decides the new rates</a:t>
            </a:r>
          </a:p>
          <a:p>
            <a:pPr algn="ctr"/>
            <a:r>
              <a:rPr sz="750" i="1">
                <a:solidFill>
                  <a:srgbClr val="5B6B84"/>
                </a:solidFill>
                <a:latin typeface="Calibri"/>
              </a:rPr>
              <a:t>Rule 5(2)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802364" y="2057400"/>
            <a:ext cx="210312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12675" y="1572768"/>
            <a:ext cx="1700784" cy="111556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16763" y="1426464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16763" y="142646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6683" y="1755648"/>
            <a:ext cx="1572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C9A227"/>
                </a:solidFill>
                <a:latin typeface="Calibri"/>
              </a:rPr>
              <a:t>Sub-Committee</a:t>
            </a:r>
          </a:p>
          <a:p>
            <a:pPr algn="ctr"/>
            <a:r>
              <a:rPr sz="819">
                <a:solidFill>
                  <a:srgbClr val="1B2A4A"/>
                </a:solidFill>
                <a:latin typeface="Calibri"/>
              </a:rPr>
              <a:t>Prepares statement of average rates, village-wise and local-body-wise</a:t>
            </a:r>
          </a:p>
          <a:p>
            <a:pPr algn="ctr"/>
            <a:r>
              <a:rPr sz="750" i="1">
                <a:solidFill>
                  <a:srgbClr val="5B6B84"/>
                </a:solidFill>
                <a:latin typeface="Calibri"/>
              </a:rPr>
              <a:t>Rule 5(2)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054096"/>
            <a:ext cx="1700784" cy="111556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61288" y="2907792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61288" y="29077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" y="3236976"/>
            <a:ext cx="1572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C9A227"/>
                </a:solidFill>
                <a:latin typeface="Calibri"/>
              </a:rPr>
              <a:t>Chairman + Secretary</a:t>
            </a:r>
          </a:p>
          <a:p>
            <a:pPr algn="ctr"/>
            <a:r>
              <a:rPr sz="819">
                <a:solidFill>
                  <a:srgbClr val="1B2A4A"/>
                </a:solidFill>
                <a:latin typeface="Calibri"/>
              </a:rPr>
              <a:t>Sign the statement in CVC format, with views on objections</a:t>
            </a:r>
          </a:p>
          <a:p>
            <a:pPr algn="ctr"/>
            <a:r>
              <a:rPr sz="750" i="1">
                <a:solidFill>
                  <a:srgbClr val="5B6B84"/>
                </a:solidFill>
                <a:latin typeface="Calibri"/>
              </a:rPr>
              <a:t>Rule 5(2)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157984" y="3538728"/>
            <a:ext cx="210312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68295" y="3054096"/>
            <a:ext cx="1700784" cy="111556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072383" y="2907792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72383" y="29077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32303" y="3236976"/>
            <a:ext cx="1572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C9A227"/>
                </a:solidFill>
                <a:latin typeface="Calibri"/>
              </a:rPr>
              <a:t>Sub-Committee Secretary (SR)</a:t>
            </a:r>
          </a:p>
          <a:p>
            <a:pPr algn="ctr"/>
            <a:r>
              <a:rPr sz="819">
                <a:solidFill>
                  <a:srgbClr val="1B2A4A"/>
                </a:solidFill>
                <a:latin typeface="Calibri"/>
              </a:rPr>
              <a:t>Sends printed booklet and soft copy to the District Registrar</a:t>
            </a:r>
          </a:p>
          <a:p>
            <a:pPr algn="ctr"/>
            <a:r>
              <a:rPr sz="750" i="1">
                <a:solidFill>
                  <a:srgbClr val="5B6B84"/>
                </a:solidFill>
                <a:latin typeface="Calibri"/>
              </a:rPr>
              <a:t>Rule 5(2)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069079" y="3538728"/>
            <a:ext cx="210312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279390" y="3054096"/>
            <a:ext cx="1700784" cy="111556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983478" y="2907792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83478" y="29077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398" y="3236976"/>
            <a:ext cx="1572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C9A227"/>
                </a:solidFill>
                <a:latin typeface="Calibri"/>
              </a:rPr>
              <a:t>District Registrar</a:t>
            </a:r>
          </a:p>
          <a:p>
            <a:pPr algn="ctr"/>
            <a:r>
              <a:rPr sz="819">
                <a:solidFill>
                  <a:srgbClr val="1B2A4A"/>
                </a:solidFill>
                <a:latin typeface="Calibri"/>
              </a:rPr>
              <a:t>Checks the statement; returns mistakes or missing data</a:t>
            </a:r>
          </a:p>
          <a:p>
            <a:pPr algn="ctr"/>
            <a:r>
              <a:rPr sz="750" i="1">
                <a:solidFill>
                  <a:srgbClr val="5B6B84"/>
                </a:solidFill>
                <a:latin typeface="Calibri"/>
              </a:rPr>
              <a:t>Rule 5(3)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5980174" y="3538728"/>
            <a:ext cx="210312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190485" y="3054096"/>
            <a:ext cx="1700784" cy="111556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894573" y="2907792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94573" y="29077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54493" y="3236976"/>
            <a:ext cx="1572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C9A227"/>
                </a:solidFill>
                <a:latin typeface="Calibri"/>
              </a:rPr>
              <a:t>Sub-Committee</a:t>
            </a:r>
          </a:p>
          <a:p>
            <a:pPr algn="ctr"/>
            <a:r>
              <a:rPr sz="819">
                <a:solidFill>
                  <a:srgbClr val="1B2A4A"/>
                </a:solidFill>
                <a:latin typeface="Calibri"/>
              </a:rPr>
              <a:t>Corrects and resubmits within 15 days</a:t>
            </a:r>
          </a:p>
          <a:p>
            <a:pPr algn="ctr"/>
            <a:r>
              <a:rPr sz="750" i="1">
                <a:solidFill>
                  <a:srgbClr val="5B6B84"/>
                </a:solidFill>
                <a:latin typeface="Calibri"/>
              </a:rPr>
              <a:t>Rule 5(3)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7891269" y="3538728"/>
            <a:ext cx="210312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101580" y="3054096"/>
            <a:ext cx="1700784" cy="111556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805668" y="2907792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05668" y="29077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65588" y="3236976"/>
            <a:ext cx="1572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C9A227"/>
                </a:solidFill>
                <a:latin typeface="Calibri"/>
              </a:rPr>
              <a:t>District Registrar</a:t>
            </a:r>
          </a:p>
          <a:p>
            <a:pPr algn="ctr"/>
            <a:r>
              <a:rPr sz="819">
                <a:solidFill>
                  <a:srgbClr val="1B2A4A"/>
                </a:solidFill>
                <a:latin typeface="Calibri"/>
              </a:rPr>
              <a:t>Final review with remarks; booklet per sub-district to CVC Secretary</a:t>
            </a:r>
          </a:p>
          <a:p>
            <a:pPr algn="ctr"/>
            <a:r>
              <a:rPr sz="750" i="1">
                <a:solidFill>
                  <a:srgbClr val="5B6B84"/>
                </a:solidFill>
                <a:latin typeface="Calibri"/>
              </a:rPr>
              <a:t>Rule 5(3)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9802364" y="3538728"/>
            <a:ext cx="210312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0012675" y="3054096"/>
            <a:ext cx="1700784" cy="111556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716763" y="2907792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716763" y="29077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76683" y="3236976"/>
            <a:ext cx="1572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C9A227"/>
                </a:solidFill>
                <a:latin typeface="Calibri"/>
              </a:rPr>
              <a:t>CVC Secretary</a:t>
            </a:r>
          </a:p>
          <a:p>
            <a:pPr algn="ctr"/>
            <a:r>
              <a:rPr sz="819">
                <a:solidFill>
                  <a:srgbClr val="1B2A4A"/>
                </a:solidFill>
                <a:latin typeface="Calibri"/>
              </a:rPr>
              <a:t>Checks the statements and places them before the CVC</a:t>
            </a:r>
          </a:p>
          <a:p>
            <a:pPr algn="ctr"/>
            <a:r>
              <a:rPr sz="750" i="1">
                <a:solidFill>
                  <a:srgbClr val="5B6B84"/>
                </a:solidFill>
                <a:latin typeface="Calibri"/>
              </a:rPr>
              <a:t>Rule 7(1)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4535424"/>
            <a:ext cx="1700784" cy="111556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161288" y="4389120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61288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1208" y="4718304"/>
            <a:ext cx="1572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C9A227"/>
                </a:solidFill>
                <a:latin typeface="Calibri"/>
              </a:rPr>
              <a:t>CVC</a:t>
            </a:r>
          </a:p>
          <a:p>
            <a:pPr algn="ctr"/>
            <a:r>
              <a:rPr sz="819">
                <a:solidFill>
                  <a:srgbClr val="1B2A4A"/>
                </a:solidFill>
                <a:latin typeface="Calibri"/>
              </a:rPr>
              <a:t>Discusses district-wise; accepts / rejects suggestions; records decisions</a:t>
            </a:r>
          </a:p>
          <a:p>
            <a:pPr algn="ctr"/>
            <a:r>
              <a:rPr sz="750" i="1">
                <a:solidFill>
                  <a:srgbClr val="5B6B84"/>
                </a:solidFill>
                <a:latin typeface="Calibri"/>
              </a:rPr>
              <a:t>Rule 7(2)</a:t>
            </a:r>
          </a:p>
        </p:txBody>
      </p:sp>
      <p:sp>
        <p:nvSpPr>
          <p:cNvPr id="70" name="Right Arrow 69"/>
          <p:cNvSpPr/>
          <p:nvPr/>
        </p:nvSpPr>
        <p:spPr>
          <a:xfrm>
            <a:off x="2157984" y="5020056"/>
            <a:ext cx="210312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2368295" y="4535424"/>
            <a:ext cx="1700784" cy="111556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3072383" y="4389120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072383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32303" y="4718304"/>
            <a:ext cx="1572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C9A227"/>
                </a:solidFill>
                <a:latin typeface="Calibri"/>
              </a:rPr>
              <a:t>CVC Secretary → DR</a:t>
            </a:r>
          </a:p>
          <a:p>
            <a:pPr algn="ctr"/>
            <a:r>
              <a:rPr sz="819">
                <a:solidFill>
                  <a:srgbClr val="1B2A4A"/>
                </a:solidFill>
                <a:latin typeface="Calibri"/>
              </a:rPr>
              <a:t>Attests approved statements; DR forwards them to Sub-Committees</a:t>
            </a:r>
          </a:p>
          <a:p>
            <a:pPr algn="ctr"/>
            <a:r>
              <a:rPr sz="750" i="1">
                <a:solidFill>
                  <a:srgbClr val="5B6B84"/>
                </a:solidFill>
                <a:latin typeface="Calibri"/>
              </a:rPr>
              <a:t>Rule 7(3)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4069079" y="5020056"/>
            <a:ext cx="210312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4279390" y="4535424"/>
            <a:ext cx="1700784" cy="111556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983478" y="4389120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83478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43398" y="4718304"/>
            <a:ext cx="1572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C9A227"/>
                </a:solidFill>
                <a:latin typeface="Calibri"/>
              </a:rPr>
              <a:t>Sub-Committee / DR</a:t>
            </a:r>
          </a:p>
          <a:p>
            <a:pPr algn="ctr"/>
            <a:r>
              <a:rPr sz="819">
                <a:solidFill>
                  <a:srgbClr val="1B2A4A"/>
                </a:solidFill>
                <a:latin typeface="Calibri"/>
              </a:rPr>
              <a:t>Display approved rates in offices; printed copies sold at CVC price</a:t>
            </a:r>
          </a:p>
          <a:p>
            <a:pPr algn="ctr"/>
            <a:r>
              <a:rPr sz="750" i="1">
                <a:solidFill>
                  <a:srgbClr val="5B6B84"/>
                </a:solidFill>
                <a:latin typeface="Calibri"/>
              </a:rPr>
              <a:t>Rule 7(3)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5980174" y="5020056"/>
            <a:ext cx="210312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6190485" y="4535424"/>
            <a:ext cx="1700784" cy="11155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5B6B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6894573" y="4389120"/>
            <a:ext cx="292608" cy="292608"/>
          </a:xfrm>
          <a:prstGeom prst="ellipse">
            <a:avLst/>
          </a:prstGeom>
          <a:solidFill>
            <a:srgbClr val="5B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94573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54493" y="4718304"/>
            <a:ext cx="1572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5B6B84"/>
                </a:solidFill>
                <a:latin typeface="Calibri"/>
              </a:rPr>
              <a:t>CVC + Kaveri</a:t>
            </a:r>
          </a:p>
          <a:p>
            <a:pPr algn="ctr"/>
            <a:r>
              <a:rPr sz="819">
                <a:solidFill>
                  <a:srgbClr val="1B2A4A"/>
                </a:solidFill>
                <a:latin typeface="Calibri"/>
              </a:rPr>
              <a:t>Fix effective date; publish e-Gazette via DIPR / Karnataka Rajya Patra</a:t>
            </a:r>
          </a:p>
          <a:p>
            <a:pPr algn="ctr"/>
            <a:r>
              <a:rPr sz="750" i="1">
                <a:solidFill>
                  <a:srgbClr val="5B6B84"/>
                </a:solidFill>
                <a:latin typeface="Calibri"/>
              </a:rPr>
              <a:t>Kaveri system step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7891269" y="5020056"/>
            <a:ext cx="210312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8101580" y="4535424"/>
            <a:ext cx="1700784" cy="11155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5B6B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8805668" y="4389120"/>
            <a:ext cx="292608" cy="292608"/>
          </a:xfrm>
          <a:prstGeom prst="ellipse">
            <a:avLst/>
          </a:prstGeom>
          <a:solidFill>
            <a:srgbClr val="5B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805668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65588" y="4718304"/>
            <a:ext cx="1572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5B6B84"/>
                </a:solidFill>
                <a:latin typeface="Calibri"/>
              </a:rPr>
              <a:t>Kaveri System</a:t>
            </a:r>
          </a:p>
          <a:p>
            <a:pPr algn="ctr"/>
            <a:r>
              <a:rPr sz="819">
                <a:solidFill>
                  <a:srgbClr val="1B2A4A"/>
                </a:solidFill>
                <a:latin typeface="Calibri"/>
              </a:rPr>
              <a:t>New rates live from the effective date; old rates kept for history</a:t>
            </a:r>
          </a:p>
          <a:p>
            <a:pPr algn="ctr"/>
            <a:r>
              <a:rPr sz="750" i="1">
                <a:solidFill>
                  <a:srgbClr val="5B6B84"/>
                </a:solidFill>
                <a:latin typeface="Calibri"/>
              </a:rPr>
              <a:t>Kaveri system step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B6B84"/>
                </a:solidFill>
                <a:latin typeface="Calibri"/>
              </a:rPr>
              <a:t>Rows read left to right. Step 9 returns mistakes to step 10 (15-day rectification); step 13 can return to step 12 for clarification. Grey dashed boxes = Kaveri system steps (not in the Rule 5 / 7 text).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Swimlane Process Diagram — General Revision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9498"/>
            <a:ext cx="502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i="0" dirty="0" smtClean="0">
                <a:solidFill>
                  <a:srgbClr val="FFFFFF"/>
                </a:solidFill>
                <a:latin typeface="Cambria"/>
              </a:rPr>
              <a:t>13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B6B84"/>
                </a:solidFill>
                <a:latin typeface="Calibri"/>
              </a:rPr>
              <a:t>One lane per actor; flow runs top to bottom. Full-size: BRD v1.8 Figure 1  ·  Process Diagram/Process_A_General_Revision.drawio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Calibri"/>
              </a:rPr>
              <a:t>Part 1 — Stages 1 to 11</a:t>
            </a:r>
          </a:p>
        </p:txBody>
      </p:sp>
      <p:pic>
        <p:nvPicPr>
          <p:cNvPr id="10" name="Picture 9" descr="process_a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4022837" cy="4526280"/>
          </a:xfrm>
          <a:prstGeom prst="rect">
            <a:avLst/>
          </a:prstGeom>
          <a:ln w="9525">
            <a:solidFill>
              <a:srgbClr val="C8D0D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662917" y="1572768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Calibri"/>
              </a:rPr>
              <a:t>Part 2 — Stages 12 to 15 and Kaveri steps</a:t>
            </a:r>
          </a:p>
        </p:txBody>
      </p:sp>
      <p:pic>
        <p:nvPicPr>
          <p:cNvPr id="12" name="Picture 11" descr="process_a_par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917" y="1783080"/>
            <a:ext cx="4197363" cy="4526280"/>
          </a:xfrm>
          <a:prstGeom prst="rect">
            <a:avLst/>
          </a:prstGeom>
          <a:ln w="9525">
            <a:solidFill>
              <a:srgbClr val="C8D0DC"/>
            </a:solidFill>
          </a:ln>
        </p:spPr>
      </p:pic>
      <p:sp>
        <p:nvSpPr>
          <p:cNvPr id="13" name="Rounded Rectangle 12"/>
          <p:cNvSpPr/>
          <p:nvPr/>
        </p:nvSpPr>
        <p:spPr>
          <a:xfrm>
            <a:off x="9043160" y="1572768"/>
            <a:ext cx="2688592" cy="4736592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80320" y="1682496"/>
            <a:ext cx="2414272" cy="4517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mbria"/>
              </a:rPr>
              <a:t>Lanes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1B2A4A"/>
                </a:solidFill>
                <a:latin typeface="Calibri"/>
              </a:rPr>
              <a:t>CVC (Chairman: IGR)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1B2A4A"/>
                </a:solidFill>
                <a:latin typeface="Calibri"/>
              </a:rPr>
              <a:t>CVC Secretary — DIGR (Valuation)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1B2A4A"/>
                </a:solidFill>
                <a:latin typeface="Calibri"/>
              </a:rPr>
              <a:t>District Registrar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1B2A4A"/>
                </a:solidFill>
                <a:latin typeface="Calibri"/>
              </a:rPr>
              <a:t>Market Valuation Sub-Committee (Chairman: Tahsildar)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1B2A4A"/>
                </a:solidFill>
                <a:latin typeface="Calibri"/>
              </a:rPr>
              <a:t>Sub-Committee Secretary — SR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1B2A4A"/>
                </a:solidFill>
                <a:latin typeface="Calibri"/>
              </a:rPr>
              <a:t>Public / Citizens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1B2A4A"/>
                </a:solidFill>
                <a:latin typeface="Calibri"/>
              </a:rPr>
              <a:t>Kaveri System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1B2A4A"/>
                </a:solidFill>
                <a:latin typeface="Calibri"/>
              </a:rPr>
              <a:t>Red dashed arrows = return paths (rectification; CVC clarification).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1B2A4A"/>
                </a:solidFill>
                <a:latin typeface="Calibri"/>
              </a:rPr>
              <a:t>Grey dashed boxes = Kaveri system steps.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/ Cycle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9498"/>
            <a:ext cx="502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 smtClean="0">
                <a:solidFill>
                  <a:srgbClr val="FFFFFF"/>
                </a:solidFill>
                <a:latin typeface="Cambria"/>
              </a:rPr>
              <a:t>14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5501638" cy="448056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Cycle Draft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Revision Cycle created; instructions being prepared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Secretary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Instructions Issued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instructions sent to Sub-Committees (general / mid-year)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Notice of Intention Published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Plan to revise published in newspapers / notice boards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0654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Objections Open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15-day objection / suggestion window running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Public / SC Secretary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568069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Objections Under Processing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Secretary sorting objections for the agenda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SC Secretary (SR)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34198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 Deliberation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Sittings in progress; rates being decided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10664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Statement Signed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Statement signed by Secretary and Chairman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82808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Submitted to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Booklet and soft copy with District Registrar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 /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24019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for Rectification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Mistakes returned; 15-day clock running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2509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33160" y="1600200"/>
          <a:ext cx="5501638" cy="448056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Final Examination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 recording views on improvement / change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With CVC Secretary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Per-sub-district booklets under verification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Secretary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Placed before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District-wise estimations on CVC agenda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62597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Decision recorded; suggestions accepted / rejected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6163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Attested and Transmitted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Attested statements sent to DR → Sub-Committees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Secretary / DR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771259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Published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Displayed in offices; printed copies on sale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 /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20635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Gazette Linked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Effective date fixed; e-Gazette particulars captured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/ Admin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73865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Kaveri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Rates live from effective date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80021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/ Clarification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Returned to prior stage with remarks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7278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9498"/>
            <a:ext cx="502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 smtClean="0">
                <a:solidFill>
                  <a:srgbClr val="FFFFFF"/>
                </a:solidFill>
                <a:latin typeface="Cambria"/>
              </a:rPr>
              <a:t>15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party / citizen applies for fixation of guidance value for a newly developed property / project. Legal gate: District Registrar accepts the request under Sec. 45-B.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Portal —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MODE: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339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Apply for fixation of guidance value for the newly developed property with ULPIN (boundary fetched from ULMS), property particulars and project documents; track status online.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DR accepts / returns for deficiency; spot inspection &amp; proposal; Secretary CVC review &amp;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finalisation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; IGR approval and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Kaveri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publication.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mbria"/>
              </a:rPr>
              <a:t>DR Office Desk — Offline / Assisted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 dirty="0">
                <a:solidFill>
                  <a:srgbClr val="C9A227"/>
                </a:solidFill>
                <a:latin typeface="Calibri"/>
              </a:rPr>
              <a:t>MODE: OFFLINE / ASSISTED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Application submitted at the DR office desk with assisted data entry where the citizen cannot use the portal directly.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Same DR → Secretary CVC → IGR approval chain as the online channel; inspection report and evidence pack captured by DR staff.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Process Flow — Individual Project Fixation (6 Steps)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9498"/>
            <a:ext cx="502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 smtClean="0">
                <a:solidFill>
                  <a:srgbClr val="FFFFFF"/>
                </a:solidFill>
                <a:latin typeface="Cambria"/>
              </a:rPr>
              <a:t>16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25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925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225032"/>
            <a:ext cx="1586992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 dirty="0">
                <a:solidFill>
                  <a:srgbClr val="1B2A4A"/>
                </a:solidFill>
                <a:latin typeface="Calibri"/>
              </a:rPr>
              <a:t>Party / citizen applies (application, ULPIN, property particulars, project documents); boundary fetched from ULMS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920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73376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5432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5432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240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accepts the request under Sec. 45-B (or returns for deficiency with reasons)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0096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89552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91608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1608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416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conducts spot inspection and proposes the guidance value (inspection report + proposed rate + evidence)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6272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5728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7784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7784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592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Secretary CVC reviews the proposal using the evidence pack and finalises the guidance value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2448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21904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23960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768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Finalised guidance value submitted to Chairman CVC (IGR) for approval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818624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3808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4013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013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2944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IGR approves; rates published / linked to project or survey units and adopted in Kaveri per effective 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534640"/>
            <a:ext cx="11277600" cy="100584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3653512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Key characteristics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927832"/>
            <a:ext cx="10820400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District Registrar is the acceptance authority under Sec. 45-B; Chairman CVC (IGR) is the final approval authority. If Secretary CVC returns the proposal, DR retains full history and the citizen sees status and deficiency list.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Swimlane Process Diagram — Individual Project Fixation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9498"/>
            <a:ext cx="502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 smtClean="0">
                <a:solidFill>
                  <a:srgbClr val="FFFFFF"/>
                </a:solidFill>
                <a:latin typeface="Cambria"/>
              </a:rPr>
              <a:t>17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B6B84"/>
                </a:solidFill>
                <a:latin typeface="Calibri"/>
              </a:rPr>
              <a:t>One lane per actor; flow runs top to bottom. Full-size: BRD v1.8 Figure 2  ·  Process Diagram/Process_B_Individual_Project_Fixation.drawio</a:t>
            </a:r>
          </a:p>
        </p:txBody>
      </p:sp>
      <p:pic>
        <p:nvPicPr>
          <p:cNvPr id="9" name="Picture 8" descr="Process_B_Individual_Project_Fix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3730507" cy="4709160"/>
          </a:xfrm>
          <a:prstGeom prst="rect">
            <a:avLst/>
          </a:prstGeom>
          <a:ln w="9525">
            <a:solidFill>
              <a:srgbClr val="C8D0DC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462027" y="1645920"/>
            <a:ext cx="7269725" cy="466344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187" y="1755648"/>
            <a:ext cx="6995405" cy="4443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mbria"/>
              </a:rPr>
              <a:t>Reading the diagram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1B2A4A"/>
                </a:solidFill>
                <a:latin typeface="Calibri"/>
              </a:rPr>
              <a:t>Lanes: Citizen / Developer · Kaveri System (with ULMS) · District Registrar · CVC Secretary · IGR (Chairman, CVC).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1B2A4A"/>
                </a:solidFill>
                <a:latin typeface="Calibri"/>
              </a:rPr>
              <a:t>Kaveri fetches the property boundary from ULMS using the ULPIN.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1B2A4A"/>
                </a:solidFill>
                <a:latin typeface="Calibri"/>
              </a:rPr>
              <a:t>DR check has three outcomes: accepted → site inspection; needs changes → applicant fixes and resubmits; not eligible → rejected with written reasons.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1B2A4A"/>
                </a:solidFill>
                <a:latin typeface="Calibri"/>
              </a:rPr>
              <a:t>CVC Secretary can return the proposal to the DR with remarks; IGR can return it to the CVC Secretary.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1B2A4A"/>
                </a:solidFill>
                <a:latin typeface="Calibri"/>
              </a:rPr>
              <a:t>On IGR approval the start date is fixed and the rate goes live in Kaveri; the applicant is informed.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9498"/>
            <a:ext cx="502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 smtClean="0">
                <a:solidFill>
                  <a:srgbClr val="FFFFFF"/>
                </a:solidFill>
                <a:latin typeface="Cambria"/>
              </a:rPr>
              <a:t>18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74552" cy="4730000"/>
        </p:xfrm>
        <a:graphic>
          <a:graphicData uri="http://schemas.openxmlformats.org/drawingml/2006/table">
            <a:tbl>
              <a:tblPr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application filed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Accepted by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accepted under Sec. 45-B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Inspection Scheduled / Done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Spot inspection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Proposed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 proposal with proposed value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Secretary CVC Review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Under review / finalisation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Secretary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IGR Approval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 to Chairman 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 approved final guidance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</a:t>
                      </a:r>
                      <a:r>
                        <a:rPr sz="10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Kaveri</a:t>
                      </a:r>
                      <a:endParaRPr sz="10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Rate available for calculation / display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for Deficiency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or DR must remedy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rejected with speaking order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/ 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7.III WHAT IS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Highlights in Kaveri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9498"/>
            <a:ext cx="502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 smtClean="0">
                <a:solidFill>
                  <a:srgbClr val="FFFFFF"/>
                </a:solidFill>
                <a:latin typeface="Cambria"/>
              </a:rPr>
              <a:t>19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Digitised General Revision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CVC instructions → notice of intention → 15-day objections → signed statement → DR verification → CVC Secretary → CVC decision → attestation and publication → effective date → automatic adoption.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212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0842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842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391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Citizen-initiated Individual Project Fixation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671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DR acceptance under Sec. 45-B and Secretary CVC / IGR approval chain.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704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1334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334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8832" y="1709928"/>
            <a:ext cx="29545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Structured evidence </a:t>
            </a:r>
            <a:r>
              <a:rPr lang="en-IN" sz="1200" b="1" dirty="0" smtClean="0">
                <a:solidFill>
                  <a:srgbClr val="1B2A4A"/>
                </a:solidFill>
                <a:latin typeface="Calibri"/>
              </a:rPr>
              <a:t>for revision</a:t>
            </a:r>
            <a:endParaRPr sz="12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3163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Transaction data, KSRSAC GIS, developer publications, RTC, khata, town planning attached to every proposal.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0350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Versioned rate masters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No silent overwrite; SR and Citizen logins always read the effective-dated published version.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212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0842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842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391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Objection capture (15-day window)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671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Objections / suggestions captured online or at the SRO after the notice of intention; Sub-Committee views recorded in the signed statement.</a:t>
            </a:r>
          </a:p>
        </p:txBody>
      </p:sp>
      <p:sp>
        <p:nvSpPr>
          <p:cNvPr id="33" name="Rounded Rectangle 27"/>
          <p:cNvSpPr/>
          <p:nvPr/>
        </p:nvSpPr>
        <p:spPr>
          <a:xfrm>
            <a:off x="806704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28"/>
          <p:cNvSpPr/>
          <p:nvPr/>
        </p:nvSpPr>
        <p:spPr>
          <a:xfrm>
            <a:off x="821334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29"/>
          <p:cNvSpPr txBox="1"/>
          <p:nvPr/>
        </p:nvSpPr>
        <p:spPr>
          <a:xfrm>
            <a:off x="821334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0"/>
          <p:cNvSpPr txBox="1"/>
          <p:nvPr/>
        </p:nvSpPr>
        <p:spPr>
          <a:xfrm>
            <a:off x="868883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Signed statements &amp; DR verification</a:t>
            </a:r>
          </a:p>
        </p:txBody>
      </p:sp>
      <p:sp>
        <p:nvSpPr>
          <p:cNvPr id="37" name="TextBox 31"/>
          <p:cNvSpPr txBox="1"/>
          <p:nvPr/>
        </p:nvSpPr>
        <p:spPr>
          <a:xfrm>
            <a:off x="823163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eSign by Chairman and Secretary; booklet + soft copy; DR 15-day rectification tracking; CVC Secretary attestation before publication.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0" y="1234440"/>
            <a:ext cx="731520" cy="73152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72200" y="1234440"/>
            <a:ext cx="731520" cy="73152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>
                <a:solidFill>
                  <a:srgbClr val="DCE6F2"/>
                </a:solidFill>
                <a:latin typeface="Calibri"/>
              </a:rPr>
              <a:t>Valuation Module (CVC) — BRD Walkthrough  ·  Kaveri 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6747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DCE6F2"/>
                </a:solidFill>
                <a:latin typeface="Calibri"/>
              </a:rPr>
              <a:t>Author (BA): </a:t>
            </a:r>
            <a:r>
              <a:rPr sz="1200" b="0" i="0" dirty="0" err="1">
                <a:solidFill>
                  <a:srgbClr val="DCE6F2"/>
                </a:solidFill>
                <a:latin typeface="Calibri"/>
              </a:rPr>
              <a:t>Nandha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 Kumar     · </a:t>
            </a:r>
            <a:r>
              <a:rPr lang="en-IN" sz="1200" b="0" i="0" dirty="0" smtClean="0">
                <a:solidFill>
                  <a:srgbClr val="DCE6F2"/>
                </a:solidFill>
                <a:latin typeface="Calibri"/>
              </a:rPr>
              <a:t> Domain Expert</a:t>
            </a:r>
            <a:r>
              <a:rPr lang="en-IN" sz="1200" dirty="0" smtClean="0">
                <a:solidFill>
                  <a:srgbClr val="DCE6F2"/>
                </a:solidFill>
              </a:rPr>
              <a:t>: H P </a:t>
            </a:r>
            <a:r>
              <a:rPr lang="en-IN" sz="1200" dirty="0" err="1" smtClean="0">
                <a:solidFill>
                  <a:srgbClr val="DCE6F2"/>
                </a:solidFill>
              </a:rPr>
              <a:t>Prabhakar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 err="1" smtClean="0">
                <a:solidFill>
                  <a:srgbClr val="DCE6F2"/>
                </a:solidFill>
              </a:rPr>
              <a:t>Naik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>
                <a:solidFill>
                  <a:srgbClr val="DCE6F2"/>
                </a:solidFill>
              </a:rPr>
              <a:t>·</a:t>
            </a:r>
            <a:r>
              <a:rPr sz="1200" b="0" i="0" dirty="0" smtClean="0">
                <a:solidFill>
                  <a:srgbClr val="DCE6F2"/>
                </a:solidFill>
                <a:latin typeface="Calibri"/>
              </a:rPr>
              <a:t>    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Product Owner: M V Prashanth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DCE6F2"/>
                </a:solidFill>
                <a:latin typeface="Calibri"/>
              </a:rPr>
              <a:t>Document ID: BRD-K3-CVC-GVF-001  ·  Version 8  ·  30-09-2026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3864</Words>
  <Application>Microsoft Office PowerPoint</Application>
  <PresentationFormat>Widescreen</PresentationFormat>
  <Paragraphs>525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>generated using python-pptx</dc:description>
  <cp:lastModifiedBy>Administrator</cp:lastModifiedBy>
  <cp:revision>23</cp:revision>
  <dcterms:created xsi:type="dcterms:W3CDTF">2013-01-27T09:14:16Z</dcterms:created>
  <dcterms:modified xsi:type="dcterms:W3CDTF">2026-10-01T05:54:05Z</dcterms:modified>
  <cp:category/>
</cp:coreProperties>
</file>