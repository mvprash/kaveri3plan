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78" r:id="rId22"/>
    <p:sldId id="279" r:id="rId23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5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3714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 dirty="0">
                <a:solidFill>
                  <a:srgbClr val="DCE6F2"/>
                </a:solidFill>
                <a:latin typeface="Calibri"/>
              </a:rPr>
              <a:t>Document ID: BRD-K3-CVC-GVF-001     ·     Version 5     ·     Status: Draft     ·     Last updated 19-09-2026</a:t>
            </a:r>
            <a:r>
              <a:rPr lang="en-IN" sz="1150" b="0" i="0" dirty="0" smtClean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 dirty="0" smtClean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 dirty="0">
                <a:solidFill>
                  <a:srgbClr val="DCE6F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(w.e.f. 1-4-2003).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212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0842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84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3912" y="198424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The Registration Act, </a:t>
            </a:r>
            <a:r>
              <a:rPr sz="1200" b="1" i="0" dirty="0" smtClean="0">
                <a:solidFill>
                  <a:srgbClr val="1B2A4A"/>
                </a:solidFill>
                <a:latin typeface="Calibri"/>
              </a:rPr>
              <a:t>1908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671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Registration of instruments; property description and territorial jurisdiction that drive which guideline rate applies.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6334"/>
              </p:ext>
            </p:extLst>
          </p:nvPr>
        </p:nvGraphicFramePr>
        <p:xfrm>
          <a:off x="457200" y="1417320"/>
          <a:ext cx="1077163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BRD relevance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CVC is the statutory owner of guideline rate masters and 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dirty="0">
                          <a:solidFill>
                            <a:srgbClr val="1F2A37"/>
                          </a:solidFill>
                          <a:latin typeface="Calibri"/>
                        </a:rPr>
                        <a:t>Primary legal basis for General Revision and for fixation of guidance value for new individual projects (DR acceptance of citizen request under Sec. 45-B framework)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56432"/>
            <a:ext cx="112772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7427"/>
              </p:ext>
            </p:extLst>
          </p:nvPr>
        </p:nvGraphicFramePr>
        <p:xfrm>
          <a:off x="457200" y="3822191"/>
          <a:ext cx="1072591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Stamp Act Sec. 45-B (practice)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983480"/>
            <a:ext cx="11277295" cy="1325880"/>
          </a:xfrm>
          <a:prstGeom prst="rect">
            <a:avLst/>
          </a:prstGeom>
          <a:noFill/>
        </p:spPr>
        <p:txBody>
          <a:bodyPr wrap="square" lIns="3600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F6B7A"/>
                </a:solidFill>
                <a:latin typeface="Calibri"/>
              </a:rPr>
              <a:t>Related notifications / amendments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Act 8 of 2003  (w.e.f. 1-4-2003)  —  Substituted / strengthened Sec. 45-B CVC framework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CVC / IGR order &amp; DIGR notification (operational)  (Per revision cycle)  —  Triggers General Revision; DIGR issues notification for fixing guidance value; CVC gazette fixes effective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Central Valuation Committee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Central Valuation Committee for Estimation, Publication and Revision of Market Value Guidelines of Properties) Rules, 2003 — Rule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CHAIRMAN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Commissioner of 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DIGR (Intelligence)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72768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682496"/>
            <a:ext cx="3282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STRENGTH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38528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mbria"/>
              </a:rPr>
              <a:t>Total members ≤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97480"/>
            <a:ext cx="11277295" cy="31546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25496"/>
            <a:ext cx="108749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— one representative from each of the following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00400"/>
            <a:ext cx="5349240" cy="2148840"/>
          </a:xfrm>
          <a:prstGeom prst="rect">
            <a:avLst/>
          </a:prstGeom>
          <a:noFill/>
        </p:spPr>
        <p:txBody>
          <a:bodyPr wrap="square" lIns="36000" rIns="18000" t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(i) Directorate of Town Planning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(ii) Directorate of Survey and Settlement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(iii) Bangalore City Corporation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(iv) Bangalore Development Authority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(v) Income-tax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(vi) Karnataka Public Works Department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200400"/>
            <a:ext cx="5349240" cy="2148840"/>
          </a:xfrm>
          <a:prstGeom prst="rect">
            <a:avLst/>
          </a:prstGeom>
          <a:noFill/>
        </p:spPr>
        <p:txBody>
          <a:bodyPr wrap="square" lIns="36000" rIns="18000" tIns="18000" bIns="180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(vii) Karnataka Irrigation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(viii) Registration and Stamps Department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(ix) Institute of Chartered Valuers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(x) Federation of Karnataka Chamber of Commerce and Industries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1F2A37"/>
                </a:solidFill>
                <a:latin typeface="Calibri"/>
              </a:rPr>
              <a:t>(xi) Any other person having expertise in the 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949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1F6B7A"/>
                </a:solidFill>
                <a:latin typeface="Calibri"/>
              </a:rPr>
              <a:t>Non-official members: term of two years, subject to the pleasure of the Government.  Member Secretary (DIGR–Intelligence) handles day-to-day administration, correspondence, and compilation / publication of market value guidelines.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  <a:latin typeface="Cambria"/>
              </a:rPr>
              <a:t>7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As-Is Pain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8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Evidence from the 31-08-2026 to 01-09-2026 discussion note and related ServiceDesk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Rates missing in SR / Citizen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Published rates do not reliably surface after revision / entry.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829" y="1865376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92133" y="19933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2133" y="2100777"/>
            <a:ext cx="3840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1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7621" y="1975104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Generic module failures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421" y="2432304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Valuation Module instability blocks registration fee path.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350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71408"/>
            <a:ext cx="295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smtClean="0">
                <a:solidFill>
                  <a:srgbClr val="1B2A4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blank guideline value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928608"/>
            <a:ext cx="3338576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masters incomplete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212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842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842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3912" y="347140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  <a:latin typeface="Calibri"/>
              </a:rPr>
              <a:t>Wrong rural building rate applied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6712" y="392860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Rural vs TMC / CMC classification not aligned to CVC publication.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8181" y="1879642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4485" y="200765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4485" y="20076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973" y="1989370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Unit-level valuation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773" y="2446570"/>
            <a:ext cx="3338576" cy="3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× unit (</a:t>
            </a:r>
            <a:r>
              <a:rPr sz="950" b="0" i="0" dirty="0" err="1">
                <a:solidFill>
                  <a:srgbClr val="5B6B84"/>
                </a:solidFill>
                <a:latin typeface="Calibri"/>
              </a:rPr>
              <a:t>gunta</a:t>
            </a:r>
            <a:r>
              <a:rPr sz="950" b="0" i="0" dirty="0">
                <a:solidFill>
                  <a:srgbClr val="5B6B84"/>
                </a:solidFill>
                <a:latin typeface="Calibri"/>
              </a:rPr>
              <a:t> / area) conversion not consistent with gazette methodology.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9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10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11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12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13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14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15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16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/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5  · 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C6B7B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Cambria"/>
              </a:rPr>
              <a:t>Market Valuation Sub-Committees — Composition</a:t>
            </a:r>
          </a:p>
        </p:txBody>
      </p:sp>
      <p:sp>
        <p:nvSpPr>
          <p:cNvPr id="4" name="Oval 3"/>
          <p:cNvSpPr/>
          <p:nvPr/>
        </p:nvSpPr>
        <p:spPr>
          <a:xfrm>
            <a:off x="11247120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365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C6B7B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2881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C6B7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C6B7B"/>
                </a:solidFill>
                <a:latin typeface="Calibri"/>
              </a:rPr>
              <a:t>Karnataka Stamp (Constitution of C.V.C. etc.) Rules, 2003 — Rule 4  ·  Constituted by CVC for each sub-district and district for estimation &amp; revision of market value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45920"/>
            <a:ext cx="3282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HEAD (SUB-DISTRICT)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83664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Tahsildar of the concerned taluk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3672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645920"/>
            <a:ext cx="3282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MEMBER SECRETARY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1883664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Sub-Registrar of the sub-district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536192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645920"/>
            <a:ext cx="3282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83664"/>
            <a:ext cx="32826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Office of the Sub-Registrar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79776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Members drawn 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54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Revenue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Department of Survey and Settlement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Public Works Department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1F2A37"/>
                </a:solidFill>
                <a:latin typeface="Calibri"/>
              </a:rPr>
              <a:t>•  Municipal Councils or Town Panchayaths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51760"/>
            <a:ext cx="5559552" cy="23317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7797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Administrative &amp; supervisory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15468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Administrative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35584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Registrar of the district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2160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Supervisory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9227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Central Valuation 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28853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1F6B7A"/>
                </a:solidFill>
                <a:latin typeface="Calibri"/>
              </a:rPr>
              <a:t>District Sub-Committees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48970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mbria"/>
              </a:rPr>
              <a:t>Function under the Registrar of the district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1F6B7A"/>
                </a:solidFill>
                <a:latin typeface="Calibri"/>
              </a:rPr>
              <a:t>Sub-Registrar (Member Secretary) looks after administration of the Sub-Committees, correspondence, and compilation of market-value data as per Sub-Committee resolutions.  CVC office (Rule 3): Office of the Inspector General of Registration and Commissioner of Stamps, or such other place as the Committee decides.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2145</Words>
  <Application>Microsoft Office PowerPoint</Application>
  <PresentationFormat>Widescreen</PresentationFormat>
  <Paragraphs>322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15</cp:revision>
  <dcterms:created xsi:type="dcterms:W3CDTF">2013-01-27T09:14:16Z</dcterms:created>
  <dcterms:modified xsi:type="dcterms:W3CDTF">2026-09-19T06:58:13Z</dcterms:modified>
  <cp:category/>
</cp:coreProperties>
</file>