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84BDD-C9E6-4DF8-A3E6-089E69B50F6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7317B-2922-4319-BFE5-B0B3F54F7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3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7317B-2922-4319-BFE5-B0B3F54F790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05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74920" y="960120"/>
            <a:ext cx="868680" cy="86868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69280" y="960120"/>
            <a:ext cx="868680" cy="86868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 spc="150">
                <a:solidFill>
                  <a:srgbClr val="C9A227"/>
                </a:solidFill>
                <a:latin typeface="Calibri"/>
              </a:rPr>
              <a:t>KAVERI 3.0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Valuation Module (CVC)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DCE6F2"/>
                </a:solidFill>
                <a:latin typeface="Calibri"/>
              </a:rPr>
              <a:t>Business Requirements Document — Executive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0492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 dirty="0">
                <a:solidFill>
                  <a:srgbClr val="DCE6F2"/>
                </a:solidFill>
                <a:latin typeface="Calibri"/>
              </a:rPr>
              <a:t>General Revision · Individual Project </a:t>
            </a:r>
            <a:r>
              <a:rPr lang="en-IN" sz="1300" b="0" i="1" dirty="0" smtClean="0">
                <a:solidFill>
                  <a:srgbClr val="DCE6F2"/>
                </a:solidFill>
                <a:latin typeface="Calibri"/>
              </a:rPr>
              <a:t>Guidance Value </a:t>
            </a:r>
            <a:r>
              <a:rPr sz="1300" b="0" i="1" dirty="0" smtClean="0">
                <a:solidFill>
                  <a:srgbClr val="DCE6F2"/>
                </a:solidFill>
                <a:latin typeface="Calibri"/>
              </a:rPr>
              <a:t>Fixation </a:t>
            </a:r>
            <a:r>
              <a:rPr sz="1300" b="0" i="1" dirty="0">
                <a:solidFill>
                  <a:srgbClr val="DCE6F2"/>
                </a:solidFill>
                <a:latin typeface="Calibri"/>
              </a:rPr>
              <a:t>· Guidance Value Publication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3714"/>
            <a:ext cx="105156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 dirty="0">
                <a:solidFill>
                  <a:srgbClr val="DCE6F2"/>
                </a:solidFill>
                <a:latin typeface="Calibri"/>
              </a:rPr>
              <a:t>Document ID: BRD-K3-CVC-GVF-001     ·     Version </a:t>
            </a:r>
            <a:r>
              <a:rPr lang="en-IN" sz="1150" b="0" i="0" dirty="0" smtClean="0">
                <a:solidFill>
                  <a:srgbClr val="DCE6F2"/>
                </a:solidFill>
                <a:latin typeface="Calibri"/>
              </a:rPr>
              <a:t>1</a:t>
            </a:r>
            <a:r>
              <a:rPr sz="1150" b="0" i="0" dirty="0" smtClean="0">
                <a:solidFill>
                  <a:srgbClr val="DCE6F2"/>
                </a:solidFill>
                <a:latin typeface="Calibri"/>
              </a:rPr>
              <a:t>     </a:t>
            </a:r>
            <a:r>
              <a:rPr sz="1150" b="0" i="0" dirty="0">
                <a:solidFill>
                  <a:srgbClr val="DCE6F2"/>
                </a:solidFill>
                <a:latin typeface="Calibri"/>
              </a:rPr>
              <a:t>·     Status: Draft     ·     Last updated 19-09-2026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Applicable Acts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The Department of Stamps and Registration, through the IGR as Chairman of the Central Valuation Committee, administers the following 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KSA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The Karnataka Stamp Act, 1957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Sec. 2(ac) defines CVC; Sec. 45-B constitutes CVC under IGR for estimation, publication and revision of market value guidelines and district / sub-district sub-committees; Sec. 45-A applies guidelines at registration; Sec. 3 + Schedule charge ad valorem duty. Strengthened by Act 8 of 2003 (w.e.f. 1-4-2003).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212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0842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842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3912" y="198424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The Registration Act, </a:t>
            </a:r>
            <a:r>
              <a:rPr sz="1200" b="1" i="0" dirty="0" smtClean="0">
                <a:solidFill>
                  <a:srgbClr val="1B2A4A"/>
                </a:solidFill>
                <a:latin typeface="Calibri"/>
              </a:rPr>
              <a:t>1908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2671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Registration of instruments; property description and territorial jurisdiction that drive which guideline rate applies.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Karnataka Stamp Act, 1957 — Key Sections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56334"/>
              </p:ext>
            </p:extLst>
          </p:nvPr>
        </p:nvGraphicFramePr>
        <p:xfrm>
          <a:off x="457200" y="1417320"/>
          <a:ext cx="1077163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2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BRD relevance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F2A37"/>
                          </a:solidFill>
                          <a:latin typeface="Calibri"/>
                        </a:rPr>
                        <a:t>Sec. 2(ac)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Definition — Central Valuation Committee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CVC is the statutory owner of guideline rate masters and approvals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F2A37"/>
                          </a:solidFill>
                          <a:latin typeface="Calibri"/>
                        </a:rPr>
                        <a:t>Sec. 45-B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Constitution of CVC; estimation, publication and revision of market value guidelines; district / sub-district sub-committees; CVC final authority for policy and methodology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 dirty="0">
                          <a:solidFill>
                            <a:srgbClr val="1F2A37"/>
                          </a:solidFill>
                          <a:latin typeface="Calibri"/>
                        </a:rPr>
                        <a:t>Primary legal basis for General Revision and for fixation of guidance value for new individual projects (DR acceptance of citizen request under Sec. 45-B framework)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456432"/>
            <a:ext cx="11277295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mbria"/>
              </a:rPr>
              <a:t>Relevant Rules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967427"/>
              </p:ext>
            </p:extLst>
          </p:nvPr>
        </p:nvGraphicFramePr>
        <p:xfrm>
          <a:off x="457200" y="3822191"/>
          <a:ext cx="10725912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0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5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Rule / provision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2A37"/>
                          </a:solidFill>
                          <a:latin typeface="Calibri"/>
                        </a:rPr>
                        <a:t>Stamp Act Sec. 45-B (practice)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1F2A37"/>
                          </a:solidFill>
                          <a:latin typeface="Calibri"/>
                        </a:rPr>
                        <a:t>CVC under IGR; publish and revise market value guidelines; constitute market valuation sub-committees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983480"/>
            <a:ext cx="11277295" cy="1325880"/>
          </a:xfrm>
          <a:prstGeom prst="rect">
            <a:avLst/>
          </a:prstGeom>
          <a:noFill/>
        </p:spPr>
        <p:txBody>
          <a:bodyPr wrap="square" lIns="3600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1">
                <a:solidFill>
                  <a:srgbClr val="1F6B7A"/>
                </a:solidFill>
                <a:latin typeface="Calibri"/>
              </a:rPr>
              <a:t>Related notifications / amendments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1">
                <a:solidFill>
                  <a:srgbClr val="1F6B7A"/>
                </a:solidFill>
                <a:latin typeface="Calibri"/>
              </a:rPr>
              <a:t>•  Act 8 of 2003  (w.e.f. 1-4-2003)  —  Substituted / strengthened Sec. 45-B CVC framework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1">
                <a:solidFill>
                  <a:srgbClr val="1F6B7A"/>
                </a:solidFill>
                <a:latin typeface="Calibri"/>
              </a:rPr>
              <a:t>•  CVC / IGR order &amp; DIGR notification (operational)  (Per revision cycle)  —  Triggers General Revision; DIGR issues notification for fixing guidance value; CVC gazette fixes effective 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Definitions and Glossary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  <a:latin typeface="Cambria"/>
              </a:rPr>
              <a:t>4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370846"/>
              </p:ext>
            </p:extLst>
          </p:nvPr>
        </p:nvGraphicFramePr>
        <p:xfrm>
          <a:off x="457200" y="1600200"/>
          <a:ext cx="11274552" cy="444000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Guidance / Guideline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Market value guideline rate published under Sec. 45-B for a territorial unit (village / road / survey / project / property class); used for </a:t>
                      </a:r>
                      <a:r>
                        <a:rPr sz="1050" b="0" i="0" dirty="0" smtClean="0">
                          <a:solidFill>
                            <a:srgbClr val="2B2B2B"/>
                          </a:solidFill>
                          <a:latin typeface="Calibri"/>
                        </a:rPr>
                        <a:t>stamp-duty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Central Valuation Committee as defined in Sec. 2(ac) and constituted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General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State-wide (or notified jurisdiction-wide) cycle to revise market value guidelines, triggered by IGR / CVC Chairman order.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Individual Project Fixation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Fixation of guidance value for a newly developed property / project on citizen or party application, accepted by DR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District / sub-district market valuation sub-committee constituted under Sec. 45-B (Tahsildar, SR, Secretary, ADLR, PWD AEE).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Effective date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Date fixed by CVC / gazette from which new guidance rates are adopted in Kaveri for calculation and display.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period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Fifteen (15) days notice period during which proposed revised guideline values are published for public objections / opinions.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PEOPLE &amp;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Stakeholders and Actors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dirty="0">
                <a:solidFill>
                  <a:srgbClr val="FFFFFF"/>
                </a:solidFill>
                <a:latin typeface="Cambria"/>
              </a:rPr>
              <a:t>5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IGR / Chairman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 dirty="0">
                <a:solidFill>
                  <a:srgbClr val="5B6B84"/>
                </a:solidFill>
                <a:latin typeface="Calibri"/>
              </a:rPr>
              <a:t>Triggers General Revision by order; approves final guidance value for individual projects; chairs CVC.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8323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84627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4627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DIGR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115" y="1709928"/>
            <a:ext cx="14398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1B2A4A"/>
                </a:solidFill>
                <a:latin typeface="Calibri"/>
              </a:rPr>
              <a:t>DIGR (Valuation</a:t>
            </a:r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)</a:t>
            </a:r>
            <a:r>
              <a:rPr lang="en-IN" sz="1050" b="1" i="0" dirty="0" smtClean="0">
                <a:solidFill>
                  <a:srgbClr val="1B2A4A"/>
                </a:solidFill>
                <a:latin typeface="Calibri"/>
              </a:rPr>
              <a:t> / Secretary CVC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02915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Issues notification for fixing guidance value; oversees district cascade; domain reviewer for this BRD.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9446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65750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5750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238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District Registrar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038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Forwards notification to SR; forwards proposals to CVC; accepts citizen request under Sec. 45-B; inspects &amp; proposes value.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0569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46873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6873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2361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Sub-Registrar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5161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Refers evidence data; proposes guidance value; presents to Sub-committee; publishes for public opinion.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1692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27996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7996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3484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Market Valuation Sub-committee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6284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Tahsildar, SR, Secretary, ADLR, PWD AEE and others; discusses and revises proposed values before/after public opinion.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2270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8574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574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CVC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4062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Central Valuation Committee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862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Discusses district proposals under General Revision; approves guidance value; fixes effective date.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73393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919697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19697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C/P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5185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Citizen / Party / Developer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37985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Applies for fixation of guidance value for a new property; submits objections during 15-day public opinion.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75405" y="4018788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221709" y="4146804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21709" y="41468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97197" y="4128516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Kaveri IT Cell / System Admin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997" y="4585716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Maintains Valuation Module; publishes approved rates from effective date; integrations (KSRSAC, RTC, etc.).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As-Is Pain Points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6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Evidence from the 31-08-2026 to 01-09-2026 discussion note and related ServiceDesk themes.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Rates missing in SR / Citizen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Published rates do not reliably surface after revision / entry.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5829" y="1865376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92133" y="19933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92133" y="2100777"/>
            <a:ext cx="38404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100" b="1" i="0" dirty="0" smtClean="0">
                <a:solidFill>
                  <a:srgbClr val="FFFFFF"/>
                </a:solidFill>
                <a:latin typeface="Cambria"/>
              </a:rPr>
              <a:t>2</a:t>
            </a:r>
            <a:endParaRPr sz="11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67621" y="1975104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Generic module failures /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0421" y="2432304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Valuation Module instability blocks registration fee path.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0350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471408"/>
            <a:ext cx="29545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smtClean="0">
                <a:solidFill>
                  <a:srgbClr val="1B2A4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1B2A4A"/>
                </a:solidFill>
                <a:latin typeface="Calibri"/>
              </a:rPr>
              <a:t>blank guideline value shown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3928608"/>
            <a:ext cx="3338576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masters incomplete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212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0842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0842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3912" y="347140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B2A4A"/>
                </a:solidFill>
                <a:latin typeface="Calibri"/>
              </a:rPr>
              <a:t>Wrong rural building rate applied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6712" y="392860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Rural vs TMC / CMC classification not aligned to CVC publication.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8181" y="1879642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4485" y="2007658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4485" y="20076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9973" y="1989370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Unit-level valuation fails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2773" y="2446570"/>
            <a:ext cx="3338576" cy="307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× unit (</a:t>
            </a:r>
            <a:r>
              <a:rPr sz="950" b="0" i="0" dirty="0" err="1">
                <a:solidFill>
                  <a:srgbClr val="5B6B84"/>
                </a:solidFill>
                <a:latin typeface="Calibri"/>
              </a:rPr>
              <a:t>gunta</a:t>
            </a:r>
            <a:r>
              <a:rPr sz="950" b="0" i="0" dirty="0">
                <a:solidFill>
                  <a:srgbClr val="5B6B84"/>
                </a:solidFill>
                <a:latin typeface="Calibri"/>
              </a:rPr>
              <a:t> / area) conversion not consistent with gazette methodology.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FUTURE STATE (TO-BE)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Two </a:t>
            </a:r>
            <a:r>
              <a:rPr lang="en-IN" sz="3000" b="1" i="0" dirty="0" smtClean="0">
                <a:solidFill>
                  <a:srgbClr val="1B2A4A"/>
                </a:solidFill>
                <a:latin typeface="Cambria"/>
              </a:rPr>
              <a:t>Guidance Value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Fixation 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Paths in </a:t>
            </a:r>
            <a:r>
              <a:rPr sz="3000" b="1" i="0" dirty="0" err="1">
                <a:solidFill>
                  <a:srgbClr val="1B2A4A"/>
                </a:solidFill>
                <a:latin typeface="Cambria"/>
              </a:rPr>
              <a:t>Kaveri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7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Kaveri 3.0 provides an end-to-end Valuation Module workbench. Approved rates are versioned, gazette-linked, and activated only from the notified effective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A — General Revision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State-wide (or notified jurisdiction) periodic revision triggered by the IGR as CVC Chairman: DIGR → DR → SR proposal → Sub-committee → 15-day public opinion → CVC approval → effective date → Kaveri adoption.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58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1088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088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37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B — Individual Project </a:t>
            </a:r>
            <a:r>
              <a:rPr sz="1400" b="1" i="0" dirty="0" smtClean="0">
                <a:solidFill>
                  <a:srgbClr val="1B2A4A"/>
                </a:solidFill>
                <a:latin typeface="Calibri"/>
              </a:rPr>
              <a:t>Fixation</a:t>
            </a:r>
            <a:endParaRPr sz="14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917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Citizen / party-initiated request for a newly developed property, accepted by the District Registrar under Sec. 45-B: DR inspection → Secretary CVC review → Chairman CVC (IGR) approval → Kaveri adoption.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8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IGR as CVC Chairman issues an order to revise guidance value for the entire State (or notified jurisdictions).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Officer Workbench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IGR · DIGR · DR · SR · SUB-COMMITTEE ·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Officer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IGR order → DIGR notification → DR forward → SR evidence &amp; proposal → Sub-committee discussion → publish for public opinion (15 days) → objection disposal → DR review → CVC approval → effective date →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adoption.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Evidence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Historical registration (transaction) data, KSRSAC GIS / maps, developer publications, RTC data,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khata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data, town planning inputs.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/ Public Portal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VIEW · OBJECT ·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/ public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View proposed revised guideline values published for the 15-day public opinion window; file objections against specific rate lines; track cycle status on the portal.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Public objections are routed to the Sub-committee for disposal; the citizen portal does not itself propose or approve rates.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Process Flow — General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Revision</a:t>
            </a:r>
            <a:endParaRPr sz="3000" b="1" i="0" dirty="0">
              <a:solidFill>
                <a:srgbClr val="1B2A4A"/>
              </a:solidFill>
              <a:latin typeface="Cambria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9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5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IGR order to revise guidance value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(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attach order PDF)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920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DIGR issues notification for fixing guidance value; notifies all DRs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DR forwards notification to SRs under the district (SR work-items created)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2111608"/>
            <a:ext cx="1586992" cy="3831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refers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evidence: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transaction data, KSRSAC GIS, developer publications, RTC,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khata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, town planning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2239336"/>
            <a:ext cx="1586992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proposes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818624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presents to Sub-committee; discussion, revision, minutes recorded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5925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5925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publishes proposed revised guideline value for 15-day public opinion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153920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73376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075432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5432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8240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Post-notice: Sub-committee revises only objected items; disposal notes saved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070096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289552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991608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91608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4416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forwards proposal to CVC through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DR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5986272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05728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907784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07784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0592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CVC discusses and approves the proposed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7902448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121904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823960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23960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76768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CVC fixes the effective date; gazette particulars captured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818624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03808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74013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74013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9294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New rates adopted in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Kaveri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 from the effective date (versioned, SR &amp; Citizen logins)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/ Cycle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0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Draft Order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 preparing / uploaded order not yet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Order Issued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Revision Cycle opened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Notification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 notification circulated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Assigned to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forwarded; SR work-item open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/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Proposal Draft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capturing evidence and proposed rates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 Review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First Sub-committee sitting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Open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15-day notice running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SR / Public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316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Objection Disposal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Post-notice Sub-committee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DR Forward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submitted; with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With Central Valuation 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approved rates; effective date set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Gazette Linked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Gazette particulars captured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/ Admin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93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93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Rates live from effective date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/ Clarification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Returned to prior stage with remarks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1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party / citizen applies for fixation of guidance value for a newly developed property / project. Legal gate: District Registrar accepts the request under Sec. 45-B.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Portal —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MODE: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339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Apply for fixation of guidance value for the newly developed property: application form, property particulars, project </a:t>
            </a:r>
            <a:r>
              <a:rPr sz="1050" b="0" i="0" dirty="0" smtClean="0">
                <a:solidFill>
                  <a:srgbClr val="5B6B84"/>
                </a:solidFill>
                <a:latin typeface="Calibri"/>
              </a:rPr>
              <a:t>documents; 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track status online.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DR accepts / returns for deficiency; spot inspection &amp; proposal; Secretary CVC review &amp;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finalisation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; IGR approval and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mbria"/>
              </a:rPr>
              <a:t>DR Office Desk — Offline / Assisted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 dirty="0">
                <a:solidFill>
                  <a:srgbClr val="C9A227"/>
                </a:solidFill>
                <a:latin typeface="Calibri"/>
              </a:rPr>
              <a:t>MODE: OFFLINE / ASSISTED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Application submitted at the DR office desk with assisted data entry where the citizen cannot use the portal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Same DR → Secretary CVC → IGR approval chain as the online channel; inspection report and evidence pack captured by DR staff.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Process Flow — Individual Project Fixation (6 Steps)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2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225032"/>
            <a:ext cx="1586992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dirty="0">
                <a:solidFill>
                  <a:srgbClr val="1B2A4A"/>
                </a:solidFill>
                <a:latin typeface="Calibri"/>
              </a:rPr>
              <a:t>Party / citizen applies for fixation of guidance value (application, property particulars, project </a:t>
            </a:r>
            <a:r>
              <a:rPr sz="950" b="0" i="0" dirty="0" smtClean="0">
                <a:solidFill>
                  <a:srgbClr val="1B2A4A"/>
                </a:solidFill>
                <a:latin typeface="Calibri"/>
              </a:rPr>
              <a:t>documents)</a:t>
            </a:r>
            <a:endParaRPr sz="95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153920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accepts the request under Sec. 45-B (or returns for deficiency with reasons)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conducts spot inspection and proposes the guidance value (inspection report + proposed rate + evidence)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Secretary CVC reviews the proposal using the evidence pack and finalises the guidance value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Finalised guidance value submitted to Chairman CVC (IGR) for approval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818624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IGR approves; rates published / linked to project or survey units and adopted in Kaveri per effective 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534640"/>
            <a:ext cx="11277600" cy="100584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653512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Key characteristics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927832"/>
            <a:ext cx="10820400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District Registrar is the acceptance authority under Sec. 45-B; Chairman CVC (IGR) is the final approval authority. If Secretary CVC returns the proposal, DR retains full history and the citizen sees status and deficiency list.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3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473000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application filed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Accepted by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accepted under Sec. 45-B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Inspection Scheduled / Done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Spot inspection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Proposed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 proposal with proposed value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Secretary CVC Review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Under review / finalisation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Secretary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IGR Approval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 to Chairman 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 approved final guidance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10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Rate available for calculation / display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for Deficiency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or DR must remedy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rejected with speaking order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/ 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7.III 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Highlights in Kaveri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501804"/>
            <a:ext cx="5029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 smtClean="0">
                <a:solidFill>
                  <a:srgbClr val="FFFFFF"/>
                </a:solidFill>
                <a:latin typeface="Cambria"/>
              </a:rPr>
              <a:t>1</a:t>
            </a:r>
            <a:r>
              <a:rPr lang="en-IN" sz="1500" b="1" i="0" dirty="0" smtClean="0">
                <a:solidFill>
                  <a:srgbClr val="FFFFFF"/>
                </a:solidFill>
                <a:latin typeface="Cambria"/>
              </a:rPr>
              <a:t>4</a:t>
            </a:r>
            <a:endParaRPr sz="15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Digitised General Revision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Order → notification → SR proposal → Sub-committee → 15-day public opinion → CVC → effective date → automatic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212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0842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842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391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Citizen-initiated Individual Project Fixation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671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DR acceptance under Sec. 45-B and Secretary CVC / IGR approval chain.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704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334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334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8832" y="170992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Structured evidence </a:t>
            </a:r>
            <a:r>
              <a:rPr lang="en-IN" sz="1200" b="1" dirty="0" smtClean="0">
                <a:solidFill>
                  <a:srgbClr val="1B2A4A"/>
                </a:solidFill>
                <a:latin typeface="Calibri"/>
              </a:rPr>
              <a:t>for revision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3163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Transaction data, KSRSAC GIS, developer publications, RTC, khata, town planning attached to every proposal.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50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Versioned rate masters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No silent overwrite; SR and Citizen logins always read the effective-dated published version.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212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0842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842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391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Objection capture &amp; disposal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671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Sub-committee disposal limited to objected items after public notice.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0" y="1234440"/>
            <a:ext cx="731520" cy="73152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72200" y="1234440"/>
            <a:ext cx="731520" cy="73152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DCE6F2"/>
                </a:solidFill>
                <a:latin typeface="Calibri"/>
              </a:rPr>
              <a:t>Valuation Module (CVC) — BRD Walkthrough  ·  Kaveri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6747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DCE6F2"/>
                </a:solidFill>
                <a:latin typeface="Calibri"/>
              </a:rPr>
              <a:t>Author (BA): </a:t>
            </a:r>
            <a:r>
              <a:rPr sz="1200" b="0" i="0" dirty="0" err="1">
                <a:solidFill>
                  <a:srgbClr val="DCE6F2"/>
                </a:solidFill>
                <a:latin typeface="Calibri"/>
              </a:rPr>
              <a:t>Nandha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 Kumar     · </a:t>
            </a:r>
            <a:r>
              <a:rPr lang="en-IN" sz="1200" b="0" i="0" dirty="0" smtClean="0">
                <a:solidFill>
                  <a:srgbClr val="DCE6F2"/>
                </a:solidFill>
                <a:latin typeface="Calibri"/>
              </a:rPr>
              <a:t> Domain Expert</a:t>
            </a:r>
            <a:r>
              <a:rPr lang="en-IN" sz="1200" dirty="0" smtClean="0">
                <a:solidFill>
                  <a:srgbClr val="DCE6F2"/>
                </a:solidFill>
              </a:rPr>
              <a:t>: H P </a:t>
            </a:r>
            <a:r>
              <a:rPr lang="en-IN" sz="1200" dirty="0" err="1" smtClean="0">
                <a:solidFill>
                  <a:srgbClr val="DCE6F2"/>
                </a:solidFill>
              </a:rPr>
              <a:t>Prabhakar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 err="1" smtClean="0">
                <a:solidFill>
                  <a:srgbClr val="DCE6F2"/>
                </a:solidFill>
              </a:rPr>
              <a:t>Naik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>
                <a:solidFill>
                  <a:srgbClr val="DCE6F2"/>
                </a:solidFill>
              </a:rPr>
              <a:t>·</a:t>
            </a:r>
            <a:r>
              <a:rPr sz="1200" b="0" i="0" dirty="0" smtClean="0">
                <a:solidFill>
                  <a:srgbClr val="DCE6F2"/>
                </a:solidFill>
                <a:latin typeface="Calibri"/>
              </a:rPr>
              <a:t>    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Product Owner: M V Prashanth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DCE6F2"/>
                </a:solidFill>
                <a:latin typeface="Calibri"/>
              </a:rPr>
              <a:t>Document ID: BRD-K3-CVC-GVF-001  ·  Version 3  ·  19-09-2026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2145</Words>
  <Application>Microsoft Office PowerPoint</Application>
  <PresentationFormat>Widescreen</PresentationFormat>
  <Paragraphs>322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Administrator</cp:lastModifiedBy>
  <cp:revision>15</cp:revision>
  <dcterms:created xsi:type="dcterms:W3CDTF">2013-01-27T09:14:16Z</dcterms:created>
  <dcterms:modified xsi:type="dcterms:W3CDTF">2026-09-19T06:58:13Z</dcterms:modified>
  <cp:category/>
</cp:coreProperties>
</file>