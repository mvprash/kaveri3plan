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78" r:id="rId22"/>
    <p:sldId id="279" r:id="rId23"/>
    <p:sldId id="280" r:id="rId24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6     ·     Status: Draft     ·     Last updated 19-09-2026</a:t>
            </a:r>
            <a:r>
              <a:rPr lang="en-IN"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>
                <a:solidFill>
                  <a:srgbClr val="DCE6F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7427"/>
              </p:ext>
            </p:extLst>
          </p:nvPr>
        </p:nvGraphicFramePr>
        <p:xfrm>
          <a:off x="457200" y="3822191"/>
          <a:ext cx="10725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83480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/ IGR order &amp; DIGR notification (operational)  (Per revision cycle)  —  Triggers General Revision; DIGR issues notification for fixing guidance value; CVC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Central Valuation Committee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Central Valuation Committee for Estimation, Publication and Revision of Market Value Guidelines of Properties) Rules, 2003 — Rule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CHAIRMAN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Commissioner of 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DIGR (Intelligence)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Total members ≤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3154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25496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— one representative from each of the 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(i) Directorate of Town Planning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(ii) Directorate of Survey and Settlement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(iii) Bangalore City Corporation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(iv) Bangalore Development Authority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(v) Income-tax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(vi) Karnataka Public Works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(vii) Karnataka Irrigation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(viii) Registration and Stamps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(ix) Institute of Chartered Valuers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(x) Federation of Karnataka Chamber of Commerce and Industries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(xi) Any other person having expertise in the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F6B7A"/>
                </a:solidFill>
                <a:latin typeface="Calibri"/>
              </a:rPr>
              <a:t>Non-official members: term of two years, subject to the pleasure of the Government.  Member Secretary (DIGR–Intelligence) handles day-to-day administration, correspondence, and compilation / publication of market value guidelines.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mbria"/>
              </a:rPr>
              <a:t>Market Valuation Sub-Committees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C.V.C. etc.) Rules, 2003 — Rule 4  ·  Constituted by CVC for each sub-district and district for estimation &amp; revision of market value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HEAD (SUB-DISTRICT)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Tahsildar of the concerned taluk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Sub-Registrar of the sub-district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Office of the Sub-Registrar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drawn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Revenue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Survey and Settlement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Public Works Department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Municipal Councils or Town Panchayaths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51760"/>
            <a:ext cx="5559552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7797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Administrative &amp; supervisory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546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Administrative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558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Registrar of the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2160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Supervisory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9227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Central Valuation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28853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District Sub-Committees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4897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Function under the Registrar of the district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1F6B7A"/>
                </a:solidFill>
                <a:latin typeface="Calibri"/>
              </a:rPr>
              <a:t>Sub-Registrar (Member Secretary) looks after administration of the Sub-Committees, correspondence, and compilation of market-value data as per Sub-Committee resolutions.  CVC office (Rule 3): Office of the Inspector General of Registration and Commissioner of Stamps, or such other place as the Committee decides.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11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12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13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14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15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16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17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6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mbria"/>
              </a:rPr>
              <a:t>Guidelines for Estimating Guidance Value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9184"/>
            <a:ext cx="475488" cy="47548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918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11365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C.V.C. etc.) Rules, 2003 — Rule 6.  Each Market Valuation Sub-Committee prepares average-rate statements for agricultural / non-agricultural lands and residential, commercial &amp; industrial sites.  These factors are also the evidence basis when proposing a new guidance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81328"/>
            <a:ext cx="2745486" cy="3246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572768"/>
            <a:ext cx="24894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Lands — R.6(1)(a)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847088"/>
            <a:ext cx="248945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Dry / garden / wet classification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Soil class in survey records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Other valuation influencers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Value of adjacent / vicinity lands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Crop nature &amp; 5-year avg. yield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Nearness to road &amp; market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Distance from village; location; level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Transport &amp; irrigation (tank / well / pumpset)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4982" y="1481328"/>
            <a:ext cx="2745486" cy="3246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2998" y="1572768"/>
            <a:ext cx="24894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House sites — R.6(1)(b)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998" y="1847088"/>
            <a:ext cx="248945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General locality site values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Proximity to road / rail / bus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Proximity to market &amp; shops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Offices, hospitals, schools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Development / industrial activity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Land tax &amp; local body valuation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Other material features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Special: bore-well, lawn, garden,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4" y="1481328"/>
            <a:ext cx="2745486" cy="3246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1572768"/>
            <a:ext cx="24894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Other properties — R.6(1)(c)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1847088"/>
            <a:ext cx="248945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 Nature &amp; condition of property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 Purpose for which used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•  Any other special valuation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1986" y="1481328"/>
            <a:ext cx="2745486" cy="3246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0002" y="1572768"/>
            <a:ext cx="24894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Rate suggestions — R.6(2)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0002" y="1847088"/>
            <a:ext cx="248945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Non-agri / industrial: multiple of agri rate (village) or per sq.ft (town/city)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Agricultural: dry / wet / garden; consider proximity to village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Plantations (coconut / areca): treat as garden lands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Buildings: PWD construction norms for the area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Electricity, water, drainage = part of construction cost (not ‘special’)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46320"/>
            <a:ext cx="11365992" cy="1325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37760"/>
            <a:ext cx="11000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Evidence for proposing new guidance value  ·  BRD linkage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30368"/>
            <a:ext cx="11000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1F6B7A"/>
                </a:solidFill>
                <a:latin typeface="Calibri"/>
              </a:rPr>
              <a:t>Rule 6 factors form the statutory checklist for Sub-Committee rate statements and for evidence packs attached to General Revision / Individual Project fixation proposals (BRD 7.ii.d / 7.iii.c).  Registrar verifies Sub-Committee statements; discrepancies are remitted for rectification (resubmit within 15 days); examined booklets / soft copies reach the Secretary, CVC in the first week of January of the next calendar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2145</Words>
  <Application>Microsoft Office PowerPoint</Application>
  <PresentationFormat>Widescreen</PresentationFormat>
  <Paragraphs>322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15</cp:revision>
  <dcterms:created xsi:type="dcterms:W3CDTF">2013-01-27T09:14:16Z</dcterms:created>
  <dcterms:modified xsi:type="dcterms:W3CDTF">2026-09-19T06:58:13Z</dcterms:modified>
  <cp:category/>
</cp:coreProperties>
</file>