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7484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754880" cy="475488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846320"/>
            <a:ext cx="4023360" cy="402336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4" name="Shape 2"/>
          <p:cNvSpPr/>
          <p:nvPr/>
        </p:nvSpPr>
        <p:spPr>
          <a:xfrm>
            <a:off x="5074920" y="960120"/>
            <a:ext cx="868680" cy="868680"/>
          </a:xfrm>
          <a:prstGeom prst="ellipse">
            <a:avLst/>
          </a:prstGeom>
          <a:ln w="3175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960120"/>
            <a:ext cx="868680" cy="868680"/>
          </a:xfrm>
          <a:prstGeom prst="ellipse">
            <a:avLst/>
          </a:prstGeom>
          <a:ln w="31750">
            <a:solidFill>
              <a:srgbClr val="E4C7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KAVERI 3.0  ·  DEPARTMENT OF STAMPS AND REGISTRATION, GOVERNMENT OF KARNATAKA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Marriage Registration Module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 Document — Executive Walkthrough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 · Special Marriage (Intended / Other Forms) · Parsi Marriage · Null &amp; Void Endorsement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ID: BRD-K3-MRG-001</a:t>
            </a:r>
            <a:r>
              <a:rPr lang="en-US" sz="1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3</a:t>
            </a:r>
            <a:r>
              <a:rPr lang="en-US" sz="1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Draft / In Review</a:t>
            </a:r>
            <a:r>
              <a:rPr lang="en-US" sz="1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</a:t>
            </a: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updated 03-09-2026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Are, Where We're Going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408676" cy="3108960"/>
          </a:xfrm>
          <a:prstGeom prst="roundRect">
            <a:avLst>
              <a:gd name="adj" fmla="val 2353"/>
            </a:avLst>
          </a:prstGeom>
          <a:solidFill>
            <a:srgbClr val="EEF2F8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10512"/>
            <a:ext cx="420624" cy="42062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82880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assessment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423160"/>
            <a:ext cx="48966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review of the existing Hindu Marriage registration process, Special Marriage (Intended / Other Forms) notice and registration processes, and Parsi Marriage registration — across both online and offline channels — surfaces key operational, procedural and user-experience challenges affecting applicants and Sub-Registrar offices alike.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23076" y="1554480"/>
            <a:ext cx="5408676" cy="3108960"/>
          </a:xfrm>
          <a:prstGeom prst="roundRect">
            <a:avLst>
              <a:gd name="adj" fmla="val 2353"/>
            </a:avLst>
          </a:prstGeom>
          <a:solidFill>
            <a:srgbClr val="1B2A4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79108" y="1810512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79108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46036" y="182880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direction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79108" y="2423160"/>
            <a:ext cx="48966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enhanced future-state workflow improves accessibility, efficiency, transparency and service delivery. Functional and non-functional requirements, supporting data requirements, and a full traceability matrix align business objectives, requirements and solution deliverables — streamlining services, reducing manual effort and enhancing compliance.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983480"/>
            <a:ext cx="26128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550408"/>
            <a:ext cx="2612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Acts covered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344418" y="4983480"/>
            <a:ext cx="26128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3344418" y="5550408"/>
            <a:ext cx="2612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in scope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31636" y="4983480"/>
            <a:ext cx="26128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6231636" y="5550408"/>
            <a:ext cx="2612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pain points closed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4983480"/>
            <a:ext cx="26128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5550408"/>
            <a:ext cx="2612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— Online &amp; Offline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3504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across Online and Offline channels.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2988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9292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9292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54780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Intended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97580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generation (Online &amp; Offline), objection period, solemnization and registration.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08776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55080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30568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Other Forms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73368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generation (Online &amp; Offline), objection handling and registration.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84564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30868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0868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706356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49156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across Online and Offline channels.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3504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8992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&amp; SRO workflows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21792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pay fee, scrutiny, approve / reject, register, and issue certificate.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32988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9292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79292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54780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&amp; Void endorsement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3497580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Endorsement of a registered marriage on receipt of a court order.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08776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55080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55080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373368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Payment, Aadhaar / e-KYC, DigiLocker, SMS, e-Mail, Kutumba, Civil Registration System, Labor Department, Sakala.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084564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30868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230868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UX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706356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249156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UI (English + Kannada); audit trail, role-based access, and MIS / reporting.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Applicable Acts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Department for Marriage Registration (through Sub-Registrars / Marriage Officers) administers the following Central Acts and Karnataka Rules.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500116" cy="2125980"/>
          </a:xfrm>
          <a:prstGeom prst="roundRect">
            <a:avLst>
              <a:gd name="adj" fmla="val 3011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3504" y="200253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984248"/>
            <a:ext cx="47503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Hindu Marriage Act, 1955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41448"/>
            <a:ext cx="5189220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Hindu marriages (Sec. 8); conditions for marriage (Sec. 5); ceremonies (Sec. 7).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1874520"/>
            <a:ext cx="5500116" cy="2125980"/>
          </a:xfrm>
          <a:prstGeom prst="roundRect">
            <a:avLst>
              <a:gd name="adj" fmla="val 3011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77940" y="200253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7794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3428" y="1984248"/>
            <a:ext cx="47503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Marriage Act, 1954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96228" y="2441448"/>
            <a:ext cx="5189220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Solemnization of special marriages (Chapter II); registration of marriages celebrated in other forms (Chapter III).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274820"/>
            <a:ext cx="5500116" cy="2125980"/>
          </a:xfrm>
          <a:prstGeom prst="roundRect">
            <a:avLst>
              <a:gd name="adj" fmla="val 3011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" y="440283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3504" y="4402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PMDA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4384548"/>
            <a:ext cx="47503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Parsi Marriage and Divorce Act, 1936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4841748"/>
            <a:ext cx="5189220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between Parsis solemnized per Parsi rites — the ‘Ashirvad’ ceremony (Sec. 3); certificate &amp; registry (Sec. 6); Registrar appointment (Sec. 7); public inspection (Sec. 8).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31636" y="4274820"/>
            <a:ext cx="5500116" cy="2125980"/>
          </a:xfrm>
          <a:prstGeom prst="roundRect">
            <a:avLst>
              <a:gd name="adj" fmla="val 3011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77940" y="440283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77940" y="4402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KGoS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53428" y="4384548"/>
            <a:ext cx="47503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Guarantee of Services to Citizens Act, 2011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396228" y="4841748"/>
            <a:ext cx="5189220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 guarantee of citizen services; GSC acknowledgement; online status monitoring; appeals &amp; compensatory cost (Secs. 3–13); amended 2012 &amp; 2014.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Hindu Marriage Act, 1955 — Key Sections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49377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2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 relevance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— Hindus (incl. Virashaiva, Lingayat, Brahmo/Prarthana/Arya Samaj), Buddhists, Jainas, Sikhs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Sapinda relationship and degrees of prohibited relationship — validation rules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Conditions for a Hindu marriage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(bridegroom ≥ 21, bride ≥ 18); no living spouse; consent; prohibited degrees / sapinda unless custom permits — Form IA declarations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Ceremonies for a Hindu marriage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Customary rites and ceremonies; Saptapadi — solemnization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of Hindu marriages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rules power; register open for inspection; certified extracts; validity not affected by omission to register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11–12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/ voidable marriages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 nullity endorsement — SR flags registered marriage Null and Void on receipt of court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17 / 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Bigamy &amp; other Sec. 5 breaches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Statutory penalty messaging shown to parties at submission (displayed in red)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Marriage Act, 1954 — Key Sections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49377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 relevance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4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Conditions relating to solemnization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/ prerequisite checks before notice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5 / 6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 of intended marriage &amp; Marriage Notice Book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Generate, capture, publish notice on portal / notice board; ≥ 30 days residence of at least one party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7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Objection to marriage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30-day countdown from publication; accept and record objections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8–9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Procedure / enquiry on objection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 enquiry; summon parties; uphold or reject objection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11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Declarations (Third Schedule)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Declarations before solemnization; three witnesses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12–13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Solemnization &amp; certificate (Fourth Schedule)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solemnization; certificate issuance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14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notice if not solemnized within 3 months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registration outside validity; requires fresh notice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15–16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— Other Forms (Fifth Schedule)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Ceremony performed; parties living together; ages; residence ≥ 30 days; public notice; 30-day objections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47–48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Marriage Certificate Book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Inspection; certified extracts; quarterly transmission to Registrar-General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Parsi Marriage and Divorce Act, 1936 — Key Sections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49377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59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 relevance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3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Requisites to validity of Parsi marriages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Prohibited degrees (Schedule I); solemnization per the ‘Ashirvad’ ceremony by a priest before two witnesses; age (bridegroom ≥ 21, bride ≥ 18)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4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Remarriage when unlawful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remarriage during the lifetime of a spouse without lawful divorce, annulment or dissolution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6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 and registry of marriage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Priest certifies in Schedule II immediately on solemnization, signed by priest, both parties and two witnesses; sent with fee to the Registrar; entered in the marriage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7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 of Registrar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appointed by the Chief Justice / State Government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8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open for public inspection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Certified extracts on payment of fee; register is evidence of statements it contains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9 / 10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to Registrar-General / registration of divorces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Periodic back-office transmission; court sends decree for entry in a separate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17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irregularity not to invalidate marriage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defective, irregular or unsent certificate does not invalidate the marriage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SUBORDINATE LEGISLATION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Karnataka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under HMA 1955 Sec. 8, SMA 1954 Sec. 50, and the Parsi Marriage and Divorce Act 1936 Sec. 9.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3575304" cy="461772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3504" y="191109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89280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Hindu Marriage (Karnataka) Rules, 1966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350008"/>
            <a:ext cx="3264408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 (memorandum) + Form IA in duplicate, signed by 3 witnesses; Form II endorsement; Form II-A certificate issued immediately; Rule 6A power to remedy defects / forward / refuse with written order; monthly Form III to Registrar-General.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6824" y="1783080"/>
            <a:ext cx="3575304" cy="461772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53128" y="191109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53128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928616" y="189280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(Karnataka) Rules, 1961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471416" y="2350008"/>
            <a:ext cx="3264408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Schedule notice with serial no. &amp; Marriage Notice Book entry; objection enquiry (Forms I &amp; II, 30-day window); Form III for Other Forms registration; fee schedule (Rule 10); Marriage Certificate Book (Rule 9).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56448" y="1783080"/>
            <a:ext cx="3575304" cy="461772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02752" y="191109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2752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189280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Marriages and Divorce (Karnataka) Rules, 1961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2350008"/>
            <a:ext cx="3264408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to the whole State of Karnataka; defines ‘Act’ and ‘Form’; Registrars send certified copies of marriage-certificate-book entries to the Registrar-General quarterly (1 Jan / 1 Apr / 1 Jul / 1 Oct), or a nil certificate.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Notifications &amp; Amendments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493775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9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/ No.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S.O. 4896 / HD 6 CIM 61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Jul 1966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Appoints all Sub-Registrars as Registrars of Hindu Marriages for their jurisdictions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of Hindu Marriages (Karnataka) (Amendment) Rules, 1999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w.e.f. 8 Jun 2000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Priest / witness definitions; Form IA; three-witness signing; Form II-A immediate certificate; scrutiny / refusal order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RD/48/MNMU/2023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Gazette 06-Feb-2024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Amends Rule 4: inserts ‘or electronically’ (filing), ‘or stored electronically’ (endorsement / certificate) — enables the Online channel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Marriage (Karnataka) Rules, 1961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HD 13MCIM 59(1), 2 May 1961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notification making the Karnataka Special Marriage Rules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No. HD 6 PIM 67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1967 (Govt. of Mysore)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Appoints all District Registrars (Sub-Registrars) as Registrars for the Parsi Marriage and Divorce Act, 1936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539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koE/65/mnmu/2021 &amp; MME 109 MABHAB 2017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/ 2018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Age-proof (birth / school / medical certificate — Aadhaar not valid) and address-proof document circulars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REGULATORY REFERENCE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Statutory Forms Mapping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575304" cy="493776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2763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09344"/>
            <a:ext cx="2752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24028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48716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Memorandum of marriage (duplicate)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10896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IA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35584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for filing of memorandum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397764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II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22452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Endorsement on reverse — SR signature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84632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II-A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09320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of registration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571500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III / IV / V / VI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96188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batch, indices, fee receipt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06824" y="1463040"/>
            <a:ext cx="3575304" cy="493776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89704" y="162763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89704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965192" y="1609344"/>
            <a:ext cx="2752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507992" y="224028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Schedule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07992" y="248716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of intended marriage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07992" y="310896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Schedule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335584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Declarations — parties &amp; witnesses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07992" y="397764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 Schedule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07992" y="422452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— Chapter II (Intended)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07992" y="484632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5th Schedule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507992" y="509320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— Chapter III (Other Forms)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07992" y="571500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I–IV (KR)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507992" y="596188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enquiry, Other Forms, transmission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156448" y="1463040"/>
            <a:ext cx="3575304" cy="4937760"/>
          </a:xfrm>
          <a:prstGeom prst="roundRect">
            <a:avLst>
              <a:gd name="adj" fmla="val 1790"/>
            </a:avLst>
          </a:prstGeom>
          <a:solidFill>
            <a:srgbClr val="EEF2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339328" y="162763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3393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814816" y="1609344"/>
            <a:ext cx="2752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8357616" y="2240280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II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357616" y="2487168"/>
            <a:ext cx="3172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of marriage — priest-issued immediately on solemnization; basis for the Registrar's entry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GUARANTEE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Sakala — Karnataka Guarantee of Services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services offered through the Department of Stamps and Registration are notified Sakala services. Every eligible application receives a Guarantee of Services to Citizen (GSC) number so citizens can track status, receive time-bound service and file appeals (Appeal-I / Appeal-II) when service is delayed or rejected.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31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NOTIFIED MARRIAGE-RELATED SAKALA SERVICES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3575304" cy="1691640"/>
          </a:xfrm>
          <a:prstGeom prst="roundRect">
            <a:avLst>
              <a:gd name="adj" fmla="val 3784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" y="2779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276148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 registration (online filing)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218688"/>
            <a:ext cx="326440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GSC issued on successful fee payment; statutory timeline commences from payment date (~1 working day for certificate delivery, per department practice).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06824" y="2651760"/>
            <a:ext cx="3575304" cy="1691640"/>
          </a:xfrm>
          <a:prstGeom prst="roundRect">
            <a:avLst>
              <a:gd name="adj" fmla="val 3784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53128" y="2779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53128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28616" y="276148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Intended Marriage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3218688"/>
            <a:ext cx="326440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generation and registration tracked end-to-end under Sakala timelines.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56448" y="2651760"/>
            <a:ext cx="3575304" cy="1691640"/>
          </a:xfrm>
          <a:prstGeom prst="roundRect">
            <a:avLst>
              <a:gd name="adj" fmla="val 3784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02752" y="2779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275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61488"/>
            <a:ext cx="2825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Other Forms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218688"/>
            <a:ext cx="326440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generation and registration tracked end-to-end under Sakala timelines.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GSC LIFECYCLE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5074920"/>
            <a:ext cx="2064715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43254" y="49286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343254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5129784"/>
            <a:ext cx="1954987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accepted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31059" y="543610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1" name="Shape 29"/>
          <p:cNvSpPr/>
          <p:nvPr/>
        </p:nvSpPr>
        <p:spPr>
          <a:xfrm>
            <a:off x="2759659" y="5074920"/>
            <a:ext cx="2064715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45713" y="49286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645713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14523" y="5129784"/>
            <a:ext cx="1954987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GSC issued on payment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33518" y="543610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6" name="Shape 34"/>
          <p:cNvSpPr/>
          <p:nvPr/>
        </p:nvSpPr>
        <p:spPr>
          <a:xfrm>
            <a:off x="5062118" y="5074920"/>
            <a:ext cx="2064715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8172" y="49286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81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116982" y="5129784"/>
            <a:ext cx="1954987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(status sync)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135978" y="543610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1" name="Shape 39"/>
          <p:cNvSpPr/>
          <p:nvPr/>
        </p:nvSpPr>
        <p:spPr>
          <a:xfrm>
            <a:off x="7364578" y="5074920"/>
            <a:ext cx="2064715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50631" y="49286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250631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419442" y="5129784"/>
            <a:ext cx="1954987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/ certificate issued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438437" y="543610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6" name="Shape 44"/>
          <p:cNvSpPr/>
          <p:nvPr/>
        </p:nvSpPr>
        <p:spPr>
          <a:xfrm>
            <a:off x="9667037" y="5074920"/>
            <a:ext cx="2064715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53090" y="49286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553090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9721901" y="5129784"/>
            <a:ext cx="1954987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I / II if delayed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Kaveri 3.0 integrates with the Sakala platform per NIC / Sakala Mission approved web methods for GSC registration, status updates, party-detail upload and orphan-settle retry.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SYSTEMS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 and Actors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3504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B/G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Bride / Bridegroom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declarations, provide documents. Online: eSign; Offline: physical signature on printed forms.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2988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9292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9292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W×3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54780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(×3)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97580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address, signature on memorandum. Online: eSign / e-KYC / Face Auth [TBD]; Offline: physical signature.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08776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55080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30568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Registrar / Sub-Registrar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73368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register, digital signature, refuse with order. Offline has two verification stages.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84564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30868" y="16367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0868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706356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Operator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49156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signatures on printed forms and uploads to the portal — Offline only.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3504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8992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Payment Gateway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21792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e-Payment and reconciliation; triggered after first SR approval (both channels).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32988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9292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79292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54780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eSign / DSC Service Provider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3497580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eSign (Online); SR digital signature (both channels).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08776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55080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55080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373368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sign-off on rules and forms in review workshops.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084564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30868" y="421995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230868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706356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Sakala (Karnataka GoS)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249156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GSC on acceptance / payment; tracks statutory timelines; citizen tracking and appeals.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As-Is Pain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15544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evidenced from Kaveri 2.0 workshops, ServiceDesk tickets and department discussions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587496" cy="1860804"/>
          </a:xfrm>
          <a:prstGeom prst="roundRect">
            <a:avLst>
              <a:gd name="adj" fmla="val 344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" y="25511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35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2532888"/>
            <a:ext cx="283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&amp; navigation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990088"/>
            <a:ext cx="3276600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mobile-friendly; Edit doesn't return to correct step; stuck on summary page (~41 tickets).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00728" y="2423160"/>
            <a:ext cx="3587496" cy="1860804"/>
          </a:xfrm>
          <a:prstGeom prst="roundRect">
            <a:avLst>
              <a:gd name="adj" fmla="val 344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47032" y="25511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47032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22520" y="2532888"/>
            <a:ext cx="283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accuracy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465320" y="2990088"/>
            <a:ext cx="3276600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address on certificate; DOB/party details not reflecting; place of marriage missing; signatures missing on certificate.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44256" y="2423160"/>
            <a:ext cx="3587496" cy="1860804"/>
          </a:xfrm>
          <a:prstGeom prst="roundRect">
            <a:avLst>
              <a:gd name="adj" fmla="val 344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90560" y="255117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905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766048" y="2532888"/>
            <a:ext cx="283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&amp; workflow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308848" y="2990088"/>
            <a:ext cx="3276600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area selection; missing Save for Witness 3; no FIFO priority; notice workflow state errors; notice no./date not displaying.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539996"/>
            <a:ext cx="3587496" cy="1860804"/>
          </a:xfrm>
          <a:prstGeom prst="roundRect">
            <a:avLst>
              <a:gd name="adj" fmla="val 344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" y="46680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" y="4668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649724"/>
            <a:ext cx="283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payments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5106924"/>
            <a:ext cx="3276600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upload rules; password-protected uploads mishandled; blank challan / verify-challan loop (~38 tickets).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00728" y="4539996"/>
            <a:ext cx="3587496" cy="1860804"/>
          </a:xfrm>
          <a:prstGeom prst="roundRect">
            <a:avLst>
              <a:gd name="adj" fmla="val 3440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47032" y="46680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47032" y="4668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922520" y="4649724"/>
            <a:ext cx="283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visibility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465320" y="5106924"/>
            <a:ext cx="3276600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not visible during scrutiny; no edit before payment; no dashboard visibility; wrong DEO allocation (~66 tickets); no cross-reference search.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STATE (TO-BE)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 in the To-Be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documents its channel models, process diagram (common intake, Online and/or Offline flows) and application status model. Notice is initiated on the citizen portal; registration completes In Person at the Sub-Registrar office.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962302" cy="3291840"/>
          </a:xfrm>
          <a:prstGeom prst="roundRect">
            <a:avLst>
              <a:gd name="adj" fmla="val 3262"/>
            </a:avLst>
          </a:prstGeom>
          <a:solidFill>
            <a:srgbClr val="1B2A4A"/>
          </a:solidFill>
          <a:ln/>
        </p:spPr>
      </p:sp>
      <p:sp>
        <p:nvSpPr>
          <p:cNvPr id="10" name="Shape 8"/>
          <p:cNvSpPr/>
          <p:nvPr/>
        </p:nvSpPr>
        <p:spPr>
          <a:xfrm>
            <a:off x="1182319" y="24048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2319" y="2404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7.i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63240"/>
            <a:ext cx="16879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931920"/>
            <a:ext cx="16331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&amp; Offline registration, single combined workflow.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46934" y="3703320"/>
            <a:ext cx="310896" cy="182880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2785262" y="2148840"/>
            <a:ext cx="1962302" cy="3291840"/>
          </a:xfrm>
          <a:prstGeom prst="roundRect">
            <a:avLst>
              <a:gd name="adj" fmla="val 3262"/>
            </a:avLst>
          </a:prstGeom>
          <a:solidFill>
            <a:srgbClr val="EEF2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510382" y="24048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10382" y="2404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7.ii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22422" y="3063240"/>
            <a:ext cx="16879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Notice Generation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949854" y="3931920"/>
            <a:ext cx="16331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Marriage &amp; Other Forms share one notice workflow.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74997" y="3703320"/>
            <a:ext cx="310896" cy="182880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5113325" y="2148840"/>
            <a:ext cx="1962302" cy="3291840"/>
          </a:xfrm>
          <a:prstGeom prst="roundRect">
            <a:avLst>
              <a:gd name="adj" fmla="val 3262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5838444" y="24048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38444" y="2404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7.iii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0485" y="3063240"/>
            <a:ext cx="16879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— Registration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77917" y="3931920"/>
            <a:ext cx="16331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Solemnization (Intended) or Chapter III registration (Other Forms).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03059" y="3703320"/>
            <a:ext cx="310896" cy="182880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7" name="Shape 25"/>
          <p:cNvSpPr/>
          <p:nvPr/>
        </p:nvSpPr>
        <p:spPr>
          <a:xfrm>
            <a:off x="7441387" y="2148840"/>
            <a:ext cx="1962302" cy="3291840"/>
          </a:xfrm>
          <a:prstGeom prst="roundRect">
            <a:avLst>
              <a:gd name="adj" fmla="val 3262"/>
            </a:avLst>
          </a:prstGeom>
          <a:solidFill>
            <a:srgbClr val="EEF2F8"/>
          </a:solidFill>
          <a:ln/>
        </p:spPr>
      </p:sp>
      <p:sp>
        <p:nvSpPr>
          <p:cNvPr id="28" name="Shape 26"/>
          <p:cNvSpPr/>
          <p:nvPr/>
        </p:nvSpPr>
        <p:spPr>
          <a:xfrm>
            <a:off x="8166506" y="24048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66506" y="2404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7.iv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578547" y="3063240"/>
            <a:ext cx="16879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605979" y="3931920"/>
            <a:ext cx="16331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 Kaveri 3.0 — Online &amp; Offline registration.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31122" y="3703320"/>
            <a:ext cx="310896" cy="182880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3" name="Shape 31"/>
          <p:cNvSpPr/>
          <p:nvPr/>
        </p:nvSpPr>
        <p:spPr>
          <a:xfrm>
            <a:off x="9769450" y="2148840"/>
            <a:ext cx="1962302" cy="3291840"/>
          </a:xfrm>
          <a:prstGeom prst="roundRect">
            <a:avLst>
              <a:gd name="adj" fmla="val 3262"/>
            </a:avLst>
          </a:prstGeom>
          <a:solidFill>
            <a:srgbClr val="1B2A4A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94569" y="24048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494569" y="2404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7.v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906610" y="3063240"/>
            <a:ext cx="16879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&amp; Void Endorsement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934042" y="3931920"/>
            <a:ext cx="16331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workflow on certified court order.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 HINDU MARRIAGE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Models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is selected before prerequisites and drives subsequent screens, payment timing and office tasks.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5454396" cy="4480560"/>
          </a:xfrm>
          <a:prstGeom prst="roundRect">
            <a:avLst>
              <a:gd name="adj" fmla="val 1633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30552"/>
            <a:ext cx="4905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 — Online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603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ONLINE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0175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/ Online activities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337560"/>
            <a:ext cx="49057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e-KYC / Face Authentication (Bride), eSign, Payment (post-approval), Tracking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48056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activities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800600"/>
            <a:ext cx="49057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DSC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7356" y="1874520"/>
            <a:ext cx="5454396" cy="4480560"/>
          </a:xfrm>
          <a:prstGeom prst="roundRect">
            <a:avLst>
              <a:gd name="adj" fmla="val 1633"/>
            </a:avLst>
          </a:prstGeom>
          <a:solidFill>
            <a:srgbClr val="EEF2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51676" y="2130552"/>
            <a:ext cx="49057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Marriage — Offline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25603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OFFLINE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51676" y="30175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/ Online activities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51676" y="3337560"/>
            <a:ext cx="49057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Payment, Appointment Booking, Printout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48056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activities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51676" y="4800600"/>
            <a:ext cx="49057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Stage 1, SR → DEO allocation, Form upload, SR Stage 2, DSC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7.I.B.B PROCESS DIAGRAM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Hindu Marriage — Online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533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intake: LogOn → Start Application → Select Hindu Marriage Online → Prerequisite &amp; Declaration → Capture Marriage / Bride / Bridegroom / Witness details.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064715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43254" y="181965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43254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2020824"/>
            <a:ext cx="1954987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e-KYC / Face Auth on Bride details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31059" y="24185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4" name="Shape 12"/>
          <p:cNvSpPr/>
          <p:nvPr/>
        </p:nvSpPr>
        <p:spPr>
          <a:xfrm>
            <a:off x="2759659" y="1965960"/>
            <a:ext cx="2064715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5713" y="181965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45713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814523" y="2020824"/>
            <a:ext cx="1954987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SR office &amp; review summary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33518" y="24185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5062118" y="1965960"/>
            <a:ext cx="2064715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8172" y="181965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8172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116982" y="2020824"/>
            <a:ext cx="1954987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Form I &amp; Form IA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35978" y="24185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4" name="Shape 22"/>
          <p:cNvSpPr/>
          <p:nvPr/>
        </p:nvSpPr>
        <p:spPr>
          <a:xfrm>
            <a:off x="7364578" y="1965960"/>
            <a:ext cx="2064715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50631" y="181965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50631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19442" y="2020824"/>
            <a:ext cx="1954987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eSign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438437" y="24185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9" name="Shape 27"/>
          <p:cNvSpPr/>
          <p:nvPr/>
        </p:nvSpPr>
        <p:spPr>
          <a:xfrm>
            <a:off x="9667037" y="1965960"/>
            <a:ext cx="2064715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53090" y="181965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55309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721901" y="2020824"/>
            <a:ext cx="1954987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 (Approve / Reject)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127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returns to Marriage / Bride / Bridegroom / Witness details for correction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70332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31061" y="355701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31061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12064" y="375818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(post-approval)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106674" y="41559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335274" y="370332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09135" y="355701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509135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390138" y="375818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digitally signs (DSC)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84748" y="41559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4" name="Shape 42"/>
          <p:cNvSpPr/>
          <p:nvPr/>
        </p:nvSpPr>
        <p:spPr>
          <a:xfrm>
            <a:off x="6213348" y="370332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87209" y="355701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387209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268212" y="375818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II endorsement applied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862822" y="41559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9" name="Shape 47"/>
          <p:cNvSpPr/>
          <p:nvPr/>
        </p:nvSpPr>
        <p:spPr>
          <a:xfrm>
            <a:off x="9091422" y="370332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265283" y="355701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265283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46286" y="375818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II-A certificate generated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07492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58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85800" y="5468112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digital signature chain; single SR verification; payment only after SR approval; no printout, no appointment, no DEO involved.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7.I.B.C PROCESS DIAGRAM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Hindu Marriage — Offline (In Person)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1382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51382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Aadhaar? Y: e-KYC / Face Auth · N: manual entry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47316" y="20528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2375916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70098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70098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430780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 — Stage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6032" y="20528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8" name="Shape 16"/>
          <p:cNvSpPr/>
          <p:nvPr/>
        </p:nvSpPr>
        <p:spPr>
          <a:xfrm>
            <a:off x="4294632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88814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8814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349496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appointment booking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84748" y="20528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3348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7530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07530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68212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Printout: Form I / IA / II / II-A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03464" y="20528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8" name="Shape 26"/>
          <p:cNvSpPr/>
          <p:nvPr/>
        </p:nvSpPr>
        <p:spPr>
          <a:xfrm>
            <a:off x="8132064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26246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82624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186928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allocates to DEO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822180" y="20528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50780" y="160020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744962" y="145389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744962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05644" y="165506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&amp; witnesses sign physically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27614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at Stage 1 → returns to citizen data entry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" y="333756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31061" y="319125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631061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339242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 checks signatures &amp; uploads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106674" y="37901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335274" y="333756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09135" y="319125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09135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3390138" y="339242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 — Stage 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4748" y="37901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3348" y="333756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87209" y="319125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387209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268212" y="339242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digitally signs (DSC)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862822" y="379018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3" name="Shape 51"/>
          <p:cNvSpPr/>
          <p:nvPr/>
        </p:nvSpPr>
        <p:spPr>
          <a:xfrm>
            <a:off x="9091422" y="333756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65283" y="319125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265283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146286" y="339242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certificate (Form II-A) issued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44988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at Stage 2 → returns to DEO check / re-upload (not back to citizen)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4667"/>
            </a:avLst>
          </a:prstGeom>
          <a:solidFill>
            <a:srgbClr val="EEF2F8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85800" y="5056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85800" y="5330952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SR verification stages (pre-payment data, post-upload signed forms); payment and appointment bundled after Stage 1; explicit SR → DEO allocation step; DEO checks and uploads signed physical forms before SR DSC.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7.II SPECIAL MARRIAGE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Generation — Intended Marriage / Other Forms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533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Marriage already taken place? No → Intended Marriage Notice · Yes → Other Forms Notice (+ Enter Marriage Details). Both paths then share Prerequisite &amp; party capture.</a:t>
            </a:r>
            <a:endParaRPr lang="en-US" sz="108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NOTICE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1382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51382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e-KYC / Face Auth (Bride &amp; Bridegroom)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47316" y="25557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2375916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70098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70098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430780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 incl. photos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66032" y="25557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0" name="Shape 18"/>
          <p:cNvSpPr/>
          <p:nvPr/>
        </p:nvSpPr>
        <p:spPr>
          <a:xfrm>
            <a:off x="4294632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88814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8814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349496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84748" y="25557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3348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07530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907530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68212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Payment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903464" y="25557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2064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6246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2624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186928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generated + eSign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22180" y="25557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50780" y="2148840"/>
            <a:ext cx="1680972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962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744962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105644" y="2203704"/>
            <a:ext cx="15712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 portal — 30-day countdown starts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364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NOTICE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51382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151382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12064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Aadhaar? Y: e-KYC / Face Auth · N: manual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147316" y="413766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5" name="Shape 43"/>
          <p:cNvSpPr/>
          <p:nvPr/>
        </p:nvSpPr>
        <p:spPr>
          <a:xfrm>
            <a:off x="2375916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70098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070098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2430780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066032" y="413766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294632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988814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988814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4349496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4748" y="413766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5" name="Shape 53"/>
          <p:cNvSpPr/>
          <p:nvPr/>
        </p:nvSpPr>
        <p:spPr>
          <a:xfrm>
            <a:off x="6213348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07530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07530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268212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Payment + appointment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903464" y="413766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60" name="Shape 58"/>
          <p:cNvSpPr/>
          <p:nvPr/>
        </p:nvSpPr>
        <p:spPr>
          <a:xfrm>
            <a:off x="8132064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26246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826246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8186928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generates notice, selects DEO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9822180" y="413766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65" name="Shape 63"/>
          <p:cNvSpPr/>
          <p:nvPr/>
        </p:nvSpPr>
        <p:spPr>
          <a:xfrm>
            <a:off x="10050780" y="3685032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744962" y="353872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44962" y="3538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10105644" y="3739896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DEO: photo, print, sign, scan, upload; paste on notice board — 30-day countdown starts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4892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rejection on either channel → returns to Prerequisite &amp; declaration for correction and resubmission.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57200" y="5303520"/>
            <a:ext cx="11274552" cy="1005840"/>
          </a:xfrm>
          <a:prstGeom prst="roundRect">
            <a:avLst>
              <a:gd name="adj" fmla="val 6364"/>
            </a:avLst>
          </a:prstGeom>
          <a:solidFill>
            <a:srgbClr val="EEF2F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85800" y="544068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timestamp starts the statutory 30-day objection period (Sec. 7 / Sec. 16). Notice valid for registration when: Intended Marriage ≥ 30 and ≤ 90 days; Other Forms ≥ 30 days — with no valid objection.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7.III SPECIAL MARRIAGE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Marriage Registration — Post-Notice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53312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workflow for Intended Marriage and Other Forms after notice publication; path-specific timeline gate and certificate schedule.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1382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51382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approved / published notice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47316" y="23271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4" name="Shape 12"/>
          <p:cNvSpPr/>
          <p:nvPr/>
        </p:nvSpPr>
        <p:spPr>
          <a:xfrm>
            <a:off x="2375916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70098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70098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430780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timeline (Intended ≥30–≤90d · Other Forms ≥30d)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6032" y="23271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4294632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88814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88814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349496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Objection? → SR enquiry if any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84748" y="23271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3348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07530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07530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268212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Payment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3464" y="23271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9" name="Shape 27"/>
          <p:cNvSpPr/>
          <p:nvPr/>
        </p:nvSpPr>
        <p:spPr>
          <a:xfrm>
            <a:off x="8132064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6246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826246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186928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visit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822180" y="232714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50780" y="1874520"/>
            <a:ext cx="16809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744962" y="17282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744962" y="1728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105644" y="1929384"/>
            <a:ext cx="157124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03580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objection → notice removed from portal (Objected); process stops for solemnization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51382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51382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DEO: joint photo + witness capture (e-KYC / manual)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147316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4" name="Shape 42"/>
          <p:cNvSpPr/>
          <p:nvPr/>
        </p:nvSpPr>
        <p:spPr>
          <a:xfrm>
            <a:off x="2375916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70098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070098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2430780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sign &amp; upload Declaration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066032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294632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88814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988814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4349496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Solemnization (Ch. II) / Registration (Ch. III)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984748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4" name="Shape 52"/>
          <p:cNvSpPr/>
          <p:nvPr/>
        </p:nvSpPr>
        <p:spPr>
          <a:xfrm>
            <a:off x="6213348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07530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907530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268212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Certificate: 4th Schedule (Intended) / 5th Schedule (Other Forms)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903464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9" name="Shape 57"/>
          <p:cNvSpPr/>
          <p:nvPr/>
        </p:nvSpPr>
        <p:spPr>
          <a:xfrm>
            <a:off x="8132064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26246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826246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86928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digital signature (DSC)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822180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64" name="Shape 62"/>
          <p:cNvSpPr/>
          <p:nvPr/>
        </p:nvSpPr>
        <p:spPr>
          <a:xfrm>
            <a:off x="10050780" y="3611880"/>
            <a:ext cx="1680972" cy="1143000"/>
          </a:xfrm>
          <a:prstGeom prst="roundRect">
            <a:avLst>
              <a:gd name="adj" fmla="val 4800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744962" y="346557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44962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10105644" y="3666744"/>
            <a:ext cx="157124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issued — download from portal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507492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58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685800" y="5468112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always completes In Person at the Sub-Registrar office — no fully-online registration channel. Rejection at SR verification returns to Schedule Visit.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7.IV PARSI MARRIAGE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Models &amp; Process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53312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a marriage already solemnized outside the portal by a Parsi priest per the ‘Ashirvad’ ceremony — Kaveri registers the already-certified marriage (priest-certified Schedule II certificate).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5454396" cy="1234440"/>
          </a:xfrm>
          <a:prstGeom prst="roundRect">
            <a:avLst>
              <a:gd name="adj" fmla="val 5926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048256"/>
            <a:ext cx="4997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 — Online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359152"/>
            <a:ext cx="49971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e-KYC / Face Auth (Bride), upload priest-certified Schedule II certificate, eSign, Payment (post-approval) · Office: Verification, DSC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77356" y="1920240"/>
            <a:ext cx="5454396" cy="1234440"/>
          </a:xfrm>
          <a:prstGeom prst="roundRect">
            <a:avLst>
              <a:gd name="adj" fmla="val 5926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5956" y="2048256"/>
            <a:ext cx="4997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 Marriage — Offline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2359152"/>
            <a:ext cx="49971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Payment, Appointment Booking, Printout · Office: SR Stage 1, SR→DEO allocation, Certificate upload, SR Stage 2, DSC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— CONDENSED FLOW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254" y="35570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43254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" y="3758184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details + e-KYC (Bride); upload Schedule II certificate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31059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9659" y="3703320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45713" y="35570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45713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14523" y="3758184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SR office (place of solemnization)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33518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6" name="Shape 24"/>
          <p:cNvSpPr/>
          <p:nvPr/>
        </p:nvSpPr>
        <p:spPr>
          <a:xfrm>
            <a:off x="5062118" y="3703320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8172" y="35570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8172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116982" y="3758184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+ eSign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135978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1" name="Shape 29"/>
          <p:cNvSpPr/>
          <p:nvPr/>
        </p:nvSpPr>
        <p:spPr>
          <a:xfrm>
            <a:off x="7364578" y="3703320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0631" y="35570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50631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419442" y="3758184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Verification vs. Schedule II certificate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438437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6" name="Shape 34"/>
          <p:cNvSpPr/>
          <p:nvPr/>
        </p:nvSpPr>
        <p:spPr>
          <a:xfrm>
            <a:off x="9667037" y="3703320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553090" y="355701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553090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721901" y="3758184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→ SR DSC → Register entry (Sec. 6/8) → Certificate issued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— CONDENSED FLOW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148072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43254" y="500176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343254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" y="5202936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/ Aadhaar? Y: e-KYC · N: manual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31059" y="555498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6" name="Shape 44"/>
          <p:cNvSpPr/>
          <p:nvPr/>
        </p:nvSpPr>
        <p:spPr>
          <a:xfrm>
            <a:off x="2759659" y="5148072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45713" y="500176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645713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2814523" y="5202936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Stage 1 → Payment + appointment → Printout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33518" y="555498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1" name="Shape 49"/>
          <p:cNvSpPr/>
          <p:nvPr/>
        </p:nvSpPr>
        <p:spPr>
          <a:xfrm>
            <a:off x="5062118" y="5148072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8172" y="500176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948172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5116982" y="5202936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allocates DEO; physical signing at SRO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35978" y="555498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56" name="Shape 54"/>
          <p:cNvSpPr/>
          <p:nvPr/>
        </p:nvSpPr>
        <p:spPr>
          <a:xfrm>
            <a:off x="7364578" y="5148072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50631" y="500176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50631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7419442" y="5202936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 uploads signed certificate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438437" y="5554980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61" name="Shape 59"/>
          <p:cNvSpPr/>
          <p:nvPr/>
        </p:nvSpPr>
        <p:spPr>
          <a:xfrm>
            <a:off x="9667037" y="5148072"/>
            <a:ext cx="2064715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53090" y="500176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553090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9721901" y="5202936"/>
            <a:ext cx="1954987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Stage 2 → SR DSC → Register entry → Certificate issued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7.V MARRIAGE — NULL &amp; VOID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Endorsement on Court Order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workflow triggered when a competent court declares a registered marriage void (Sec. 11) or annuls a voidable marriage (Sec. 12). Initiated only on presentation of a certified court order copy — not from citizen self-service or automated checks.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31061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31061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" y="220370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receives certified court order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6674" y="260146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4" name="Shape 12"/>
          <p:cNvSpPr/>
          <p:nvPr/>
        </p:nvSpPr>
        <p:spPr>
          <a:xfrm>
            <a:off x="3335274" y="214884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09135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09135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390138" y="220370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searches &amp; opens registered marriage record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84748" y="260146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3348" y="214884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87209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87209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68212" y="220370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verifies order particulars vs. register entry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862822" y="260146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4" name="Shape 22"/>
          <p:cNvSpPr/>
          <p:nvPr/>
        </p:nvSpPr>
        <p:spPr>
          <a:xfrm>
            <a:off x="9091422" y="214884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65283" y="2002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65283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46286" y="220370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uploads / scans court order copy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3101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 if parties or registration number do not match the register entry.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31061" y="351129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631061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" y="371246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nullity type — Void (Sec.11) / Voidable (Sec.12)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106674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4" name="Shape 32"/>
          <p:cNvSpPr/>
          <p:nvPr/>
        </p:nvSpPr>
        <p:spPr>
          <a:xfrm>
            <a:off x="3335274" y="365760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09135" y="351129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09135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390138" y="371246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flags registration Null &amp; Void (endorsement)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984748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39" name="Shape 37"/>
          <p:cNvSpPr/>
          <p:nvPr/>
        </p:nvSpPr>
        <p:spPr>
          <a:xfrm>
            <a:off x="6213348" y="365760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87209" y="351129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387209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8212" y="371246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updates register + certificate status; Form II-A marked invalid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862822" y="4110228"/>
            <a:ext cx="219456" cy="146304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44" name="Shape 42"/>
          <p:cNvSpPr/>
          <p:nvPr/>
        </p:nvSpPr>
        <p:spPr>
          <a:xfrm>
            <a:off x="9091422" y="3657600"/>
            <a:ext cx="2640330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 w="9525">
            <a:solidFill>
              <a:srgbClr val="D7DE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65283" y="3511296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265283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146286" y="3712464"/>
            <a:ext cx="253060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blocks clean extracts; audit trail recorded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4667"/>
            </a:avLst>
          </a:prstGeom>
          <a:solidFill>
            <a:srgbClr val="EEF2F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85800" y="5056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characteristics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330952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(In Person) at the SRO office only — no process diagram, step list is authoritative. Any subsequent certified extract reflects the Null and Void endorsement (Rule 8). Audit trail captures officer, timestamp, court order reference, and prior / new status.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7.VI WHAT IS NEW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Highlights in Kaveri 3.0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03504" y="1636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Dual-channel services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Marriage Notice now available Online and Offline.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32988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9292" y="1636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9292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54780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verification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97580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Authentication added on Online paths.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08776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55080" y="1636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30568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service — Parsi Marriage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73368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registration (Online &amp; Offline) under the Parsi Marriage and Divorce Act, 1936 — not available in Kaveri 2.0.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84564" y="150876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30868" y="163677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0868" y="1636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706356" y="161848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and Void endorsement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49156" y="207568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back-office workflow to record a certified court order (HMA Sec. 11–12).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" y="421995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3504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8992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address quality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21792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party/witness capture; MDM-driven address; place of marriage in summary/reports; cross-reference search.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32988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9292" y="421995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479292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54780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notifications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3497580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fee payment with receipt (Form VI); resilient fallback; SMS + e-Mail across the lifecycle.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08776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55080" y="421995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55080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373368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Kutumba portal, Civil Registration System, Labor Department.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084564" y="4091940"/>
            <a:ext cx="2647188" cy="2308860"/>
          </a:xfrm>
          <a:prstGeom prst="roundRect">
            <a:avLst>
              <a:gd name="adj" fmla="val 2772"/>
            </a:avLst>
          </a:prstGeom>
          <a:solidFill>
            <a:srgbClr val="EEF2F8"/>
          </a:solidFill>
          <a:ln/>
          <a:effectLst>
            <a:outerShdw blurRad="50800" dist="25400" dir="5400000" algn="bl" rotWithShape="0">
              <a:srgbClr val="9AA7BD">
                <a:alpha val="2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230868" y="421995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230868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706356" y="4201668"/>
            <a:ext cx="18973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experience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249156" y="4658868"/>
            <a:ext cx="2336292" cy="163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 bilingual UI (English + Kannada); guided flow with Save/resume; summary review before eSign.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 Points Rectified in Kaveri 3.0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5361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21 As-Is pain points from Kaveri 2.0 are addressed in Kaveri 3.0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04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mobile-friendly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807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 bilingual UI; guided step flow usable on phones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31636" y="2331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14516" y="2404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address on certificate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6414516" y="2807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party address capture — no erroneous sub-district on Form II-A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547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DEO allocation, no reassignment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950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allocates to DEO; officers can reassign without ServiceDesk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31636" y="3474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4516" y="3547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operational dashboard visibility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6414516" y="3950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/ dashboard for daily registrations, pendency and officer workload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690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notification channels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093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notifications via both SMS and e-Mail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6231636" y="4617720"/>
            <a:ext cx="5500116" cy="960120"/>
          </a:xfrm>
          <a:prstGeom prst="roundRect">
            <a:avLst>
              <a:gd name="adj" fmla="val 5714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14516" y="469087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8A6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 </a:t>
            </a:r>
            <a:r>
              <a:rPr lang="en-US" sz="10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missing on digital certificate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5093208"/>
            <a:ext cx="51343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r>
              <a:rPr lang="en-US" sz="10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Bride, bridegroom &amp; witness signatures rendered on DSC-signed certificate</a:t>
            </a:r>
            <a:endParaRPr lang="en-US" sz="10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Acceptance and Sign-Off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28832" y="365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28832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0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 |  BRD WALKTHROUGH  ·  KAVERI 3.0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23774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/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Prashanth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Expert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Prabhakar Naik, Committee members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AIGR Computers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Analyst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Nandha Kumar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>
                    <a:lnL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51960"/>
            <a:ext cx="11274552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document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75488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functional and non-functional requirements, fallback behaviours, risks, and the full requirements-traceability matrix are maintained in FRS_and_NFRS_Marriage_v1.23.docx (FRS-NFRS-K3-MRG-001).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25780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BRD covers the Executive Summary through Section 7.vi (What is new in Kaveri 3.0). Sign-off of both documents together confirms alignment of business objectives, requirements and solution deliverables before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1234440"/>
            <a:ext cx="731520" cy="731520"/>
          </a:xfrm>
          <a:prstGeom prst="ellipse">
            <a:avLst/>
          </a:prstGeom>
          <a:ln w="3175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72200" y="1234440"/>
            <a:ext cx="731520" cy="731520"/>
          </a:xfrm>
          <a:prstGeom prst="ellipse">
            <a:avLst/>
          </a:prstGeom>
          <a:ln w="31750">
            <a:solidFill>
              <a:srgbClr val="E4C7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Marriage Registration Module — BRD Walkthrough  ·  Kaveri 3.0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(BA): Nandha Kumar     </a:t>
            </a: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  </a:t>
            </a:r>
            <a:r>
              <a:rPr lang="en-US" sz="12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Owner: Prashanth     </a:t>
            </a: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  </a:t>
            </a:r>
            <a:r>
              <a:rPr lang="en-US" sz="12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Expert: Prabhakar Naik &amp; Committee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ID: BRD-K3-MRG-001  ·  Version 3  ·  04-09-2026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4025</Words>
  <Application>Microsoft Office PowerPoint</Application>
  <PresentationFormat>Widescreen</PresentationFormat>
  <Paragraphs>632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Marriage Registration Module - BRD Walkthrough</dc:title>
  <dc:subject>PptxGenJS Presentation</dc:subject>
  <dc:creator>Kaveri 3.0 Programme</dc:creator>
  <cp:lastModifiedBy>Administrator</cp:lastModifiedBy>
  <cp:revision>2</cp:revision>
  <dcterms:created xsi:type="dcterms:W3CDTF">2026-09-04T13:34:01Z</dcterms:created>
  <dcterms:modified xsi:type="dcterms:W3CDTF">2026-09-04T13:50:48Z</dcterms:modified>
</cp:coreProperties>
</file>