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2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7484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4023360" cy="402336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4" name="Shape 2"/>
          <p:cNvSpPr/>
          <p:nvPr/>
        </p:nvSpPr>
        <p:spPr>
          <a:xfrm>
            <a:off x="5074920" y="960120"/>
            <a:ext cx="868680" cy="868680"/>
          </a:xfrm>
          <a:prstGeom prst="ellipse">
            <a:avLst/>
          </a:prstGeom>
          <a:ln w="3175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960120"/>
            <a:ext cx="868680" cy="868680"/>
          </a:xfrm>
          <a:prstGeom prst="ellipse">
            <a:avLst/>
          </a:prstGeom>
          <a:ln w="31750">
            <a:solidFill>
              <a:srgbClr val="E4C7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KAVERI 3.0  ·  DEPARTMENT OF STAMPS AND REGISTRATION, GOVERNMENT OF KARNATAKA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Marriage Registration Module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 Document — Executive Walkthrough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77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 Marriage · Special Marriage (Intended / Other Forms) · Parsi Marriage · Null &amp; Void Endorsement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ID: BRD-K3-MRG-001</a:t>
            </a:r>
            <a:r>
              <a:rPr lang="en-US" sz="1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1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3</a:t>
            </a:r>
            <a:r>
              <a:rPr lang="en-US" sz="1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1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Draft / In Review</a:t>
            </a:r>
            <a:r>
              <a:rPr lang="en-US" sz="1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1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updated 03-09-2026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REGULATORY REFERENCE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Applicable Acts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Department for Marriage Registration (through Sub-Registrars / Marriage Officers) administers the following Central Acts and Karnataka Rules.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500116" cy="2125980"/>
          </a:xfrm>
          <a:prstGeom prst="roundRect">
            <a:avLst>
              <a:gd name="adj" fmla="val 3011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HMA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1984248"/>
            <a:ext cx="47503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Hindu Marriage Act, 1955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2441448"/>
            <a:ext cx="5189220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of Hindu marriages (Sec. 8); conditions for marriage (Sec. 5); ceremonies (Sec. 7).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1636" y="1874520"/>
            <a:ext cx="5500116" cy="2125980"/>
          </a:xfrm>
          <a:prstGeom prst="roundRect">
            <a:avLst>
              <a:gd name="adj" fmla="val 3011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77940" y="200253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77940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853428" y="1984248"/>
            <a:ext cx="47503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Special Marriage Act, 1954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396228" y="2441448"/>
            <a:ext cx="5189220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Solemnization of special marriages (Chapter II); registration of marriages celebrated in other forms (Chapter III).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274820"/>
            <a:ext cx="5500116" cy="2125980"/>
          </a:xfrm>
          <a:prstGeom prst="roundRect">
            <a:avLst>
              <a:gd name="adj" fmla="val 3011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" y="440283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03504" y="44028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PMDA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78992" y="4384548"/>
            <a:ext cx="47503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Parsi Marriage and Divorce Act, 1936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4841748"/>
            <a:ext cx="5189220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between Parsis solemnized per Parsi rites — the ‘Ashirvad’ ceremony (Sec. 3); certificate &amp; registry (Sec. 6); Registrar appointment (Sec. 7); public inspection (Sec. 8).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31636" y="4274820"/>
            <a:ext cx="5500116" cy="2125980"/>
          </a:xfrm>
          <a:prstGeom prst="roundRect">
            <a:avLst>
              <a:gd name="adj" fmla="val 3011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77940" y="440283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77940" y="44028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KGoS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53428" y="4384548"/>
            <a:ext cx="47503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Guarantee of Services to Citizens Act, 2011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396228" y="4841748"/>
            <a:ext cx="5189220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 guarantee of citizen services; GSC acknowledgement; online status monitoring; appeals &amp; compensatory cost (Secs. 3–13); amended 2012 &amp; 2014.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REGULATORY REFERENCE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Hindu Marriage Act, 1955 — Key Sections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49377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42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BRD relevance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of 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Eligibility — Hindus (incl. Virashaiva, Lingayat, Brahmo/Prarthana/Arya Samaj), Buddhists, Jainas, Sikhs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Sapinda relationship and degrees of prohibited relationship — validation 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Conditions for a Hindu marriage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(bridegroom ≥ 21, bride ≥ 18); no living spouse; consent; prohibited degrees / sapinda unless custom permits — Form IA declarations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Ceremonies for a Hindu marriage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Customary rites and ceremonies; Saptapadi — solemnization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of Hindu marriages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rules power; register open for inspection; certified extracts; validity not affected by omission to register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11–12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Void / voidable marriages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 nullity endorsement — SR flags registered marriage Null and Void on receipt of court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17 / 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Bigamy &amp; other Sec. 5 breaches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Statutory penalty messaging shown to parties at submission (displayed in 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REGULATORY REFERENCE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Marriage Act, 1954 — Key Sections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49377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76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BRD relevance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4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Conditions relating to solemnization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Eligibility / prerequisite checks before notice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5 / 6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Notice of intended marriage &amp; Marriage Notice Book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Generate, capture, publish notice on portal / notice board; ≥ 30 days residence of at least one party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7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Objection to marriage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30-day countdown from publication; accept and record objections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8–9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 / enquiry on objection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 enquiry; summon parties; uphold or reject objection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11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Declarations (Third Schedule)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Declarations before solemnization; three witnesses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12–13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Solemnization &amp; certificate (Fourth Schedule)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solemnization; certificate issuance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14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notice if not solemnized within 3 months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registration outside validity; requires fresh notice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15–16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— Other Forms (Fifth Schedule)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Ceremony performed; parties living together; ages; residence ≥ 30 days; public notice; 30-day objections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47–48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Marriage Certificate Book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Inspection; certified extracts; quarterly transmission to Registrar-General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REGULATORY REFERENCE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Parsi Marriage and Divorce Act, 1936 — Key Sections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49377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9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BRD relevance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Requisites to validity of Parsi marriages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Prohibited degrees (Schedule I); solemnization per the ‘Ashirvad’ ceremony by a priest before two witnesses; age (bridegroom ≥ 21, bride ≥ 18)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Remarriage when unlawful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remarriage during the lifetime of a spouse without lawful divorce, annulment or dissolution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6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 and registry of marriage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Priest certifies in Schedule II immediately on solemnization, signed by priest, both parties and two witnesses; sent with fee to the Registrar; entered in the marriage register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7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 of Registrar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appointed by the Chief Justice / State Government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open for public inspection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Certified extracts on payment of fee; register is evidence of statements it contains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9 / 10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to Registrar-General / registration of divorces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 back-office transmission; court sends decree for entry in a separate register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17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irregularity not to invalidate marriage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defective, irregular or unsent certificate does not invalidate the marriage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SUBORDINATE LEGISLATION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Karnataka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716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under HMA 1955 Sec. 8, SMA 1954 Sec. 50, and the Parsi Marriage and Divorce Act 1936 Sec. 9.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3575304" cy="4617720"/>
          </a:xfrm>
          <a:prstGeom prst="roundRect">
            <a:avLst>
              <a:gd name="adj" fmla="val 1790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504" y="191109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3504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1892808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of Hindu Marriage (Karnataka) Rules, 1966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2350008"/>
            <a:ext cx="3264408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 (memorandum) + Form IA in duplicate, signed by 3 witnesses; Form II endorsement; Form II-A certificate issued immediately; Rule 6A power to remedy defects / forward / refuse with written order; monthly Form III to Registrar-General.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06824" y="1783080"/>
            <a:ext cx="3575304" cy="4617720"/>
          </a:xfrm>
          <a:prstGeom prst="roundRect">
            <a:avLst>
              <a:gd name="adj" fmla="val 1790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53128" y="191109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53128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28616" y="1892808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Marriage (Karnataka) Rules, 1961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471416" y="2350008"/>
            <a:ext cx="3264408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Schedule notice with serial no. &amp; Marriage Notice Book entry; objection enquiry (Forms I &amp; II, 30-day window); Form III for Other Forms registration; fee schedule (Rule 10); Marriage Certificate Book (Rule 9).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56448" y="1783080"/>
            <a:ext cx="3575304" cy="4617720"/>
          </a:xfrm>
          <a:prstGeom prst="roundRect">
            <a:avLst>
              <a:gd name="adj" fmla="val 1790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02752" y="191109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02752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1961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0" y="1892808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 Marriages and Divorce (Karnataka) Rules, 1961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2350008"/>
            <a:ext cx="3264408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to the whole State of Karnataka; defines ‘Act’ and ‘Form’; Registrars send certified copies of marriage-certificate-book entries to the Registrar-General quarterly (1 Jan / 1 Apr / 1 Jul / 1 Oct), or a nil certificate.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REGULATORY REFERENCE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Notifications &amp; Amendments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493775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53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/ No.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S.O. 4896 / HD 6 CIM 61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Jul 1966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Appoints all Sub-Registrars as Registrars of Hindu Marriages for their jurisdictions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of Hindu Marriages (Karnataka) (Amendment) Rules, 1999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w.e.f. 8 Jun 2000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Priest / witness definitions; Form IA; three-witness signing; Form II-A immediate certificate; scrutiny / refusal order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RD/48/MNMU/2023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Gazette 06-Feb-2024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Amends Rule 4: inserts ‘or electronically’ (filing), ‘or stored electronically’ (endorsement / certificate) — enables the Online channel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Marriage (Karnataka) Rules, 1961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HD 13MCIM 59(1), 2 May 1961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notification making the Karnataka Special Marriage Rules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No. HD 6 PIM 67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1967 (Govt. of Mysore)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Appoints all District Registrars (Sub-Registrars) as Registrars for the Parsi Marriage and Divorce Act, 1936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koE/65/mnmu/2021 &amp; MME 109 MABHAB 2017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 / 2018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Age-proof (birth / school / medical certificate — Aadhaar not valid) and address-proof document circulars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REGULATORY REFERENCE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Statutory Forms Mapping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3575304" cy="4937760"/>
          </a:xfrm>
          <a:prstGeom prst="roundRect">
            <a:avLst>
              <a:gd name="adj" fmla="val 1790"/>
            </a:avLst>
          </a:prstGeom>
          <a:solidFill>
            <a:srgbClr val="EEF2F8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62763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HM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1609344"/>
            <a:ext cx="2752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 Marriage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24028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248716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Memorandum of marriage (duplicate)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10896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IA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335584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for filing of memorandum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397764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II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422452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Endorsement on reverse — SR signature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84632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II-A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509320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registration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06824" y="1463040"/>
            <a:ext cx="3575304" cy="4937760"/>
          </a:xfrm>
          <a:prstGeom prst="roundRect">
            <a:avLst>
              <a:gd name="adj" fmla="val 1790"/>
            </a:avLst>
          </a:prstGeom>
          <a:solidFill>
            <a:srgbClr val="EEF2F8"/>
          </a:solidFill>
          <a:ln/>
        </p:spPr>
      </p:sp>
      <p:sp>
        <p:nvSpPr>
          <p:cNvPr id="23" name="Shape 21"/>
          <p:cNvSpPr/>
          <p:nvPr/>
        </p:nvSpPr>
        <p:spPr>
          <a:xfrm>
            <a:off x="4489704" y="162763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489704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965192" y="1609344"/>
            <a:ext cx="2752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Marriage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4507992" y="224028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Schedule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07992" y="248716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of intended marriage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07992" y="310896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Schedule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07992" y="335584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Declarations — parties &amp; witnesses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507992" y="397764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Schedule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507992" y="422452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— Chapter II (Intended)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07992" y="484632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Schedule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07992" y="509320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— Chapter III (Other Forms)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56448" y="1463040"/>
            <a:ext cx="3575304" cy="4937760"/>
          </a:xfrm>
          <a:prstGeom prst="roundRect">
            <a:avLst>
              <a:gd name="adj" fmla="val 1790"/>
            </a:avLst>
          </a:prstGeom>
          <a:solidFill>
            <a:srgbClr val="EEF2F8"/>
          </a:solidFill>
          <a:ln/>
        </p:spPr>
      </p:sp>
      <p:sp>
        <p:nvSpPr>
          <p:cNvPr id="37" name="Shape 35"/>
          <p:cNvSpPr/>
          <p:nvPr/>
        </p:nvSpPr>
        <p:spPr>
          <a:xfrm>
            <a:off x="8339328" y="162763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339328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814816" y="1609344"/>
            <a:ext cx="2752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 Marriage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8357616" y="224028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II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8357616" y="248716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marriage — priest-issued immediately on solemnization; basis for the Registrar's entry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8357616" y="306781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 smtClean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150" dirty="0"/>
          </a:p>
        </p:txBody>
      </p:sp>
      <p:sp>
        <p:nvSpPr>
          <p:cNvPr id="43" name="Text 17"/>
          <p:cNvSpPr txBox="1"/>
          <p:nvPr/>
        </p:nvSpPr>
        <p:spPr>
          <a:xfrm>
            <a:off x="8357616" y="3149535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registration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GUARANTEE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Sakala — Karnataka Guarantee of Services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services offered through the Department of Stamps and Registration are notified Sakala services. Every eligible application receives a Guarantee of Services to Citizen (GSC) number so citizens can track status, receive time-bound service and file appeals (Appeal-I / Appeal-II) when service is delayed or rejected.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31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NOTIFIED MARRIAGE-RELATED SAKALA SERVICES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3575304" cy="1691640"/>
          </a:xfrm>
          <a:prstGeom prst="roundRect">
            <a:avLst>
              <a:gd name="adj" fmla="val 3784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3504" y="277977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3504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" y="2761488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 Marriage registration (online filing)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218688"/>
            <a:ext cx="32644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 issued on successful fee payment; statutory timeline commences from payment date (~1 working day for certificate delivery, per department practice).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06824" y="2651760"/>
            <a:ext cx="3575304" cy="1691640"/>
          </a:xfrm>
          <a:prstGeom prst="roundRect">
            <a:avLst>
              <a:gd name="adj" fmla="val 3784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53128" y="277977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53128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28616" y="2761488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Marriage — Intended Marriage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471416" y="3218688"/>
            <a:ext cx="32644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generation and registration tracked end-to-end under Sakala timelines.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56448" y="2651760"/>
            <a:ext cx="3575304" cy="1691640"/>
          </a:xfrm>
          <a:prstGeom prst="roundRect">
            <a:avLst>
              <a:gd name="adj" fmla="val 3784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02752" y="277977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02752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778240" y="2761488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Marriage — Other Forms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3218688"/>
            <a:ext cx="32644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generation and registration tracked end-to-end under Sakala timelines.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617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 LIFECYCLE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849774" y="5074920"/>
            <a:ext cx="2064715" cy="868680"/>
          </a:xfrm>
          <a:prstGeom prst="roundRect">
            <a:avLst>
              <a:gd name="adj" fmla="val 6316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35828" y="49286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735828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904638" y="5129784"/>
            <a:ext cx="1954987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accepted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923633" y="543610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31" name="Shape 29"/>
          <p:cNvSpPr/>
          <p:nvPr/>
        </p:nvSpPr>
        <p:spPr>
          <a:xfrm>
            <a:off x="4152233" y="5074920"/>
            <a:ext cx="2064715" cy="868680"/>
          </a:xfrm>
          <a:prstGeom prst="roundRect">
            <a:avLst>
              <a:gd name="adj" fmla="val 6316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38287" y="49286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038287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207097" y="5129784"/>
            <a:ext cx="1954987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900" b="1" dirty="0" smtClean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00" b="1" dirty="0" smtClean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900" b="1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00" dirty="0" smtClean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GSC </a:t>
            </a: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on </a:t>
            </a:r>
            <a:r>
              <a:rPr lang="en-US" sz="900" dirty="0" smtClean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and submission </a:t>
            </a:r>
            <a:r>
              <a:rPr lang="en-US" sz="900" b="1" dirty="0" smtClean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</a:p>
          <a:p>
            <a:r>
              <a:rPr lang="en-US" sz="900" dirty="0" smtClean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 </a:t>
            </a: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on </a:t>
            </a:r>
            <a:r>
              <a:rPr lang="en-US" sz="900" dirty="0" smtClean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 of parties at sub-registrar offices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26092" y="543610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36" name="Shape 34"/>
          <p:cNvSpPr/>
          <p:nvPr/>
        </p:nvSpPr>
        <p:spPr>
          <a:xfrm>
            <a:off x="6454692" y="5074920"/>
            <a:ext cx="2064715" cy="868680"/>
          </a:xfrm>
          <a:prstGeom prst="roundRect">
            <a:avLst>
              <a:gd name="adj" fmla="val 6316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40746" y="49286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340746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509556" y="5129784"/>
            <a:ext cx="1954987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(status sync)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528552" y="543610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41" name="Shape 39"/>
          <p:cNvSpPr/>
          <p:nvPr/>
        </p:nvSpPr>
        <p:spPr>
          <a:xfrm>
            <a:off x="8757152" y="5074920"/>
            <a:ext cx="2064715" cy="868680"/>
          </a:xfrm>
          <a:prstGeom prst="roundRect">
            <a:avLst>
              <a:gd name="adj" fmla="val 6316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43205" y="49286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643205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8812016" y="5129784"/>
            <a:ext cx="1954987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/ certificate issued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61722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Kaveri 3.0 integrates with the Sakala platform per NIC / Sakala Mission approved web methods for GSC registration, status updates, party-detail upload and orphan-settle retry.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SYSTEMS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 and Actors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" y="163677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3504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B/G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161848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Bride / Bridegroom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207568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declarations, provide documents. Online: eSign; Offline: physical signature on printed forms.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2988" y="150876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9292" y="163677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79292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W×3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954780" y="161848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 (×3)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497580" y="207568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address, signature on memorandum. Online: eSign / e-KYC / Face Auth [TBD]; Offline: physical signature.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08776" y="150876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163677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55080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30568" y="161848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Registrar / Sub-Registrar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373368" y="207568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register, digital signature, refuse with order. Offline has two verification stages.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84564" y="150876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30868" y="163677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30868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706356" y="161848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Operator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249156" y="207568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signatures on printed forms and uploads to the portal — Offline only.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09194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" y="421995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03504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78992" y="420166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/ Payment Gateway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21792" y="465886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e-Payment and reconciliation; triggered after first SR approval (both channels).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332988" y="409194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79292" y="421995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479292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DSC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954780" y="420166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eSign / DSC Service Provider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3497580" y="465886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eSign (Online); SR digital signature (both channels).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08776" y="409194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55080" y="421995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35508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EKYC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830568" y="420166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 smtClean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E-KYC/Face Authentication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6373368" y="465886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 smtClean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Bride / Bride Groom e-KYC Authentication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084564" y="409194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230868" y="421995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230868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9706356" y="420166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Sakala (Karnataka GoS)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9249156" y="465886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GSC on acceptance / payment; tracks statutory timelines; citizen tracking and appeals.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As-Is Pain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56924" y="1492758"/>
            <a:ext cx="3587496" cy="1860804"/>
          </a:xfrm>
          <a:prstGeom prst="roundRect">
            <a:avLst>
              <a:gd name="adj" fmla="val 3440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3228" y="162077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3228" y="16207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78716" y="1602486"/>
            <a:ext cx="2837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&amp; navigation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21516" y="2059686"/>
            <a:ext cx="3276600" cy="118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mobile-friendly; Edit doesn't return to correct step; stuck on summary </a:t>
            </a:r>
            <a:r>
              <a:rPr lang="en-US" sz="1050" dirty="0" smtClean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00452" y="1492758"/>
            <a:ext cx="3587496" cy="1860804"/>
          </a:xfrm>
          <a:prstGeom prst="roundRect">
            <a:avLst>
              <a:gd name="adj" fmla="val 3440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6756" y="162077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46756" y="16207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822244" y="1602486"/>
            <a:ext cx="2837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accuracy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365044" y="2059686"/>
            <a:ext cx="3276600" cy="118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address on certificate; DOB/party details not reflecting; place of marriage missing; signatures missing on certificate.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3980" y="1492758"/>
            <a:ext cx="3587496" cy="1860804"/>
          </a:xfrm>
          <a:prstGeom prst="roundRect">
            <a:avLst>
              <a:gd name="adj" fmla="val 3440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90284" y="162077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90284" y="16207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665772" y="1602486"/>
            <a:ext cx="2837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workflow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208572" y="2059686"/>
            <a:ext cx="3276600" cy="118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area selection; missing Save for Witness 3; no FIFO priority; notice workflow state errors; notice no./date not displaying.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56924" y="3609594"/>
            <a:ext cx="3587496" cy="1860804"/>
          </a:xfrm>
          <a:prstGeom prst="roundRect">
            <a:avLst>
              <a:gd name="adj" fmla="val 3440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3228" y="3737610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03228" y="37376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78716" y="3719322"/>
            <a:ext cx="2837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payments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21516" y="4176522"/>
            <a:ext cx="3276600" cy="118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Restrictive upload rules; password-protected uploads mishandled; blank challan / verify-challan </a:t>
            </a:r>
            <a:r>
              <a:rPr lang="en-US" sz="1050" dirty="0" smtClean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00452" y="3609594"/>
            <a:ext cx="3587496" cy="1860804"/>
          </a:xfrm>
          <a:prstGeom prst="roundRect">
            <a:avLst>
              <a:gd name="adj" fmla="val 3440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46756" y="3737610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346756" y="37376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822244" y="3719322"/>
            <a:ext cx="2837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visibility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365044" y="4176522"/>
            <a:ext cx="3276600" cy="118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not visible during scrutiny; no edit before payment; no dashboard visibility; wrong DEO </a:t>
            </a:r>
            <a:r>
              <a:rPr lang="en-US" sz="1050" dirty="0" smtClean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allocation); </a:t>
            </a: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</a:t>
            </a:r>
            <a:r>
              <a:rPr lang="en-US" sz="1050" dirty="0" smtClean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for NULL and VOID marriages.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STATE (TO-BE)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in the </a:t>
            </a:r>
            <a:r>
              <a:rPr lang="en-US" sz="3000" b="1" dirty="0" err="1" smtClean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Kaveri</a:t>
            </a:r>
            <a:r>
              <a:rPr lang="en-US" sz="3000" b="1" dirty="0" smtClean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3.0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documents its channel models, process diagram (common intake, Online and/or Offline flows) and application status model. Notice is initiated on the citizen portal; registration completes In Person at the Sub-Registrar office.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1962302" cy="3291840"/>
          </a:xfrm>
          <a:prstGeom prst="roundRect">
            <a:avLst>
              <a:gd name="adj" fmla="val 3262"/>
            </a:avLst>
          </a:prstGeom>
          <a:solidFill>
            <a:srgbClr val="1B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1182319" y="2404872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2319" y="2404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063240"/>
            <a:ext cx="16879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 Marriage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3931920"/>
            <a:ext cx="16331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&amp; Offline </a:t>
            </a:r>
            <a:r>
              <a:rPr lang="en-US" sz="1000" dirty="0" smtClean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85262" y="2148840"/>
            <a:ext cx="1962302" cy="3291840"/>
          </a:xfrm>
          <a:prstGeom prst="roundRect">
            <a:avLst>
              <a:gd name="adj" fmla="val 3262"/>
            </a:avLst>
          </a:prstGeom>
          <a:solidFill>
            <a:srgbClr val="EE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3510382" y="2404872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510382" y="2404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7.ii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922422" y="3063240"/>
            <a:ext cx="16879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Marriage </a:t>
            </a:r>
            <a:endParaRPr lang="en-US" sz="1250" b="1" dirty="0" smtClean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250" b="1" dirty="0" smtClean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</a:t>
            </a: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949854" y="3931920"/>
            <a:ext cx="16331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Marriage &amp; Other </a:t>
            </a:r>
            <a:r>
              <a:rPr lang="en-US" sz="1000" dirty="0" smtClean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13325" y="2148840"/>
            <a:ext cx="1962302" cy="3291840"/>
          </a:xfrm>
          <a:prstGeom prst="roundRect">
            <a:avLst>
              <a:gd name="adj" fmla="val 3262"/>
            </a:avLst>
          </a:prstGeom>
          <a:solidFill>
            <a:srgbClr val="1B2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5838444" y="2404872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838444" y="2404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7.iii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250485" y="3063240"/>
            <a:ext cx="16879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</a:t>
            </a:r>
            <a:r>
              <a:rPr lang="en-US" sz="12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</a:t>
            </a:r>
          </a:p>
          <a:p>
            <a:pPr marL="0" indent="0" algn="ctr">
              <a:buNone/>
            </a:pPr>
            <a:r>
              <a:rPr lang="en-US" sz="12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277917" y="3931920"/>
            <a:ext cx="16331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Solemnization (Intended) </a:t>
            </a:r>
            <a:r>
              <a:rPr lang="en-US" sz="1000" dirty="0" smtClean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Registration </a:t>
            </a:r>
            <a:r>
              <a:rPr lang="en-US" sz="10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(Other Forms).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41387" y="2148840"/>
            <a:ext cx="1962302" cy="3291840"/>
          </a:xfrm>
          <a:prstGeom prst="roundRect">
            <a:avLst>
              <a:gd name="adj" fmla="val 3262"/>
            </a:avLst>
          </a:prstGeom>
          <a:solidFill>
            <a:srgbClr val="EEF2F8"/>
          </a:solidFill>
          <a:ln/>
        </p:spPr>
      </p:sp>
      <p:sp>
        <p:nvSpPr>
          <p:cNvPr id="28" name="Shape 26"/>
          <p:cNvSpPr/>
          <p:nvPr/>
        </p:nvSpPr>
        <p:spPr>
          <a:xfrm>
            <a:off x="8166506" y="2404872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166506" y="2404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7.iv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578547" y="3063240"/>
            <a:ext cx="16879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</a:t>
            </a: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smtClean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605979" y="3931920"/>
            <a:ext cx="16331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Kaveri 3.0 — Online &amp; Offline registration.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769450" y="2148840"/>
            <a:ext cx="1962302" cy="3291840"/>
          </a:xfrm>
          <a:prstGeom prst="roundRect">
            <a:avLst>
              <a:gd name="adj" fmla="val 3262"/>
            </a:avLst>
          </a:prstGeom>
          <a:solidFill>
            <a:srgbClr val="1B2A4A"/>
          </a:solidFill>
          <a:ln/>
        </p:spPr>
      </p:sp>
      <p:sp>
        <p:nvSpPr>
          <p:cNvPr id="34" name="Shape 32"/>
          <p:cNvSpPr/>
          <p:nvPr/>
        </p:nvSpPr>
        <p:spPr>
          <a:xfrm>
            <a:off x="10494569" y="2404872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494569" y="2404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7.v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906610" y="3063240"/>
            <a:ext cx="16879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&amp; Void Endorsement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9934042" y="3931920"/>
            <a:ext cx="16331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 smtClean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</a:t>
            </a:r>
            <a:r>
              <a:rPr lang="en-US" sz="1000" dirty="0" err="1" smtClean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Kaveri</a:t>
            </a:r>
            <a:r>
              <a:rPr lang="en-US" sz="1000" dirty="0" smtClean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3.0 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 smtClean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</a:t>
            </a:r>
            <a:r>
              <a:rPr lang="en-US" sz="10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certified court order.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7.I HINDU MARRIAGE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Models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716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is selected before prerequisites and drives subsequent screens, payment timing and office tasks.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454396" cy="4480560"/>
          </a:xfrm>
          <a:prstGeom prst="roundRect">
            <a:avLst>
              <a:gd name="adj" fmla="val 1633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30552"/>
            <a:ext cx="4905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 Marriage — Online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56032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ONLINE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01752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/ Online activities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337560"/>
            <a:ext cx="49057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e-KYC / Face Authentication (Bride), eSign, Payment (post-approval), Tracking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48056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activities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800600"/>
            <a:ext cx="49057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DSC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77356" y="1874520"/>
            <a:ext cx="5454396" cy="4480560"/>
          </a:xfrm>
          <a:prstGeom prst="roundRect">
            <a:avLst>
              <a:gd name="adj" fmla="val 1633"/>
            </a:avLst>
          </a:prstGeom>
          <a:solidFill>
            <a:srgbClr val="EEF2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51676" y="2130552"/>
            <a:ext cx="4905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 Marriage — Offline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51676" y="256032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OFFLINE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551676" y="301752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/ Online activities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551676" y="3337560"/>
            <a:ext cx="49057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Payment, Appointment Booking, Printout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551676" y="448056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activities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51676" y="4800600"/>
            <a:ext cx="49057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Stage 1, SR → DEO allocation, Form upload, SR Stage 2, DSC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7.I.B.B PROCESS DIAGRAM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Hindu Marriage — Online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533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intake: LogOn → Start Application → Select Hindu Marriage Online → Prerequisite &amp; Declaration → Capture Marriage / Bride / Bridegroom / Witness details.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2064715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43254" y="181965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43254" y="1819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12064" y="2020824"/>
            <a:ext cx="1954987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e-KYC / Face Auth on Bride </a:t>
            </a:r>
            <a:r>
              <a:rPr lang="en-US" sz="900" dirty="0" smtClean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details, Witness, Support Documents upload, including joint photo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31059" y="241858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4" name="Shape 12"/>
          <p:cNvSpPr/>
          <p:nvPr/>
        </p:nvSpPr>
        <p:spPr>
          <a:xfrm>
            <a:off x="2759659" y="1965960"/>
            <a:ext cx="2064715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45713" y="181965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45713" y="1819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814523" y="2020824"/>
            <a:ext cx="1954987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SR office &amp; review summary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33518" y="241858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9" name="Shape 17"/>
          <p:cNvSpPr/>
          <p:nvPr/>
        </p:nvSpPr>
        <p:spPr>
          <a:xfrm>
            <a:off x="5062118" y="1965960"/>
            <a:ext cx="2064715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8172" y="181965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8172" y="1819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116982" y="2020824"/>
            <a:ext cx="1954987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Form I &amp; Form IA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35978" y="241858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4" name="Shape 22"/>
          <p:cNvSpPr/>
          <p:nvPr/>
        </p:nvSpPr>
        <p:spPr>
          <a:xfrm>
            <a:off x="7364578" y="1965960"/>
            <a:ext cx="2064715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50631" y="181965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50631" y="1819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419442" y="2020824"/>
            <a:ext cx="1954987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eSign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438437" y="241858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9" name="Shape 27"/>
          <p:cNvSpPr/>
          <p:nvPr/>
        </p:nvSpPr>
        <p:spPr>
          <a:xfrm>
            <a:off x="9667037" y="1965960"/>
            <a:ext cx="2064715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53090" y="181965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553090" y="1819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721901" y="2020824"/>
            <a:ext cx="1954987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Verification (Approve / Reject)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12724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→ returns to Marriage / Bride / Bridegroom / Witness details for correction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70332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31061" y="355701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631061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12064" y="375818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(post-approval)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106674" y="415594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39" name="Shape 37"/>
          <p:cNvSpPr/>
          <p:nvPr/>
        </p:nvSpPr>
        <p:spPr>
          <a:xfrm>
            <a:off x="3335274" y="370332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09135" y="355701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509135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3390138" y="375818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digitally signs (DSC)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984748" y="415594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44" name="Shape 42"/>
          <p:cNvSpPr/>
          <p:nvPr/>
        </p:nvSpPr>
        <p:spPr>
          <a:xfrm>
            <a:off x="6213348" y="370332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87209" y="355701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387209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6268212" y="375818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II endorsement applied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862822" y="415594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49" name="Shape 47"/>
          <p:cNvSpPr/>
          <p:nvPr/>
        </p:nvSpPr>
        <p:spPr>
          <a:xfrm>
            <a:off x="9091422" y="370332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265283" y="355701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0265283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9146286" y="375818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II-A certificate generated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5074920"/>
            <a:ext cx="11274552" cy="1234440"/>
          </a:xfrm>
          <a:prstGeom prst="roundRect">
            <a:avLst>
              <a:gd name="adj" fmla="val 5185"/>
            </a:avLst>
          </a:prstGeom>
          <a:solidFill>
            <a:srgbClr val="EEF2F8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85800" y="5193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685800" y="5468112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digital signature chain; single SR verification; payment only after SR approval; no printout, no appointment, no DEO involved.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7.I.B.C PROCESS DIAGRAM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Hindu Marriage — Offline (In Person)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1382" y="145389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51382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12064" y="1655064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Aadhaar? Y: e-KYC / Face Auth · N: manual entry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47316" y="20528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3" name="Shape 11"/>
          <p:cNvSpPr/>
          <p:nvPr/>
        </p:nvSpPr>
        <p:spPr>
          <a:xfrm>
            <a:off x="2375916" y="1600200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70098" y="145389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070098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430780" y="1655064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Verification — Stage 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66032" y="20528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8" name="Shape 16"/>
          <p:cNvSpPr/>
          <p:nvPr/>
        </p:nvSpPr>
        <p:spPr>
          <a:xfrm>
            <a:off x="4294632" y="1600200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88814" y="145389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88814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349496" y="1655064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+ appointment booking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84748" y="20528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3348" y="1600200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7530" y="145389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907530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268212" y="1655064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Printout: Form I / IA / II / II-A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903464" y="20528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8" name="Shape 26"/>
          <p:cNvSpPr/>
          <p:nvPr/>
        </p:nvSpPr>
        <p:spPr>
          <a:xfrm>
            <a:off x="8132064" y="1600200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26246" y="145389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826246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186928" y="1655064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allocates to DEO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822180" y="20528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0780" y="1600200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744962" y="145389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744962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0105644" y="1655064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&amp; witnesses sign physically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27614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at Stage 1 → returns to citizen data entry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333756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31061" y="319125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631061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12064" y="339242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 checks signatures &amp; uploads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106674" y="379018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43" name="Shape 41"/>
          <p:cNvSpPr/>
          <p:nvPr/>
        </p:nvSpPr>
        <p:spPr>
          <a:xfrm>
            <a:off x="3335274" y="333756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09135" y="319125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509135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3390138" y="339242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Verification — Stage 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984748" y="379018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48" name="Shape 46"/>
          <p:cNvSpPr/>
          <p:nvPr/>
        </p:nvSpPr>
        <p:spPr>
          <a:xfrm>
            <a:off x="6213348" y="333756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87209" y="319125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387209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6268212" y="339242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digitally signs (DSC)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862822" y="379018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53" name="Shape 51"/>
          <p:cNvSpPr/>
          <p:nvPr/>
        </p:nvSpPr>
        <p:spPr>
          <a:xfrm>
            <a:off x="9091422" y="333756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265283" y="319125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10265283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9146286" y="339242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certificate (Form II-A) issued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457200" y="44988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at Stage 2 → returns to DEO check / re-upload (not back to citizen)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7200" y="4937760"/>
            <a:ext cx="11274552" cy="1371600"/>
          </a:xfrm>
          <a:prstGeom prst="roundRect">
            <a:avLst>
              <a:gd name="adj" fmla="val 4667"/>
            </a:avLst>
          </a:prstGeom>
          <a:solidFill>
            <a:srgbClr val="EEF2F8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685800" y="5056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685800" y="5330952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SR verification stages (pre-payment data, post-upload signed forms); payment and appointment bundled after Stage 1; explicit SR → DEO allocation step; DEO checks and uploads signed physical forms before SR DSC.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7.II SPECIAL MARRIAGE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 Generation — Intended Marriage / Other Forms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533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Marriage already taken place? No → Intended Marriage Notice · Yes → Other Forms Notice (+ Enter Marriage Details). Both paths then share Prerequisite &amp; party capture.</a:t>
            </a:r>
            <a:endParaRPr lang="en-US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NOTICE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1680972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1382" y="200253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51382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12064" y="2203704"/>
            <a:ext cx="15712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e-KYC / Face Auth (Bride &amp; Bridegroom)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47316" y="255574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2375916" y="2148840"/>
            <a:ext cx="1680972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70098" y="200253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070098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430780" y="2203704"/>
            <a:ext cx="15712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 smtClean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Document </a:t>
            </a: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incl. photos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66032" y="255574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0" name="Shape 18"/>
          <p:cNvSpPr/>
          <p:nvPr/>
        </p:nvSpPr>
        <p:spPr>
          <a:xfrm>
            <a:off x="4294632" y="2148840"/>
            <a:ext cx="1680972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88814" y="200253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988814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349496" y="2203704"/>
            <a:ext cx="15712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Verification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84748" y="255574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3348" y="2148840"/>
            <a:ext cx="1680972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7530" y="200253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907530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268212" y="2203704"/>
            <a:ext cx="15712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Payment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903464" y="255574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30" name="Shape 28"/>
          <p:cNvSpPr/>
          <p:nvPr/>
        </p:nvSpPr>
        <p:spPr>
          <a:xfrm>
            <a:off x="8132064" y="2148840"/>
            <a:ext cx="1680972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26246" y="200253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826246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186928" y="2203704"/>
            <a:ext cx="15712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generated + eSign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822180" y="255574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50780" y="2148840"/>
            <a:ext cx="1680972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744962" y="200253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744962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0105644" y="2203704"/>
            <a:ext cx="15712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on portal — 30-day countdown starts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3364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NOTICE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3685032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51382" y="353872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151382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512064" y="3739896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Aadhaar? Y: e-KYC / Face Auth · N: manual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147316" y="4137660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45" name="Shape 43"/>
          <p:cNvSpPr/>
          <p:nvPr/>
        </p:nvSpPr>
        <p:spPr>
          <a:xfrm>
            <a:off x="2375916" y="3685032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70098" y="353872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3070098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2430780" y="3739896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066032" y="4137660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50" name="Shape 48"/>
          <p:cNvSpPr/>
          <p:nvPr/>
        </p:nvSpPr>
        <p:spPr>
          <a:xfrm>
            <a:off x="4294632" y="3685032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988814" y="353872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4988814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4349496" y="3739896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Verification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984748" y="4137660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55" name="Shape 53"/>
          <p:cNvSpPr/>
          <p:nvPr/>
        </p:nvSpPr>
        <p:spPr>
          <a:xfrm>
            <a:off x="6213348" y="3685032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07530" y="353872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907530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6268212" y="3739896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Payment + appointment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903464" y="4137660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60" name="Shape 58"/>
          <p:cNvSpPr/>
          <p:nvPr/>
        </p:nvSpPr>
        <p:spPr>
          <a:xfrm>
            <a:off x="8132064" y="3685032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26246" y="353872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8826246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8186928" y="3739896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generates notice, selects DEO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9822180" y="4137660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65" name="Shape 63"/>
          <p:cNvSpPr/>
          <p:nvPr/>
        </p:nvSpPr>
        <p:spPr>
          <a:xfrm>
            <a:off x="10050780" y="3685032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744962" y="353872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10744962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10105644" y="3739896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DEO: photo, print, sign, scan, upload; paste on notice board — 30-day countdown starts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457200" y="4892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rejection on either channel → returns to Prerequisite &amp; declaration for correction and resubmission.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57200" y="5303520"/>
            <a:ext cx="11274552" cy="1005840"/>
          </a:xfrm>
          <a:prstGeom prst="roundRect">
            <a:avLst>
              <a:gd name="adj" fmla="val 6364"/>
            </a:avLst>
          </a:prstGeom>
          <a:solidFill>
            <a:srgbClr val="EEF2F8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685800" y="54406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timestamp starts the statutory 30-day objection period (Sec. 7 / Sec. 16). Notice valid for registration when: Intended Marriage ≥ 30 and ≤ 90 days; Other Forms ≥ 30 days — with no valid objection.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7.III SPECIAL MARRIAGE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Marriage Registration — Post-Notice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53312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workflow for Intended Marriage and Other Forms after notice publication; path-specific timeline gate and certificate schedule.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1382" y="17282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51382" y="1728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12064" y="1929384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approved / published notice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47316" y="232714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4" name="Shape 12"/>
          <p:cNvSpPr/>
          <p:nvPr/>
        </p:nvSpPr>
        <p:spPr>
          <a:xfrm>
            <a:off x="2375916" y="1874520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70098" y="17282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070098" y="1728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430780" y="1929384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timeline (Intended ≥30–≤90d · Other Forms ≥30d)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66032" y="232714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9" name="Shape 17"/>
          <p:cNvSpPr/>
          <p:nvPr/>
        </p:nvSpPr>
        <p:spPr>
          <a:xfrm>
            <a:off x="4294632" y="1874520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8814" y="17282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988814" y="1728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349496" y="1929384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Objection? → SR enquiry if any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84748" y="232714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3348" y="1874520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7530" y="17282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07530" y="1728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268212" y="1929384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Payment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903464" y="232714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9" name="Shape 27"/>
          <p:cNvSpPr/>
          <p:nvPr/>
        </p:nvSpPr>
        <p:spPr>
          <a:xfrm>
            <a:off x="8132064" y="1874520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26246" y="17282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826246" y="1728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186928" y="1929384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visit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822180" y="232714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50780" y="1874520"/>
            <a:ext cx="16809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44962" y="17282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744962" y="1728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0105644" y="1929384"/>
            <a:ext cx="15712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Verification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3035808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objection → notice removed from portal (Objected); process stops for solemnization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611880"/>
            <a:ext cx="1680972" cy="1143000"/>
          </a:xfrm>
          <a:prstGeom prst="roundRect">
            <a:avLst>
              <a:gd name="adj" fmla="val 4800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51382" y="346557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151382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512064" y="3666744"/>
            <a:ext cx="15712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DEO: joint photo + witness capture (e-KYC / manual)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147316" y="41102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44" name="Shape 42"/>
          <p:cNvSpPr/>
          <p:nvPr/>
        </p:nvSpPr>
        <p:spPr>
          <a:xfrm>
            <a:off x="2375916" y="3611880"/>
            <a:ext cx="1680972" cy="1143000"/>
          </a:xfrm>
          <a:prstGeom prst="roundRect">
            <a:avLst>
              <a:gd name="adj" fmla="val 4800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70098" y="346557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3070098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2430780" y="3666744"/>
            <a:ext cx="15712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Generate, sign &amp; upload Declaration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066032" y="41102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49" name="Shape 47"/>
          <p:cNvSpPr/>
          <p:nvPr/>
        </p:nvSpPr>
        <p:spPr>
          <a:xfrm>
            <a:off x="4294632" y="3611880"/>
            <a:ext cx="1680972" cy="1143000"/>
          </a:xfrm>
          <a:prstGeom prst="roundRect">
            <a:avLst>
              <a:gd name="adj" fmla="val 4800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88814" y="346557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4988814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4349496" y="3666744"/>
            <a:ext cx="15712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 smtClean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Solemnization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984748" y="41102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54" name="Shape 52"/>
          <p:cNvSpPr/>
          <p:nvPr/>
        </p:nvSpPr>
        <p:spPr>
          <a:xfrm>
            <a:off x="6213348" y="3611880"/>
            <a:ext cx="1680972" cy="1143000"/>
          </a:xfrm>
          <a:prstGeom prst="roundRect">
            <a:avLst>
              <a:gd name="adj" fmla="val 4800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07530" y="346557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907530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6268212" y="3666744"/>
            <a:ext cx="15712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Certificate: 4th Schedule (Intended) / 5th Schedule (Other Forms)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903464" y="41102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59" name="Shape 57"/>
          <p:cNvSpPr/>
          <p:nvPr/>
        </p:nvSpPr>
        <p:spPr>
          <a:xfrm>
            <a:off x="8132064" y="3611880"/>
            <a:ext cx="1680972" cy="1143000"/>
          </a:xfrm>
          <a:prstGeom prst="roundRect">
            <a:avLst>
              <a:gd name="adj" fmla="val 4800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26246" y="346557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826246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8186928" y="3666744"/>
            <a:ext cx="15712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digital signature (DSC)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822180" y="41102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64" name="Shape 62"/>
          <p:cNvSpPr/>
          <p:nvPr/>
        </p:nvSpPr>
        <p:spPr>
          <a:xfrm>
            <a:off x="10050780" y="3611880"/>
            <a:ext cx="1680972" cy="1143000"/>
          </a:xfrm>
          <a:prstGeom prst="roundRect">
            <a:avLst>
              <a:gd name="adj" fmla="val 4800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744962" y="346557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0744962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10105644" y="3666744"/>
            <a:ext cx="15712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issued — download from portal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7200" y="5074920"/>
            <a:ext cx="11274552" cy="1234440"/>
          </a:xfrm>
          <a:prstGeom prst="roundRect">
            <a:avLst>
              <a:gd name="adj" fmla="val 5185"/>
            </a:avLst>
          </a:prstGeom>
          <a:solidFill>
            <a:srgbClr val="EEF2F8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685800" y="5193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685800" y="5468112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always completes In Person at the Sub-Registrar office — no fully-online registration channel. Rejection at SR verification returns to Schedule Visit.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7.IV PARSI MARRIAGE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Models &amp; Process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53312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 marriage already solemnized outside the portal by a Parsi priest per the ‘Ashirvad’ ceremony — Kaveri registers the already-certified marriage (priest-certified Schedule II certificate).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5454396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048256"/>
            <a:ext cx="49971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 Marriage — Online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359152"/>
            <a:ext cx="49971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e-KYC / Face Auth (Bride), upload priest-certified Schedule II certificate, eSign, Payment (post-approval) · Office: Verification, DSC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77356" y="1920240"/>
            <a:ext cx="5454396" cy="1234440"/>
          </a:xfrm>
          <a:prstGeom prst="roundRect">
            <a:avLst>
              <a:gd name="adj" fmla="val 5926"/>
            </a:avLst>
          </a:prstGeom>
          <a:solidFill>
            <a:srgbClr val="EEF2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05956" y="2048256"/>
            <a:ext cx="49971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 Marriage — Offline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05956" y="2359152"/>
            <a:ext cx="49971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Payment, Appointment Booking, Printout · Office: SR Stage 1, SR→DEO allocation, Certificate upload, SR Stage 2, DSC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383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— CONDENSED FLOW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2064715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43254" y="35570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343254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12064" y="3758184"/>
            <a:ext cx="195498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details + e-KYC (Bride); upload Schedule II </a:t>
            </a:r>
            <a:r>
              <a:rPr lang="en-US" sz="900" dirty="0" smtClean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certificate, supporting document upload, including joint photo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31059" y="41102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1" name="Shape 19"/>
          <p:cNvSpPr/>
          <p:nvPr/>
        </p:nvSpPr>
        <p:spPr>
          <a:xfrm>
            <a:off x="2759659" y="3703320"/>
            <a:ext cx="2064715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45713" y="35570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45713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814523" y="3758184"/>
            <a:ext cx="195498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SR </a:t>
            </a:r>
            <a:r>
              <a:rPr lang="en-US" sz="900" dirty="0" smtClean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33518" y="41102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6" name="Shape 24"/>
          <p:cNvSpPr/>
          <p:nvPr/>
        </p:nvSpPr>
        <p:spPr>
          <a:xfrm>
            <a:off x="5062118" y="3703320"/>
            <a:ext cx="2064715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8172" y="35570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94817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116982" y="3758184"/>
            <a:ext cx="195498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+ eSign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35978" y="41102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31" name="Shape 29"/>
          <p:cNvSpPr/>
          <p:nvPr/>
        </p:nvSpPr>
        <p:spPr>
          <a:xfrm>
            <a:off x="7364578" y="3703320"/>
            <a:ext cx="2064715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50631" y="35570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50631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419442" y="3758184"/>
            <a:ext cx="195498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</a:t>
            </a:r>
            <a:r>
              <a:rPr lang="en-US" sz="900" dirty="0" smtClean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438437" y="41102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36" name="Shape 34"/>
          <p:cNvSpPr/>
          <p:nvPr/>
        </p:nvSpPr>
        <p:spPr>
          <a:xfrm>
            <a:off x="9667037" y="3703320"/>
            <a:ext cx="2064715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553090" y="355701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553090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721901" y="3758184"/>
            <a:ext cx="195498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→ SR DSC → Register entry (Sec. 6/8) → Certificate issued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— CONDENSED FLOW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5148072"/>
            <a:ext cx="2064715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43254" y="500176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343254" y="5001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12064" y="5202936"/>
            <a:ext cx="195498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/ Aadhaar? Y: e-KYC · N: </a:t>
            </a: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supporting document upload, including joint photo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531059" y="5554980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46" name="Shape 44"/>
          <p:cNvSpPr/>
          <p:nvPr/>
        </p:nvSpPr>
        <p:spPr>
          <a:xfrm>
            <a:off x="2759659" y="5148072"/>
            <a:ext cx="2064715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45713" y="500176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3645713" y="5001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2814523" y="5202936"/>
            <a:ext cx="195498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Stage 1 → Payment + appointment → Printout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33518" y="5554980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51" name="Shape 49"/>
          <p:cNvSpPr/>
          <p:nvPr/>
        </p:nvSpPr>
        <p:spPr>
          <a:xfrm>
            <a:off x="5062118" y="5148072"/>
            <a:ext cx="2064715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48172" y="500176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948172" y="5001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5116982" y="5202936"/>
            <a:ext cx="195498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allocates DEO; physical signing at SRO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35978" y="5554980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56" name="Shape 54"/>
          <p:cNvSpPr/>
          <p:nvPr/>
        </p:nvSpPr>
        <p:spPr>
          <a:xfrm>
            <a:off x="7364578" y="5148072"/>
            <a:ext cx="2064715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50631" y="500176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250631" y="5001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7419442" y="5202936"/>
            <a:ext cx="195498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 uploads signed certificate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438437" y="5554980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61" name="Shape 59"/>
          <p:cNvSpPr/>
          <p:nvPr/>
        </p:nvSpPr>
        <p:spPr>
          <a:xfrm>
            <a:off x="9667037" y="5148072"/>
            <a:ext cx="2064715" cy="96012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553090" y="500176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10553090" y="5001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9721901" y="5202936"/>
            <a:ext cx="195498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Stage 2 → SR DSC → Register entry → Certificate issued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7.V MARRIAGE — NULL &amp; VOID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Endorsement on Court Order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workflow triggered when a competent court declares a registered marriage void (Sec. 11) or annuls a voidable marriage (Sec. 12). Initiated only on presentation of a certified court order copy — not from citizen self-service or automated checks.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31061" y="200253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31061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12064" y="220370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receives certified court order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06674" y="260146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4" name="Shape 12"/>
          <p:cNvSpPr/>
          <p:nvPr/>
        </p:nvSpPr>
        <p:spPr>
          <a:xfrm>
            <a:off x="3335274" y="214884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09135" y="200253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09135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390138" y="220370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searches &amp; opens registered marriage record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84748" y="260146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3348" y="214884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87209" y="200253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87209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268212" y="220370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verifies order particulars vs. register entry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862822" y="260146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4" name="Shape 22"/>
          <p:cNvSpPr/>
          <p:nvPr/>
        </p:nvSpPr>
        <p:spPr>
          <a:xfrm>
            <a:off x="9091422" y="214884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65283" y="200253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265283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146286" y="220370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uploads / scans court order copy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310128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stop if parties or registration number do not match the register entry.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31061" y="351129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631061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12064" y="371246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</a:t>
            </a:r>
            <a:r>
              <a:rPr lang="en-US" sz="900" dirty="0" smtClean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nullity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106674" y="41102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34" name="Shape 32"/>
          <p:cNvSpPr/>
          <p:nvPr/>
        </p:nvSpPr>
        <p:spPr>
          <a:xfrm>
            <a:off x="3335274" y="365760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09135" y="351129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509135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3390138" y="371246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flags registration Null &amp; Void (endorsement)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84748" y="41102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39" name="Shape 37"/>
          <p:cNvSpPr/>
          <p:nvPr/>
        </p:nvSpPr>
        <p:spPr>
          <a:xfrm>
            <a:off x="6213348" y="365760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87209" y="351129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387209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268212" y="371246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updates register + certificate status; Form II-A marked invalid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862822" y="4110228"/>
            <a:ext cx="219456" cy="146304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44" name="Shape 42"/>
          <p:cNvSpPr/>
          <p:nvPr/>
        </p:nvSpPr>
        <p:spPr>
          <a:xfrm>
            <a:off x="9091422" y="3657600"/>
            <a:ext cx="2640330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 w="9525">
            <a:solidFill>
              <a:srgbClr val="D7DE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265283" y="351129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0265283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9146286" y="3712464"/>
            <a:ext cx="25306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blocks clean extracts; audit trail recorded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4937760"/>
            <a:ext cx="11274552" cy="1371600"/>
          </a:xfrm>
          <a:prstGeom prst="roundRect">
            <a:avLst>
              <a:gd name="adj" fmla="val 4667"/>
            </a:avLst>
          </a:prstGeom>
          <a:solidFill>
            <a:srgbClr val="EEF2F8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85800" y="5056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685800" y="5330952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(In Person) at the SRO office only — no process diagram, step list is authoritative. Any subsequent certified extract reflects the Null and Void endorsement (Rule 8). Audit trail captures officer, timestamp, court order reference, and prior / new status.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7.VI WHAT IS NEW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Highlights </a:t>
            </a: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Kaveri 3.0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 |  BRD WALKTHROUGH  ·  KAVERI 3.0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" y="163677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3504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161848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Dual-channel services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207568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Marriage Notice now available Online and Offline.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2988" y="150876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9292" y="163677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79292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954780" y="161848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497580" y="207568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Authentication added on Online paths.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08776" y="150876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163677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55080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30568" y="161848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service — Parsi Marriage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373368" y="207568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registration (Online &amp; Offline) under the Parsi Marriage and Divorce Act, 1936 — not available in Kaveri 2.0.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84564" y="150876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30868" y="163677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30868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706356" y="161848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and Void endorsement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249156" y="207568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SRO back-office workflow to record a certified court order (HMA Sec. 11–12).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091940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" y="421995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03504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78992" y="4201668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address quality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21792" y="4658868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party/witness capture</a:t>
            </a:r>
            <a:r>
              <a:rPr lang="en-US" sz="1050" dirty="0" smtClean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of marriage in summary/reports; cross-reference search.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351276" y="4055364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497580" y="418338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497580" y="41833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3973068" y="416509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 smtClean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3515868" y="4622292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Kutumba portal, Civil Registration System, Labor Department.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27064" y="4055364"/>
            <a:ext cx="2647188" cy="2308860"/>
          </a:xfrm>
          <a:prstGeom prst="roundRect">
            <a:avLst>
              <a:gd name="adj" fmla="val 2772"/>
            </a:avLst>
          </a:prstGeom>
          <a:solidFill>
            <a:srgbClr val="EEF2F8"/>
          </a:solidFill>
          <a:ln/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373368" y="418338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373368" y="41833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7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848856" y="416509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experience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6391656" y="4622292"/>
            <a:ext cx="2336292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050" dirty="0" smtClean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UX4G design (</a:t>
            </a: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Better Digital Experiences for Every </a:t>
            </a:r>
            <a:r>
              <a:rPr lang="en-US" sz="1050" dirty="0" smtClean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</a:t>
            </a:r>
            <a:r>
              <a:rPr lang="en-US" sz="1050" dirty="0" smtClean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; Mobile-responsive ; 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1234440"/>
            <a:ext cx="731520" cy="731520"/>
          </a:xfrm>
          <a:prstGeom prst="ellipse">
            <a:avLst/>
          </a:prstGeom>
          <a:ln w="3175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1234440"/>
            <a:ext cx="731520" cy="731520"/>
          </a:xfrm>
          <a:prstGeom prst="ellipse">
            <a:avLst/>
          </a:prstGeom>
          <a:ln w="31750">
            <a:solidFill>
              <a:srgbClr val="E4C7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Registration Module — BRD Walkthrough  ·  Kaveri 3.0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(BA): Nandha Kumar     </a:t>
            </a: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  </a:t>
            </a:r>
            <a:r>
              <a:rPr lang="en-US" sz="12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Owner: </a:t>
            </a:r>
            <a:r>
              <a:rPr lang="en-US" sz="1200" dirty="0" smtClean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V Prashanth     </a:t>
            </a: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  </a:t>
            </a:r>
            <a:r>
              <a:rPr lang="en-US" sz="12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Expert: Prabhakar Naik &amp; Committee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ID: BRD-K3-MRG-001  ·  Version 3  ·  </a:t>
            </a:r>
            <a:r>
              <a:rPr lang="en-US" sz="1050" dirty="0" smtClean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07-09-2026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2946</TotalTime>
  <Words>3402</Words>
  <Application>Microsoft Office PowerPoint</Application>
  <PresentationFormat>Widescreen</PresentationFormat>
  <Paragraphs>539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Marriage Registration Module - BRD Walkthrough</dc:title>
  <dc:subject>PptxGenJS Presentation</dc:subject>
  <dc:creator>Kaveri 3.0 Programme</dc:creator>
  <cp:lastModifiedBy>Administrator</cp:lastModifiedBy>
  <cp:revision>17</cp:revision>
  <dcterms:created xsi:type="dcterms:W3CDTF">2026-09-04T13:34:01Z</dcterms:created>
  <dcterms:modified xsi:type="dcterms:W3CDTF">2026-09-07T05:44:28Z</dcterms:modified>
</cp:coreProperties>
</file>