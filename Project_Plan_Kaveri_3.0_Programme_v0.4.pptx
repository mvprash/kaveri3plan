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KAVERI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D4E8EF"/>
                </a:solidFill>
                <a:latin typeface="Calibri"/>
              </a:rPr>
              <a:t>Programme Delivery Plan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A8C5D0"/>
                </a:solidFill>
                <a:latin typeface="Calibri"/>
              </a:rPr>
              <a:t>Phase-wise SDLC  ·  11-month Go Live  ·  Data Migration from Kaveri 1.0 /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Department of Stamps &amp; Registration  |  Government of Karnataka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0E8E8"/>
                </a:solidFill>
                <a:latin typeface="Calibri"/>
              </a:rPr>
              <a:t>PLAN-K3-PROG-001  ·  Version 0.4 (Draft)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Steering review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2/14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1. Programme constraints &amp; objectives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2. Four delivery phases — scope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3. Master timeline &amp; Go Live dates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4. Phase 1 deep-dive (21 Oct 2026)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5. Phases 2–4 summary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6. SDLC stages per phase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7. IT Cell resources (39 posts)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8. Data migration from Kaveri 1.0 / 2.0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9. Governance, gates &amp; key risks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3"/>
                </a:solidFill>
                <a:latin typeface="Calibri"/>
              </a:rPr>
              <a:t>10. Decisions requested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Hard programme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Non-negotiables for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3/14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2651760" cy="2468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73152" cy="246888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44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6B7A"/>
                </a:solidFill>
                <a:latin typeface="Calibri"/>
              </a:rPr>
              <a:t>T0 —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17 August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BR schedule kick-off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Requirements window opens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651760" cy="2468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73152" cy="24688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44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26"/>
                </a:solidFill>
                <a:latin typeface="Calibri"/>
              </a:rPr>
              <a:t>Phase 1 Go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4592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3rd week of October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Target: 21 October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~9-week all-hands sprint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34440"/>
            <a:ext cx="2651760" cy="2468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234440"/>
            <a:ext cx="73152" cy="246888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44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6B7A"/>
                </a:solidFill>
                <a:latin typeface="Calibri"/>
              </a:rPr>
              <a:t>All modules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Within 11 months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End: 16 July 2027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Phase 4 GL: 14 July 2027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1234440"/>
            <a:ext cx="2651760" cy="24688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1234440"/>
            <a:ext cx="73152" cy="246888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344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7A4E"/>
                </a:solidFill>
                <a:latin typeface="Calibri"/>
              </a:rPr>
              <a:t>Data Migration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64592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Kaveri 1.0 + 2.0 in scope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Cutover with each phase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Exit report mandatory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3D5C"/>
                </a:solidFill>
                <a:latin typeface="Calibri"/>
              </a:rPr>
              <a:t>Implications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Phase 1 is the pathfinder — platform (User Mgmt, eKYC, eSign, Khajane, Scanning) ships first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Phases 2–4 run in parallel after 21 Oct with squad rebalance (8 Full Stack)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Phase 3 (Document Registration + EC + migration volume) is the critical path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No phase Go Live without Migration Exit Report + legacy freeze/delta cutover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Business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What success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4/14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943600"/>
                <a:gridCol w="466344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All modules live in 11 months; P1 by 3rd week Oct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P1 ≤ 21-10-2026; P4 ≤ 16-07-2027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Statutory compliance (Registration / Stamp Acts &amp; Rules)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Legal / Domain template &amp; fee lock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Shared platform once (identity, eKYC, eSign, Khajane, scan)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Reuse across phases — no duplicate stacks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Deliver within IT Cell capacity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39 posts — wave allocation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O5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e-Gov NFR 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GIGW, WCAG, STQC/security, HA/DR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O6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Migrate Kaveri 1.0/2.0 data safely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Reconcile + exit report per phase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Delivery phases —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Four releases; one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5/14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788920" cy="50292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2788920" cy="86868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21 Oct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Marriage (Online + Offline)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Certified Copies (CC)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User Management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eKYC · eSign · Khajane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Scanning · Marriage MIS/Dash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DM-P1 masters/users/marriage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43000"/>
            <a:ext cx="2788920" cy="50292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143000"/>
            <a:ext cx="2788920" cy="86868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234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16 Mar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19456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Stamp Duty Calculator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Guideline Value Calculator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Market Valuator (CVC)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GIS Valuation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E-Stamp templates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DM-P2 rate/guideline/CVC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2788920" cy="50292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143000"/>
            <a:ext cx="2788920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34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08 Jun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Document Registration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Encumbrance Search (EC)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Verify · PoA · DRO/IGRO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Document MIS / Dashboard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Filings · corrections · memo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DM-P3 books + EC indexes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143000"/>
            <a:ext cx="2788920" cy="50292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143000"/>
            <a:ext cx="2788920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234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4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14 Jul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94560"/>
            <a:ext cx="2514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Firm Registration (DRO)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Firm MIS / Dashboard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Firm audit views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Reuse Phase 1 platform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DM-P4 firm masters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Master timeline &amp; Go Live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17 Aug 2026 → 16 Jul 2027 (11 months)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6/14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219456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Go Live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 — Marriage +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24-08 → 26-09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25-08 → 03-10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22-09 → 14-10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21-10-2026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 — Calculators / Valuator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22-09 → 28-11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22-10 → 30-01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05-01 → 28-02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16-03-2027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 — Document + 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06-10 → 19-12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27-10 → 24-04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01-03 → 22-05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08-06-2027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4 — Firm Registration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16-02 → 28-03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30-03 → 13-06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18-05 → 04-07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14-07-2027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337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Key milestones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737360" cy="1417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737360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0233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Aug 17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T0 / BR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840480"/>
            <a:ext cx="1737360" cy="1417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3840480"/>
            <a:ext cx="1737360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40233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Oct 15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BR window 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1737360" cy="1417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840480"/>
            <a:ext cx="173736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40233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Oct 21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P1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1737360" cy="1417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1737360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0233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Mar 16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P2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840480"/>
            <a:ext cx="1737360" cy="1417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40480"/>
            <a:ext cx="1737360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0233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Jun 08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P3 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3840480"/>
            <a:ext cx="1737360" cy="1417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3840480"/>
            <a:ext cx="1737360" cy="109728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8128" y="40233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5C"/>
                </a:solidFill>
                <a:latin typeface="Calibri"/>
              </a:rPr>
              <a:t>Jul 14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P4 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Phase 1 deep-dive — Go Live 21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All-hands · ~9 weeks · pathfinder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7/14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577840" cy="2286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73152" cy="228600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7A4E"/>
                </a:solidFill>
                <a:latin typeface="Calibri"/>
              </a:rPr>
              <a:t>Must at cutover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Marriage Online (eSign) + Offline (DEO)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User Management (login, transfer, relieving)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eKYC · eSign · Khajane payment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Scanning spine · Marriage Dashboard &amp; MIS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CC MVP (after 05-Oct discussion)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DM-P1 data cutover (freeze 15–20 Oct)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577840" cy="2286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73152" cy="228600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6B7A"/>
                </a:solidFill>
                <a:latin typeface="Calibri"/>
              </a:rPr>
              <a:t>Build waves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W0 25-Aug–12-Sep: Platform + adapters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W1 08–26 Sep: Marriage Online path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W2 22-Sep–03-Oct: Offline + Scan + MIS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W3 06–14 Oct: CC MVP + UAT burn-down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Cutover 15–21 Oct: deploy + data + smoke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P1.1 to 15-Nov: Refund/Audit/MDM finish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3611880"/>
          <a:ext cx="1143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00400"/>
                <a:gridCol w="438912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SDLC stage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owners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BR (Marriage / User Mgmt first)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17-08 → 15-10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BA ×2, Domain, 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HLD + Tech Architecture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24-08 → 12-09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Architect, Tech Leads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Development (all 8 Full Stack)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25-08 → 03-10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FS, Integration, DBA, UI/UX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Testing / UAT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22-09 → 14-10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QA, Test Eng, Perf/Sec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Deploy + Go 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15-10 → 21-10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DevOps, Migration, Steering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Phases 2–4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After Phase 1 capacity rebalance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8/14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389120"/>
                <a:gridCol w="1828800"/>
                <a:gridCol w="1828800"/>
                <a:gridCol w="256032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 start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Go Live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Migration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Stamp/Guideline calculators, CVC, GIS, E-Stamp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22-10-2026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16-03-2027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DM-P2 rates &amp;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Document Registration, EC, DRO/IGRO, MIS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27-10-2026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08-06-2027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DM-P3 books + EC (largest)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Firm Registration (DRO)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30-03-2027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14-07-2027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DM-P4 firm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20040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3D5C"/>
                </a:solidFill>
                <a:latin typeface="Calibri"/>
              </a:rPr>
              <a:t>Execution notes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From 22 Oct: split squads — ~3–4 Full Stack on Phase 2; ~4–5 on Phase 3; Firm after P3 freeze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Phase 2 may use shadow compare vs As-Is calculators before hard cutover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Phase 3: pilot SRO(s) then statewide by Jun 2027; EC index pipeline starts Oct 2026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Phase 4 reuses Identity, payment, eSign, scanning, audit from Phase 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Legal: Stamp Act 1957 + CVC Rules 2003 (P2); Registration Act 1908 + Rules 1965 + Act 47/2024 (P3)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SDLC stages — every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Overlapping windows; gates before Go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9/14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1  Business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53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2801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2801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920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2  HLD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1353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2801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2801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920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3  Technical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1353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2801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79" y="12801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920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4  SDD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353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2801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12801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920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5  LLD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353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947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7947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6  Software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37947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06039" y="37947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4434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7  Software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9" y="37947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59" y="37947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199" y="4434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8  Software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199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79" y="37947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69479" y="3794760"/>
            <a:ext cx="21945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19" y="4434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9  Go 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3794760"/>
            <a:ext cx="2194560" cy="196596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01200" y="3794760"/>
            <a:ext cx="2194560" cy="4572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4434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10 Data Migration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IT Cell resources — 39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Source: K3_ITCellRequirement.pdf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10/14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589520"/>
                <a:gridCol w="13716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Leadership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PO, PM, Transition, Content, Security, DevOps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Architecture / Tech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Technical Architect, Technology Lead ×2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BA /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Business Analyst ×2, Domain 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Full Stack ×8, Integration, UI/UX, DBA, Migration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QA ×2, Test Engineers ×4, Perf &amp; Security Test Lead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BI &amp; Analytics, AI/ML Specialist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L2 Support Engineers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Capacity rule: All 8 Full Stack on Phase 1 until 21 Oct → then split P2 / P3 squads. Migration Specialist continuous from M1.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Primary bottleneck: Full Stack (8) and single Integration Engineer (Khajane → eSign → eKYC serialised).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migration — Kaveri 1.0 /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Continuous workstream §5A · MIG-K3-PROG-001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11/14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577840" cy="27432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73152" cy="274320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52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6B7A"/>
                </a:solidFill>
                <a:latin typeface="Calibri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Structured DB data from Kaveri 1.0 &amp; 2.0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Users, offices, masters, fee/receipt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Marriage, Document, EC indexes, 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Already-stored scans/PDFs (re-link)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2.0 = primary cutover; 1.0 = historical fill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577840" cy="27432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73152" cy="27432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52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26"/>
                </a:solidFill>
                <a:latin typeface="Calibri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Discover → Map → ETL → Dry-run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Reconcile → UAT on migrated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Freeze + Delta → Cutover → Hypercare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Idempotent pipelines + quarantine tables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Rollback: legacy read-only fallback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A78"/>
                </a:solidFill>
                <a:latin typeface="Calibri"/>
              </a:rPr>
              <a:t>Out of scope unless Steering promotes: paper digitisation backlog (#32), Accounts (#34), Mobile (#48)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0B3D5C"/>
                </a:solidFill>
                <a:latin typeface="Calibri"/>
              </a:rPr>
              <a:t>Gate: No phase Go Live without signed Migration Exit Report (counts, samples, Domain + PO + Security).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Migration packages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DM-P1 … DM-P4 must complete before respective Go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12/14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5760720"/>
                <a:gridCol w="2743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Package IDs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Must migrate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Cutover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DM-P1-01..06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Masters, users, marriage, images, fee refs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15–20 Oct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DM-P2-01..04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Stamp rates, guideline, CVC, GIS keys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With 16-03-2027 GL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DM-P3-01..07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Regn books, pendency, EC indexes, deed links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With 08-06-2027 GL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DM-P4-01..02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Firm masters, certificates, open amendments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3"/>
                          </a:solidFill>
                          <a:latin typeface="Calibri"/>
                        </a:rPr>
                        <a:t>With 14-07-2027 GL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52044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Calibri"/>
              </a:rPr>
              <a:t>Near-term migration milestones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05 Sep 2026 — Source inventory &amp; access pack complete (1.0 + 2.0)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20 Sep 2026 — Phase 1 field-mapping workbook frozen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05 Oct 2026 — Phase 1 ETL dry-run complete; UAT only on migrated data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20 Oct 2026 — DM-P1 Migration Exit Report signed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• Oct 2026 onward — Phase 3 EC index pipeline (largest volume) starts early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risks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Steering cadence: fortnightly in the 11-month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13/14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9728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649224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R-00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Phase 1 only ~9 weeks to 21 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All-hands FS; daily war-room; scope freeze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R-00b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P1 data migration incomplete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DM-P1 from 01-Sep; UAT on migrated data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R-01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Only 8 Full Stack for 4 phases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Squad waves; no parallel greenfield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R-02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Single Integration Engineer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Stub-first; Khajane→eSign→eKYC order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R-07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EC/register migration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EC pipeline from Oct; pilot SRO parity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R-08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Scope creep (mobile/paper/accounts)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3"/>
                          </a:solidFill>
                          <a:latin typeface="Calibri"/>
                        </a:rPr>
                        <a:t>Change board; equal swap-out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9377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3D5C"/>
                </a:solidFill>
                <a:latin typeface="Calibri"/>
              </a:rPr>
              <a:t>Go Live gate (every phase): RTM green · Legal lock · Migration Exit · Freeze/rollback · Security/Perf/DR · Training · Steering sign-off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Decisions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Approve plan v0.4 to proceed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Kaveri 3.0 Programme Plan v0.4  |  PLAN-K3-PROG-001  |  Confidential —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14/14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3"/>
                </a:solidFill>
                <a:latin typeface="Calibri"/>
              </a:rPr>
              <a:t>1.  Approve Phase 1 Go Live target — 21 October 2026 (3rd week of October)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3"/>
                </a:solidFill>
                <a:latin typeface="Calibri"/>
              </a:rPr>
              <a:t>2.  Approve 11-month programme end — all modules live by 14 July 2027 (≤ 16 July 2027)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3"/>
                </a:solidFill>
                <a:latin typeface="Calibri"/>
              </a:rPr>
              <a:t>3.  Approve four-phase scope (Marriage platform → Calculators → Document/EC → Firm)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3"/>
                </a:solidFill>
                <a:latin typeface="Calibri"/>
              </a:rPr>
              <a:t>4.  Approve Data Migration workstream from Kaveri 1.0/2.0 with mandatory exit reports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3"/>
                </a:solidFill>
                <a:latin typeface="Calibri"/>
              </a:rPr>
              <a:t>5.  Confirm IT Cell 39-post roster as delivery capacity baseline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3"/>
                </a:solidFill>
                <a:latin typeface="Calibri"/>
              </a:rPr>
              <a:t>6.  Authorise legacy write-freeze windows (Phase 1: 15–20 Oct 2026) via department circular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A78"/>
                </a:solidFill>
                <a:latin typeface="Calibri"/>
              </a:rPr>
              <a:t>Source: Project_Plan_Kaveri_3.0_Programme_v0.4.md / 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