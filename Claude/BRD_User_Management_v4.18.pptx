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Walkthrough of the User Management BRD v4.18 for the KAVERI 3.0 platform. All diagrams in this deck are the approved figures embedded in the BRD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User Master and one Role Master. Category drives the creation path, the authentication factors and the eligible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Steps: open registration and enter particulars; choose Username and check availability (FR-UM-062); enter email and mobile; two separate OTPs dispatched (FR-UM-063); enter both OTPs; select five security questions and answers (FR-UM-055); account created with Citizen role and answers stored hashed.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Captcha is validated before OTP dispatch for all categories (FR-UM-011). DSR and Other Department users add biometrics; DSR Officers then continue to post selection (FR-UM-052). A Citizen who cannot receive the OTP leaves login for the lost-mobile reset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Available only to Public users (Citizens). Failed answers and PIN entries are rate-limited; five failures lock the reset flow for thirty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keeps departmental authentication factors under departmental control and removes any pre-login route to redirect an officer's OTP.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Relieved occupancies and Transfer In occupancies before their Joining Date are excluded from the list (FR-UM-058, FR-UM-061, FR-UM-068). Additional charge is not offered during the login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Temporary in-office cover for the session, taken after login without logout and without a Transfer Order. At most one additional charge post at a time; selection, switch-back and reversion are all audit-logged.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Occupied includes active occupancies and reserved Transfer In occupancies (FR-UM-067). An occupancy with a recorded Relieving Date still counts as occupied until the midnight refresh job de-allocates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 Admin is a system-level actor outside the Role Master and Role–Module–Function mapping (FR-UM-051), and maintains all masters in this section. Maker-checker is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shading marks offices visible in the tree; a bold border marks posts the actor may actually relieve or Transfer In. Seeing a descendant office does not grant authority over the posts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optional End Date with a Deputation Reason covers time-bound deputations only; it is not a substitute for Transfer Out relieving (FR-UM-057). Biometrics capture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Stored in the same User Master with User Category = Other Department. Parent department and designation are captured; biometrics are mandatory; an authorisation letter or NOC is recommended but not mandatory to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Relieving Date and Relieving Order are mandatory. If a reserved Transfer In activates in the same job run the occupied count is unchanged; otherwise it decreases by one. An officer left with no occupancies has login blocked or limited per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 / Reporting Order and Joining Date are mandatory. The incoming officer cannot log in under that post before 12:00 AM IST on the Joining Date (FR-UM-061); the midnight job activates the reserved occupancy that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a District Registrar records Leave for the Sub-Registrar of SRO Yeshwanthapura and gives temporary charge to the Sub-Registrar of SRO Jayanagar. The cover officer sees a Temporary charge row at post selection and receives the covered post's claims when it is chosen. Distinct from FR-UM-053 additional charge, which requires Occupied = 0. Full HRMS leave balances and payroll are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B3C"/>
                </a:solidFill>
                <a:latin typeface="Segoe UI"/>
              </a:rPr>
              <a:t>KAVERI 3.0  ·  DEPARTMENT OF STAMPS AND REGISTRATION, GOVERNMENT OF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9EC4E4"/>
                </a:solidFill>
                <a:latin typeface="Segoe UI"/>
              </a:rPr>
              <a:t>User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40480"/>
            <a:ext cx="19202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8D7E6"/>
                </a:solidFill>
                <a:latin typeface="Segoe UI"/>
              </a:rPr>
              <a:t>Identity  ·  Passwordless authentication  ·  Sanctioned post occupancy  ·  RBAC  ·  Officer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9BCCE"/>
                </a:solidFill>
                <a:latin typeface="Segoe UI"/>
              </a:rPr>
              <a:t>Document BRD-K3-UM-001   |   Version 4.18   |   04 September 2026
Author: Nandha Kumar (Business Analyst)   |   Status: In review — pending Domain Expert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 walkthrough of BRD-K3-UM-001 v4.18. Every process diagram shown is the approved figure embedded in the BRD; the editable .drawio sources sit under ProcessDiagrams/User_Management.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1.  </a:t>
            </a:r>
            <a:r>
              <a:rPr sz="1600">
                <a:solidFill>
                  <a:srgbClr val="1F2A37"/>
                </a:solidFill>
                <a:latin typeface="Segoe UI"/>
              </a:rPr>
              <a:t>Introduction, scope and business objectives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2.  </a:t>
            </a:r>
            <a:r>
              <a:rPr sz="1600">
                <a:solidFill>
                  <a:srgbClr val="1F2A37"/>
                </a:solidFill>
                <a:latin typeface="Segoe UI"/>
              </a:rPr>
              <a:t>Identity and passwordless authentication — Citizens, DSR Officers, Other Department users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3.  </a:t>
            </a:r>
            <a:r>
              <a:rPr sz="1600">
                <a:solidFill>
                  <a:srgbClr val="1F2A37"/>
                </a:solidFill>
                <a:latin typeface="Segoe UI"/>
              </a:rPr>
              <a:t>Posts, roles and role-based access control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4.  </a:t>
            </a:r>
            <a:r>
              <a:rPr sz="1600">
                <a:solidFill>
                  <a:srgbClr val="1F2A37"/>
                </a:solidFill>
                <a:latin typeface="Segoe UI"/>
              </a:rPr>
              <a:t>DSR Officer lifecycle — creation, transfer, occupancy and temporary absence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5.  </a:t>
            </a:r>
            <a:r>
              <a:rPr sz="1600">
                <a:solidFill>
                  <a:srgbClr val="1F2A37"/>
                </a:solidFill>
                <a:latin typeface="Segoe UI"/>
              </a:rPr>
              <a:t>Non-functional requirements, reporting, acceptance and sign-off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BRD-K3-UM-001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Document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8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1612"/>
                <a:gridCol w="8316226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Document ID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BRD-K3-UM-001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4.18  (04 September 2026)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 review — pending Domain Expert sign-off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 Management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Author (BA)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Nandha Kumar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Product Owner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Prashanth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Domain expert / reviewer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Prabhakar Naik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Target audience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Cell, Department of Stamps and Registration, Government of Karnataka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Legal basis (primary)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Information Technology Act 2000; Indian Registration Act 1908; Aadhaar Act 2016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State rules (primary)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Karnataka e-Governance hosting and security norms; MeitY / CERT-In / STQC / GIGW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151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84048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Why the module exists, what it replaces, and where its boundaries 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1.1 –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Purpose and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Defines the business requirements for the KAVERI 3.0 User Management module.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Covers identity, passwordless authentication, sanctioned post occupancy, RBAC and officer lifecycle.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Applies to Citizens, DSR Officers and Other Department users.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Is the agreed basis for design, development, testing and sign-off.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KAVERI 3.0 needs one platform service for users, roles, posts and module access.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Replaces fragmented Kaveri 2.0 user administration.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One User Master and one Role Master — no separate stores per category.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OTP-only login with no passwords; post-based DSR access; Application Admin maintains privilege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In scope for the User Management module: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User registration and profile management for Citizens, DSR Officers and Other Department users (single User Master).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Passwordless authentication, session policy, Citizen lost-mobile reset, DSR post selection and additional charge (§6.2–6.5).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Unified Role Master; Posts and Sanctioned Posts masters; office and officer hierarchies; RBAC via Module, Function and Resource mapping (§6.5).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DSR lifecycle: post assignment, Transfer Out / In, occupancy refresh, Temporary Absence and Temporary Charge (§6.6).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Administrative user management, audit logging and reporting (§6.7–8).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Business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 secure and reliable mechanism for users to register and access the system.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Enable administrators to manage user accounts and access rights efficiently.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Enforce role-based access control to protect sensitive data and functionality.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Maintain the DSR Officer Hierarchy Master aligned to the departmental organisation chart.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Support Module Function and Resource masters with Role–Module–Function mapping and runtime enforcement.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Reduce support overhead on account access issues through reliable OTP delivery.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Ensure compliance with organisational security and data privacy policies.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auditability of user actions for security and compliance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SCALE OF THE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module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Functional requirements, FR-UM-001 to FR-UM-084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9111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9111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0279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User categories in a single User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1295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295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2463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Approved process and structure 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3479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3479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4647" y="2048256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647" y="2761488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Business modules under the Module Master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Posts in the Posts Master across 8 divisions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9111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9111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0279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0279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Passwords stored — OTP-only authentication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1295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1295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2463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2463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Non-functional requirements across 6 categories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3479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3479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4647" y="4114800"/>
            <a:ext cx="21289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7 yrs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647" y="4828032"/>
            <a:ext cx="212895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Minimum audit-log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C6B7B"/>
                </a:solidFill>
                <a:latin typeface="Segoe UI"/>
              </a:rPr>
              <a:t>Counts taken from BRD v4.18. Detailed requirement text remains authoritative in Section 6 of the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8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7161"/>
                <a:gridCol w="2376064"/>
                <a:gridCol w="5574613"/>
              </a:tblGrid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 / Role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Department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Engineering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Reviews technical feasibility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Citizens (Public users)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External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Self-register and access citizen portal services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Officers &amp; Other Department users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Government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Access departmental modules via OTP + biometrics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Prashanth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Product Owner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Owns scope and signs off UAT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Prabhakar Naik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Domain Expert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Confirms departmental rules, hierarchies and role mapping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151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Identity and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84048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One User Master, three categories, and no passwords anywhere in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Three user categories, one User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Differentiation is by User Category on users and Role Category on roles — there are no separate masters per category.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6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2122"/>
                <a:gridCol w="2447226"/>
                <a:gridCol w="3262968"/>
                <a:gridCol w="3625520"/>
              </a:tblGrid>
              <a:tr h="9144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category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Lost-mobile reset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Public (Citizen)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Preferred Username chosen at registration (FR-UM-062)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Self-service: 3 of 5 security questions + PIN to registered email + OTP to new mobile (FR-UM-056)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KGID (FR-UM-062, FR-UM-064)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(KGID) + Captcha + OTP to mobile + Biometrics, then post selection (FR-UM-052)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Not available — administrator changes the mobile with reason and audit (FR-UM-065)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Other Department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KGID (FR-UM-062, FR-UM-064)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(KGID) + Captcha + OTP to mobile + Biometrics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Not available — administrator changes the mobile with reason and audit (FR-UM-065)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How identity resolves to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S-01 Access Model   ·   FR-UM-004, FR-UM-009, FR-UM-029, FR-UM-034, FR-UM-052, FR-UM-062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6674" y="1828800"/>
            <a:ext cx="9278346" cy="3721607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1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538" y="1883664"/>
            <a:ext cx="9168618" cy="36118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Citizens hold a Citizen role; Other Department users hold exactly one role; DSR Officers derive roles from post occupancy via Post–Role mapping.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Username is the single unique login identifier across the whole User Master — email and mobile carry no uniqueness constraint.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self-registration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P-01 Citizen Self-Registration   ·   FR-UM-001, FR-UM-055, FR-UM-062, FR-UM-063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15236"/>
            <a:ext cx="11167567" cy="314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1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70100"/>
            <a:ext cx="11057839" cy="30390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Instant self-registration with no approval workflow; the citizen chooses their own Username, checked for availability across the entire User Master.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Email and mobile are each verified by a separate OTP before the account is created; five security questions are captured for lost-mobile reset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Login across all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P-02 Login — All User Categories   ·   FR-UM-004–FR-UM-007, FR-UM-010, FR-UM-011, FR-UM-062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0776" y="1828800"/>
            <a:ext cx="8730143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2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40" y="1883664"/>
            <a:ext cx="8620415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account resolves from the Username alone, so no category selection is needed at the login screen.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login OTP is never emailed — it is sent only by SMS to the registered mobile (FR-UM-010).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lost-mobile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P-03 Citizen Lost-Mobile Reset   ·   FR-UM-056 — three of five questions plus a PIN to the registered email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276351"/>
            <a:ext cx="11167567" cy="282650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3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31215"/>
            <a:ext cx="11057839" cy="27167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Two independent proofs are required before the mobile may be changed: three randomly selected security questions and a single-use PIN sent to the registered email.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new mobile number is itself OTP-verified before the change takes effect; the completed change is notified to the email and audit-logged.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Departmental mobile change — administrator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P-04 Departmental Mobile Change   ·   FR-UM-065 — no self-service path for departmental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851142"/>
            <a:ext cx="11167567" cy="3676924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4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06006"/>
            <a:ext cx="11057839" cy="35671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DSR Officers and Other Department users hold no security questions and are never offered the FR-UM-056 reset path.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An authorised administrator records a mandatory reason; the new number is OTP-verified and the change is audit-logged and notified on official email.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FR-UM-069 – FR-UM-076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OTP and session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Applies to every user category. The 15-minute idle timeout matters most on shared SRO counter machines, where the session post is fixed for the whole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8548"/>
                <a:gridCol w="6031548"/>
                <a:gridCol w="1827741"/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Login OTP validity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minutes from dispatch (IST)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Registration OTP / reset PIN validity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 minutes from dispatch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Code length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6 numeric digits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Incorrect entries per code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Maximum 3, then the code is invalidated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FR-UM-071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Resend cooldown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30 seconds; maximum 3 resends per channel per 15 minutes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Failed-login lockout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failures lock the Username for 15 minutes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FR-UM-073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Idle timeout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15 minutes of inactivity ends the session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Absolute session limit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8 hours from login, even if the user is active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FR-UM-075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Concurrent sessions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One per Username — last login wins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FR-UM-076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151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Posts, Roles and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84048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Access follows the post an officer occupies — not a privilege attached to the person.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post selection at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P-05 DSR Login Post Selection   ·   FR-UM-052 — mandatory when more than one occupancy is active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13701"/>
            <a:ext cx="11167567" cy="3551805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5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8565"/>
            <a:ext cx="11057839" cy="34420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One active occupancy auto-selects and skips the screen; two or more force a mandatory choice labelled Role — Post Name — Office Name (Office Code).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Claims derive from the selected post only via Post–Role mapping — never from the union of other posts the officer holds.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Additional charge of an unoccupied subordinate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P-06 Additional Charge After Login   ·   FR-UM-053, FR-UM-054 — post-login, same office, no order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12864"/>
            <a:ext cx="11167567" cy="3553479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6_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7728"/>
            <a:ext cx="11057839" cy="34437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 subordinate post qualifies only when it is wholly unoccupied at that office (Occupied = 0); any occupant blocks both the post and the cascade beneath it.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While additional charge is active, privileges come from that post alone — a Sub-Registrar acting as FDA loses SR signing until switch-back.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Two distinct vacancy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S-02 Two Vacancy Tests   ·   FR-UM-066(a) available capacity  vs  FR-UM-066(b) wholly unoccupied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6133" y="1828800"/>
            <a:ext cx="9139428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2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997" y="1883664"/>
            <a:ext cx="9029700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Available capacity (Occupied &lt; Sanctioned Strength) governs post assignment at user creation and Transfer In.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Wholly unoccupied (Occupied = 0) governs additional charge only — a post with strength 2 and one occupant has capacity but is not unoccupied.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6.5.3 – 6.5.4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Role Master — DSR roles by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Divisions come from the Division Master, not free text. Role names must be unique — FDA (Admin) and FDA (Enforcement) are distinct roles, never a shared FDA.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8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6064"/>
                <a:gridCol w="8681774"/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Division (FR-UM-077)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Roles under Role Category = DSR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Secretariat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ACS / Principal Secretary / Secretary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Top Management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IGR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Admin, Law &amp; Computers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(Admin, Law &amp; Computers), AIGR (Admin), HQA (Admin), Sub Registrar (Admin), FDA (Admin), SDA (Admin), Typist (Admin), HQA (RTI), FDA (RTI), SDA (RTI), Statistical Inspector, Accountant Superintendent (Admin)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Vigilance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(Vigilance), Law Officer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Computers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AIGR (Computers), System Integrator, PMU, Application Developer, HQA / Project Manager (Comp), Sub Registrar (Computers), FDA (Computers), SDA (Computers)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Enforcement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(Enforcement), DRO, HQA (Enforcement), Sub-Registrar (SR), FDA (Enforcement), SDA (Enforcement), DEO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Intelligence &amp; Audit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(Intelligence), AIGR (Audit), HQA (Audit), Superintendent (Audit), FDA (Audit), SDA (Audit), Typist (Audit)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CVC, JD Town Planning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privilege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Access is modelled as User → Role(s) → Module Function(s) → Resource(s). DSR organisational roles are never named after application services.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096"/>
                <a:gridCol w="2376064"/>
                <a:gridCol w="2010516"/>
                <a:gridCol w="5940161"/>
              </a:tblGrid>
              <a:tr h="7863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Master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Maintained by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Master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Business modules — Registration of Documents, Marriage Registration, Encumbrance Search, Certified Copy, Stamp Duty / Payments, Firm / Society Registration, User Management, MIS / Dashboards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Function Master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Functions under each module — VIEW, ADD, EDIT, APPROVE, SIGN, PRINT, APPLY, ISSUE,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Resource Master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APIs and URLs linked to each Module Function, with an Is Public flag for unauthenticated endpoints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Which roles may perform which Module Functions; role names must match the Role Master exactly (FR-UM-050)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Runtime access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S-03 Runtime Enforcement   ·   FR-UM-038, FR-UM-041, FR-UM-050, FR-UM-051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60361"/>
            <a:ext cx="11167567" cy="3058485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3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15225"/>
            <a:ext cx="11057839" cy="29487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Every API or URL request is matched against the Resource Master and the session's Role–Module–Function claims.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Deny by default — an unmatched request returns HTTP 403 and the attempt is audited. Only resources flagged Is Public bypass authentication.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S-04 Officer Hierarchy Tree   ·   FR-UM-043 — each post's immediate parent drives relieving and Transfer In authority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2569" y="1828800"/>
            <a:ext cx="8426556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4_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433" y="1883664"/>
            <a:ext cx="8316828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Authority is granted by immediate parentage only: IGR may act on DIGR, DIGR (Enforcement) on DRO, DRO on Sub-Registrar, SR on FDA and DEO.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Seeing a post lower in the tree does not confer authority over it — IGR cannot relieve a Sub-Registrar directly.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S-05 Office Hierarchy Tree   ·   FR-UM-059 — MS Building → IGR Head Office → District Registrar Offices → Sub-Registrar Offices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294127"/>
            <a:ext cx="11167567" cy="3101849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5_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8991"/>
            <a:ext cx="11057839" cy="29921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Maintained separately from the Officer Hierarchy; it scopes which offices a superior can see for Transfer Out and Transfer 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6.5.8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span is visibility, not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S-06 Span vs Action   ·   FR-UM-057, FR-UM-059, FR-UM-043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7149" y="1828800"/>
            <a:ext cx="6597396" cy="4032503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-06_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013" y="1883664"/>
            <a:ext cx="6487668" cy="3922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Both tests must pass: the target office must fall in the actor's office span, and the actor's session Post must be the immediate parent of the target Post.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151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Officer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84048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Creation, transfer, the midnight occupancy refresh, and temporary absence.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creation with post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P-07 DSR Officer User Creation   ·   FR-UM-017, FR-UM-030, FR-UM-045–048, FR-UM-062, FR-UM-066(a)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69202"/>
            <a:ext cx="11167567" cy="3440803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7_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4066"/>
            <a:ext cx="11057839" cy="3331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KGID is entered first because it becomes the Username; at least one sanctioned post with available capacity must be assigned or the save is blocked.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Roles are shown through Post–Role mapping — there is no Primary/Secondary model, and no security questions are captured for this category.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Other Department user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P-08 Other Department User Creation   ·   FR-UM-029, FR-UM-033, FR-UM-034, FR-UM-062, FR-UM-064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869629"/>
            <a:ext cx="11167567" cy="363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8_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4493"/>
            <a:ext cx="11057839" cy="3530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Exactly one role is selected from the Role Master filtered to Role Category = Other Department; no role means no save.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An optional Account End Date deactivates the user and blocks login on that date, with an audit entry.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Out and relieving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P-09 Transfer Out / Relieving   ·   FR-UM-057, FR-UM-058, FR-UM-059, FR-UM-043, FR-UM-067, FR-UM-068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18305"/>
            <a:ext cx="11167567" cy="3542597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09_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73169"/>
            <a:ext cx="11057839" cy="34328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superior sees only offices in their office span, and within those only occupancies where their session Post is the immediate parent.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occupancy stays active until 23:59 IST of the Relieving Date; the midnight job then de-allocates it and adjusts the occupied count.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P-10 Transfer In   ·   FR-UM-060, FR-UM-061, FR-UM-066(a), FR-UM-067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5657" y="1828800"/>
            <a:ext cx="9940381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10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21" y="1883664"/>
            <a:ext cx="9830653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 post with available capacity is selectable without any prior relieving; a post at full strength may receive a future-dated Transfer In only when relieving is already recorded.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Recording it reserves capacity immediately, so a second Transfer In cannot take the same slot.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Worked example — handover with reservation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P-12 Handover Timeline   ·   DRO Bengaluru → SRO Yeshwanthapura, 31-Aug to 01-Sep-2026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747785"/>
            <a:ext cx="11167567" cy="188363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12_imag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02649"/>
            <a:ext cx="11057839" cy="17739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Relieving on 31-Aug and Transfer In joining 01-Sep coexist: capacity is reserved on the day the Transfer In is recorded, and the occupied count stays at 1 throughout.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IGR at Head Office cannot perform this Transfer In, because Sub-Registrar does not report immediately to IGR.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midnight occupancy refresh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P-11 Occupancy Refresh Job   ·   FR-UM-068 — idempotent, runs shortly after 12:00 AM 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0648" y="1828800"/>
            <a:ext cx="10370399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11_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12" y="1883664"/>
            <a:ext cx="10260671" cy="3611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Occupancy changes must not wait for a user to log in: relieving, End Dates and reserved Transfer In activations all take effect on the correct calendar day.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The job recalculates occupied counts and the wholly-unoccupied flag, refreshes login post selection, writes an audit record, and alerts on failure.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6.6.6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Temporary absence — Leave, OOD and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P-13 Temporary Absence and Temporary Charge   ·   FR-UM-079 – FR-UM-084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28191"/>
            <a:ext cx="11167567" cy="352282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-13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83055"/>
            <a:ext cx="11057839" cy="34130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86984"/>
            <a:ext cx="1105783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Absence is recorded by the hierarchy superior only and does not free the slot — Occupied is unchanged and Transfer In must not treat the post as vacant.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200">
                <a:solidFill>
                  <a:srgbClr val="1F2A37"/>
                </a:solidFill>
                <a:latin typeface="Segoe UI"/>
              </a:rPr>
              <a:t>While an effective absence exists the officer's login is blocked entirely; the superior may assign temporary charge to a peer under them, including at another office.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2615184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Quality, Reporting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384048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Non-functional requirements, reports, acceptance criteria and open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7 — 24 REQUIREMENTS ACROSS 6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SECURITY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No password storage anywhere; the login OTP goes only to the registered mobile.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TLS 1.2 or higher for all data in transit; biometric handling complies with the Aadhaar Act 2016 and UIDAI guidelines.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Security-question answers stored hashed, never displayed, never entered by an administrator.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OTP dispatch within 5 seconds; authentication completes within 2 seconds after verification.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Minimum 500 concurrent authenticated sessions at launch, validated in performance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AVAILABILITY, AUDIT AND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The occupancy refresh job completes before the first login of the day; failure raises an operational alert.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Disaster recovery targets RPO ≤ 24 hours and RTO ≤ 4 hours.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All create, update, delete, login, recovery, access-control and transfer actions logged with timestamp and actor.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Audit logs retained for at least 7 years unless a longer DSR records-retention rule applies.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Bilingual Kannada and English citizen UI, GIGW accessibility, data residency in India, DPDP Act 2023 compliance.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Reporting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Active, inactive and suspended users; role and permission assignments across all users.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Audit log of login attempts, successful and failed, over a selected date range.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Sanctioned post occupancy — sanctioned strength, occupied count, remaining capacity and wholly-unoccupied flag per office (FR-UM-066).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Role-to-Module mapping showing which modules and functions each role holds.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 single contact-change and recovery report covering Citizen lost-mobile recovery, administrator-initiated mobile changes and email changes.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Additional charge report (FR-UM-053) and Temporary Absence / Temporary Charge report (FR-UM-079–084).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Occupancy-refresh report per midnight run, with before and after occupied counts (FR-UM-068).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Transfer Out / Transfer In history and officer posting / service history.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Accepted when Section 6 is implemented and passes QA including these UAT scenarios, Section 7 is verified, the Product Owner signs off UAT, and security review closes with no critical or high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FR-UM-052  </a:t>
            </a:r>
            <a:r>
              <a:rPr sz="1350">
                <a:solidFill>
                  <a:srgbClr val="1F2A37"/>
                </a:solidFill>
                <a:latin typeface="Segoe UI"/>
              </a:rPr>
              <a:t>an officer with two occupancies must choose a post before home; a single occupancy auto-selects.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FR-UM-053  </a:t>
            </a:r>
            <a:r>
              <a:rPr sz="1350">
                <a:solidFill>
                  <a:srgbClr val="1F2A37"/>
                </a:solidFill>
                <a:latin typeface="Segoe UI"/>
              </a:rPr>
              <a:t>additional charge lists only wholly unoccupied posts at the same office; privileges switch until switch-back.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FR-UM-058 / 068  </a:t>
            </a:r>
            <a:r>
              <a:rPr sz="1350">
                <a:solidFill>
                  <a:srgbClr val="1F2A37"/>
                </a:solidFill>
                <a:latin typeface="Segoe UI"/>
              </a:rPr>
              <a:t>relieving holds through 23:59 IST of the Relieving Date; the midnight job then de-allocates and updates 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FR-UM-061 / 067  </a:t>
            </a:r>
            <a:r>
              <a:rPr sz="1350">
                <a:solidFill>
                  <a:srgbClr val="1F2A37"/>
                </a:solidFill>
                <a:latin typeface="Segoe UI"/>
              </a:rPr>
              <a:t>future-dated Transfer In against a full post requires recorded relieving; login is blocked until the Joining 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FR-UM-069–076  </a:t>
            </a:r>
            <a:r>
              <a:rPr sz="1350">
                <a:solidFill>
                  <a:srgbClr val="1F2A37"/>
                </a:solidFill>
                <a:latin typeface="Segoe UI"/>
              </a:rPr>
              <a:t>OTP validity, code length, lockout, idle timeout, 8-hour session cap and single active session all enforced.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FR-UM-079–084  </a:t>
            </a:r>
            <a:r>
              <a:rPr sz="1350">
                <a:solidFill>
                  <a:srgbClr val="1F2A37"/>
                </a:solidFill>
                <a:latin typeface="Segoe UI"/>
              </a:rPr>
              <a:t>absence blocks login, keeps Occupied unchanged, and temporary charge appears for the cover officer until the to_date.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Role mapping  </a:t>
            </a:r>
            <a:r>
              <a:rPr sz="1350">
                <a:solidFill>
                  <a:srgbClr val="1F2A37"/>
                </a:solidFill>
                <a:latin typeface="Segoe UI"/>
              </a:rPr>
              <a:t>Role–Module–Function mapping completed and Domain Expert confirmed for every active role and module before go-live.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10 — 24 RISKS LOGGED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Key risks and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7" cy="4535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5483"/>
                <a:gridCol w="913870"/>
                <a:gridCol w="6488484"/>
              </a:tblGrid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 marL="91440" marR="91440" marT="45720" marB="45720" anchor="ctr"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 incomplete at go-live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Only a handful of roles have seeded mappings; Application Admin with Domain Expert sign-off must complete the matrix for every active role and module.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Unauthorised relieving or Transfer In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Scope to offices under the actor (FR-UM-059), then immediate-parent posts only (FR-UM-043, FR-UM-057).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Vacancy tests confused in build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FR-UM-066 defines available capacity and wholly unoccupied separately; additional charge uses Occupied = 0.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Double-booking a full post during handover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FR-UM-067 reserves capacity when relieving is recorded, so a second Transfer In cannot take the slot.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Leave / OOD treated as a vacancy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FR-UM-081 keeps Occupied; temporary charge is superior-assigned and distinct from FR-UM-053.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Account takeover via lost-mobile reset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Two independent proofs, OTP verification of the new number, rate limiting, email notification and audit.</a:t>
                      </a:r>
                    </a:p>
                  </a:txBody>
                  <a:tcPr marL="91440" marR="91440" marT="36576" marB="36576" anchor="ctr">
                    <a:solidFill>
                      <a:srgbClr val="F2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Re-authentication may slow high-volume SRO counters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Measure end-to-end re-authentication time in performance testing with Kaveri IT Cell.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Approval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Signatories: Prashanth (Product Owner) · Prabhakar Naik (Domain Expert) · Kaveri IT Cell Lead (IT Security /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Domain Expert review of the officer hierarchy, office hierarchy and Post–Role mapping seed data.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Application Admin to complete Role–Module–Function mapping for every active role and module before go-live.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Department to confirm the PII retention and purge policy for dormant Citizen accounts.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Performance testing with Kaveri IT Cell to validate peak-load and re-authentication timings at SRO counters.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Product Owner sign-off on UAT, then baseline the BRD for design and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14416"/>
            <a:ext cx="11057839" cy="60350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760720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Source of record: BRD_User_Management_v4.18.docx  ·  Editable diagram sources: ProcessDiagrams/User_Management/*.drawio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