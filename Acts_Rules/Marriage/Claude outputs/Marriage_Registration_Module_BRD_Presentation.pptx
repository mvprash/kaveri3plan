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023360" cy="402336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ln w="31750">
            <a:solidFill>
              <a:srgbClr val="E4C7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3.0  ·  DEPARTMENT OF STAMPS AND REGISTRATION, GOVERNMENT OF KARNATAKA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Marriage Registration Module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 — Executive Walkthrough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· Special Marriage (Intended / Other Forms) · Parsi Marriage · Null &amp; Void Endorsement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ID: BRD-K3-MRG-001</a:t>
            </a:r>
            <a:pPr algn="ctr"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</a:t>
            </a:r>
            <a:pPr algn="ctr"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Draft / In Review</a:t>
            </a:r>
            <a:pPr algn="ctr"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 03-09-2026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SNAPSHOT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489204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BRD-K3-MRG-001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/ In review — BRD part (Executive summary through 7.vi)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Marriage Registration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 (primary)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Hindu Marriage Act, 1955; The Special Marriage Act, 1954; The Parsi Marriage and Divorce Act, 1936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rules (primary)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of Hindu Marriage (Karnataka) Rules, 1966; Special Marriage (Karnataka) Rules, 1961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(BA)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Nandha Kumar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Prashanth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expert / SRO reviewer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Prabhakar Naik, Committee members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Kaveri IT Cell, Department of Stamps and Registration, Government of Karnataka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updated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03-09-2026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Control &amp; Related 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27-08-2026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116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BRD drafted for the Marriage Registration module.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212848"/>
            <a:ext cx="0" cy="594360"/>
          </a:xfrm>
          <a:prstGeom prst="line">
            <a:avLst/>
          </a:prstGeom>
          <a:noFill/>
          <a:ln w="15875">
            <a:solidFill>
              <a:srgbClr val="D7DE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03-09-2026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432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review: updated Aadhaar OTP messaging and notice-filing flow; added age validation, Form II (Hindu Marriage) and new Acts/Rules coverage; split into BRD and FRS-NFR documents; added pain-point references.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2944368"/>
            <a:ext cx="0" cy="960120"/>
          </a:xfrm>
          <a:prstGeom prst="line">
            <a:avLst/>
          </a:prstGeom>
          <a:noFill/>
          <a:ln w="15875">
            <a:solidFill>
              <a:srgbClr val="D7DE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04-09-2026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4048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Parsi Marriage — new BRD requirements and Online/Offline process diagrams; Section 3 updated with the Parsi Act 1936, Karnataka Rules 1961, Notification HD 6 PIM 67 and Schedule II certificate mapping; refreshed “What is new in Kaveri 3.0”.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983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DOCUMENTS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57800"/>
          <a:ext cx="11274552" cy="86868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5148072"/>
              </a:tblGrid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BRD-K3-MRG-HMA-001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document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FRS-NFRS-K3-MRG-001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 and NFRs (Marriage) — 8–Appendix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FRS_and_NFRS_Marriage_v1.23.docx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Where We're Going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08676" cy="3108960"/>
          </a:xfrm>
          <a:prstGeom prst="roundRect">
            <a:avLst>
              <a:gd name="adj" fmla="val 2353"/>
            </a:avLst>
          </a:prstGeom>
          <a:solidFill>
            <a:srgbClr val="EEF2F8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1051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8288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assessment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423160"/>
            <a:ext cx="48966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of the existing Hindu Marriage registration process, Special Marriage (Intended / Other Forms) notice and registration processes, and Parsi Marriage registration — across both online and offline channels — surfaces key operational, procedural and user-experience challenges affecting applicants and Sub-Registrar offices alike.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3076" y="1554480"/>
            <a:ext cx="5408676" cy="31089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9108" y="181051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7910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46036" y="18288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79108" y="2423160"/>
            <a:ext cx="48966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enhanced future-state workflow improves accessibility, efficiency, transparency and service delivery. Functional and non-functional requirements, supporting data requirements, and a full traceability matrix align business objectives, requirements and solution deliverables — streamlining services, reducing manual effort and enhancing compliance.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983480"/>
            <a:ext cx="2612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550408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Acts covered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344418" y="4983480"/>
            <a:ext cx="2612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3344418" y="5550408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 scope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31636" y="4983480"/>
            <a:ext cx="2612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231636" y="5550408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pain points closed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4983480"/>
            <a:ext cx="2612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5550408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Online &amp; Offline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across Online and Offline channels.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9292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92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4780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Intended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(Online &amp; Offline), objection period, solemnization and registration.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Other Forms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(Online &amp; Offline), objection handling and registration.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84564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0868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06356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49156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across Online and Offline channels.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&amp; SRO workflows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pay fee, scrutiny, approve / reject, register, and issue certificate.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2988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292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79292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4780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Void endorsement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497580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of a registered marriage on receipt of a court order.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08776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373368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Aadhaar / e-KYC, DigiLocker, SMS, e-Mail, Kutumba, Civil Registration System, Labor Department, Sakala.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84564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30868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30868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06356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249156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(English + Kannada); audit trail, role-based access, and MIS /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Applicable 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for Marriage Registration (through Sub-Registrars / Marriage Officers) administers the following Central Acts and Karnataka Rules.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842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Hindu Marriage Act, 1955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4414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Hindu marriages (Sec. 8); conditions for marriage (Sec. 5); ceremonies (Sec. 7).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8745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7940" y="20025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794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3428" y="19842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Marriage Act, 1954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4414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 of special marriages (Chapter II); registration of marriages celebrated in other forms (Chapter III).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748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44028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PMDA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3845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Parsi Marriage and Divorce Act, 1936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8417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between Parsis solemnized per Parsi rites — the ‘Ashirvad’ ceremony (Sec. 3); certificate &amp; registry (Sec. 6); Registrar appointment (Sec. 7); public inspection (Sec. 8).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1636" y="42748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7940" y="44028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7940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3428" y="43845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Guarantee of Services to Citizens Act, 2011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6228" y="48417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guarantee of citizen services; GSC acknowledgement; online status monitoring; appeals &amp; compensatory cost (Secs. 3–13); amended 2012 &amp; 2014.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Act, 1955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7342632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of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— Hindus (incl. Virashaiva, Lingayat, Brahmo/Prarthana/Arya Samaj), Buddhists, Jainas, Sikhs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Sapinda relationship and degrees of prohibited relationship — validation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for a Hindu marriage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(bridegroom ≥ 21, bride ≥ 18); no living spouse; consent; prohibited degrees / sapinda unless custom permits — Form IA declarations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Ceremonies for a Hindu marriage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Customary rites and ceremonies; Saptapadi — solemnization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of Hindu marriages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rules power; register open for inspection; certified extracts; validity not affected by omission to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11–12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/ voidable marriages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nullity endorsement — SR flags registered marriage Null and Void on receipt of court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17 /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Bigamy &amp; other Sec. 5 breaches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penalty messaging shown to parties at submission (displayed in 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Marriage Act, 1954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  <a:gridCol w="697687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relating to solemnization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/ prerequisite checks before notice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5 / 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of intended marriage &amp; Marriage Notice Book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Generate, capture, publish notice on portal / notice board; ≥ 30 days residence of at least one party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 to marriage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countdown from publication; accept and record objections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8–9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/ enquiry on objection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enquiry; summon parties; uphold or reject objection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Declarations (Third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Declarations before solemnization; three witnesses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12–13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Solemnization &amp; certificate (Fourth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solemnization; certificate issuance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notice if not solemnized within 3 months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registration outside validity; requires fresh notice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15–16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— Other Forms (Fifth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Ceremony performed; parties living together; ages; residence ≥ 30 days; public notice; 30-day objections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47–48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Marriage Certificate Book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Inspection; certified extracts; quarterly transmission to Registrar-General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 Marriage and Divorce Act, 1936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7159752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Requisites to validity of Parsi marriages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Prohibited degrees (Schedule I); solemnization per the ‘Ashirvad’ ceremony by a priest before two witnesses; age (bridegroom ≥ 21, bride ≥ 18)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Remarriage when unlawful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remarriage during the lifetime of a spouse without lawful divorce, annulment or dissolution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and registry of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Priest certifies in Schedule II immediately on solemnization, signed by priest, both parties and two witnesses; sent with fee to the Registrar; entered in the marriage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of Registrar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appointed by the Chief Justice / State Government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open for public inspection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extracts on payment of fee; register is evidence of statements it contains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9 / 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to Registrar-General / registration of divorces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back-office transmission; court sends decree for entry in a separate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irregularity not to invalidate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defective, irregular or unsent certificate does not invalidate the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 LEGISLATION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under HMA 1955 Sec. 8, SMA 1954 Sec. 50, and the Parsi Marriage and Divorce Act 1936 Sec. 9.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Hindu Marriage (Karnataka) Rules, 1966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 (memorandum) + Form IA in duplicate, signed by 3 witnesses; Form II endorsement; Form II-A certificate issued immediately; Rule 6A power to remedy defects / forward / refuse with written order; monthly Form III to Registrar-General.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3128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5312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28616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(Karnataka) Rules, 1961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Schedule notice with serial no. &amp; Marriage Notice Book entry; objection enquiry (Forms I &amp; II, 30-day window); Form III for Other Forms registration; fee schedule (Rule 10); Marriage Certificate Book (Rule 9).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Marriages and Divorce (Karnataka) Rules, 1961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the whole State of Karnataka; defines ‘Act’ and ‘Form’; Registrars send certified copies of marriage-certificate-book entries to the Registrar-General quarterly (1 Jan / 1 Apr / 1 Jul / 1 Oct), or a nil certificate.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Notifications &amp; Amendments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519672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No.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S.O. 4896 / HD 6 CIM 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Jul 1966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Appoints all Sub-Registrars as Registrars of Hindu Marriages for their jurisdictions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of Hindu Marriages (Karnataka) (Amendment) Rules, 1999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w.e.f. 8 Jun 2000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Priest / witness definitions; Form IA; three-witness signing; Form II-A immediate certificate; scrutiny / refusal order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RD/48/MNMU/2023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Gazette 06-Feb-2024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Amends Rule 4: inserts ‘or electronically’ (filing), ‘or stored electronically’ (endorsement / certificate) — enables the Online channel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Marriage (Karnataka) Rules, 1961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HD 13MCIM 59(1), 2 May 1961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notification making the Karnataka Special Marriage Rules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No. HD 6 PIM 67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1967 (Govt. of Mysore)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Appoints all District Registrars (Sub-Registrars) as Registrars for the Parsi Marriage and Divorce Act, 1936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koE/65/mnmu/2021 &amp; MME 109 MABHAB 2017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/ 2018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Age-proof (birth / school / medical certificate — Aadhaar not valid) and address-proof document circulars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Forms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of marriage (duplicate)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1089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35584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filing of memorandum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9776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2245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on reverse — SR signature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8463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II-A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09320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registration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7150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III / IV / V / VI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96188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batch, indices, fee receipt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06824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9704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970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965192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Schedule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of intended marriage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31089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Schedule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335584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— parties &amp; witnesses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39776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Schedule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07992" y="42245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— Chapter II (Intended)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07992" y="48463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Schedule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509320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— Chapter III (Other Forms)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07992" y="57150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I–IV (KR)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07992" y="596188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enquiry, Other Forms, transmission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56448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9328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393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814816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357616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II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marriage — priest-issued immediately on solemnization; basis for the Registrar's entry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GUARANTEE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Sakala — Karnataka Guarantee of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services offered through the Department of Stamps and Registration are notified Sakala services. Every eligible application receives a Guarantee of Services to Citizen (GSC) number so citizens can track status, receive time-bound service and file appeals (Appeal-I / Appeal-II) when service is delayed or rejected.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MARRIAGE-RELATED SAKALA 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registration (online filing)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issued on successful fee payment; statutory timeline commences from payment date (~1 working day for certificate delivery, per department practice).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6824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53128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5312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28616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Intended Marriage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and registration tracked end-to-end under Sakala timelines.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Other Forms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and registration tracked end-to-end under Sakala timelines.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LIFECYCLE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3254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43254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accepted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31059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59659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45713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45713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14523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issued on payment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33518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5062118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8172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81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116982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(status sync)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5978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7364578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50631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50631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419442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 certificate issued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38437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6" name="Shape 44"/>
          <p:cNvSpPr/>
          <p:nvPr/>
        </p:nvSpPr>
        <p:spPr>
          <a:xfrm>
            <a:off x="9667037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53090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55309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721901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I / II if delayed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3.0 integrates with the Sakala platform per NIC / Sakala Mission approved web methods for GSC registration, status updates, party-detail upload and orphan-settle retry.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SYSTEMS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and Actors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B/G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Bride / Bridegroom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declarations, provide documents. Online: eSign; Offline: physical signature on printed forms.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9292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92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W×3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4780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(×3)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address, signature on memorandum. Online: eSign / e-KYC / Face Auth [TBD]; Offline: physical signature.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Registrar / Sub-Registrar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register, digital signature, refuse with order. Offline has two verification stages.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84564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0868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06356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Operator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49156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signatures on printed forms and uploads to the portal — Offline only.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/ Payment Gateway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e-Payment and reconciliation; triggered after first SR approval (both channels).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2988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292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79292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4780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eSign / DSC Service Provider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497580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eSign (Online); SR digital signature (both channels).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08776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373368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sign-off on rules and forms in review workshops.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84564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30868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30868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06356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Sakala (Karnataka GoS)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249156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GSC on acceptance / payment; tracks statutory timelines; citizen tracking and appeals.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554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evidenced from Kaveri 2.0 workshops, ServiceDesk tickets and department discussions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5511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532888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navigation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990088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mobile-friendly; Edit doesn't return to correct step; stuck on summary page (~41 tickets).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0728" y="2423160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7032" y="25511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47032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22520" y="2532888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65320" y="2990088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address on certificate; DOB/party details not reflecting; place of marriage missing; signatures missing on certificate.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44256" y="2423160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90560" y="25511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9056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66048" y="2532888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workflow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08848" y="2990088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area selection; missing Save for Witness 3; no FIFO priority; notice workflow state errors; notice no./date not displaying.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539996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" y="46680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" y="46680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4649724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payments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5106924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upload rules; password-protected uploads mishandled; blank challan / verify-challan loop (~38 tickets).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00728" y="4539996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47032" y="46680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447032" y="46680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922520" y="4649724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visibility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65320" y="5106924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not visible during scrutiny; no edit before payment; no dashboard visibility; wrong DEO allocation (~66 tickets); no cross-reference search.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(TO-BE)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in the To-Be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documents its channel models, process diagram (common intake, Online and/or Offline flows) and application status model. Notice is initiated on the citizen portal; registration completes In Person at the Sub-Registrar office.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2319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2319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Offline registration, single combined workflow.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6934" y="3703320"/>
            <a:ext cx="310896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5262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EE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0382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10382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22422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Notice Generation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49854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Marriage &amp; Other Forms share one notice workflow.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4997" y="3703320"/>
            <a:ext cx="310896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113325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5838444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38444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7.iii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0485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Registration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77917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 (Intended) or Chapter III registration (Other Forms).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03059" y="3703320"/>
            <a:ext cx="310896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1387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EEF2F8"/>
          </a:solidFill>
          <a:ln/>
        </p:spPr>
      </p:sp>
      <p:sp>
        <p:nvSpPr>
          <p:cNvPr id="28" name="Shape 26"/>
          <p:cNvSpPr/>
          <p:nvPr/>
        </p:nvSpPr>
        <p:spPr>
          <a:xfrm>
            <a:off x="8166506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66506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7.iv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78547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605979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Kaveri 3.0 — Online &amp; Offline registration.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31122" y="3703320"/>
            <a:ext cx="310896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9769450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94569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94569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7.v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06610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Void Endorsement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934042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workflow on certified court order.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 HINDU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is selected before prerequisites and drives subsequent screens, payment timing and office tasks.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30552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— Online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603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ONLINE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Online activities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37560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e-KYC / Face Authentication (Bride), eSign, Payment (post-approval), Tracking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activities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800600"/>
            <a:ext cx="49057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DSC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187452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E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1676" y="2130552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— Offline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25603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OFFLINE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30175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Online activities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3337560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Payment, Appointment Booking, Printout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448056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activities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4800600"/>
            <a:ext cx="49057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1, SR → DEO allocation, Form upload, SR Stage 2, DSC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7.I.B.B PROCESS DIAGRAM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— Online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intake: LogOn → Start Application → Select Hindu Marriage Online → Prerequisite &amp; Declaration → Capture Marriage / Bride / Bridegroom / Witness details.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3254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43254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e-KYC / Face Auth on Bride details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1059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9659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5713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45713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14523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SR office &amp; review summary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3518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2118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8172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8172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16982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 I &amp; Form 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5978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4578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0631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50631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19442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eSign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38437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67037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53090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5309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21901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(Approve / Reject)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127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returns to Marriage / Bride / Bridegroom / Witness details for correction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31061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31061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(post-approval)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06674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3335274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09135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09135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90138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digitally signs (DSC)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4748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3348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87209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387209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268212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 endorsement applied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62822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9091422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65283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265283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9146286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II-A certificate generated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EF2F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" y="5468112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signature chain; single SR verification; payment only after SR approval; no printout, no appointment, no DEO involved.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7.I.B.C PROCESS DIAGRAM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— Offline (In Person)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1382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138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Aadhaar? Y: e-KYC / Face Auth · N: manual entry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7316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5916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0098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70098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30780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— Stage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6032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4632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8814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8814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49496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appointment booking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4748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3348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7530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7530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68212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Printout: Form I / IA / II / II-A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03464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2064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6246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26246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86928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allocates to DEO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22180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0780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44962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74496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05644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&amp; witnesses sign physically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761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at Stage 1 → returns to citizen data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31061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631061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checks signatures &amp; uploads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6674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3335274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09135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09135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3390138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— Stage 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4748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3348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87209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387209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268212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digitally signs (DSC)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862822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3" name="Shape 51"/>
          <p:cNvSpPr/>
          <p:nvPr/>
        </p:nvSpPr>
        <p:spPr>
          <a:xfrm>
            <a:off x="9091422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65283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265283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146286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certificate (Form II-A) issued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4498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at Stage 2 → returns to DEO check / re-upload (not back to citizen)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EEF2F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580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85800" y="533095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SR verification stages (pre-payment data, post-upload signed forms); payment and appointment bundled after Stage 1; explicit SR → DEO allocation step; DEO checks and uploads signed physical forms before SR DSC.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7.II SPECIAL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Generation — Intended Marriage / Other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Marriage already taken place? No → Intended Marriage Notice · Yes → Other Forms Notice (+ Enter Marriage Details). Both paths then share Prerequisite &amp; party capture.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NOTICE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1382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5138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e-KYC / Face Auth (Bride &amp; Bridegroom)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7316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5916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0098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70098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30780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incl. photos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66032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4632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8814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8814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49496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4748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3348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7530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753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68212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3464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2064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6246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82624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86928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generated + 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822180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0780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962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74496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05644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portal — 30-day countdown starts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NOTICE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1382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5138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12064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Aadhaar? Y: e-KYC / Face Auth · N: manual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47316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2375916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0098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07009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430780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66032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0" name="Shape 48"/>
          <p:cNvSpPr/>
          <p:nvPr/>
        </p:nvSpPr>
        <p:spPr>
          <a:xfrm>
            <a:off x="4294632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88814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988814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349496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84748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5" name="Shape 53"/>
          <p:cNvSpPr/>
          <p:nvPr/>
        </p:nvSpPr>
        <p:spPr>
          <a:xfrm>
            <a:off x="6213348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07530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90753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268212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 + appointment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903464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0" name="Shape 58"/>
          <p:cNvSpPr/>
          <p:nvPr/>
        </p:nvSpPr>
        <p:spPr>
          <a:xfrm>
            <a:off x="8132064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26246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826246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186928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generates notice, selects DEO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822180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50780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744962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74496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0105644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DEO: photo, print, sign, scan, upload; paste on notice board — 30-day countdown starts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4892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rejection on either channel → returns to Prerequisite &amp; declaration for correction and resubmission.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5303520"/>
            <a:ext cx="11274552" cy="1005840"/>
          </a:xfrm>
          <a:prstGeom prst="roundRect">
            <a:avLst>
              <a:gd name="adj" fmla="val 6364"/>
            </a:avLst>
          </a:prstGeom>
          <a:solidFill>
            <a:srgbClr val="EEF2F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85800" y="54406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timestamp starts the statutory 30-day objection period (Sec. 7 / Sec. 16). Notice valid for registration when: Intended Marriage ≥ 30 and ≤ 90 days; Other Forms ≥ 30 days — with no valid objection.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7.III SPECIAL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Marriage Registration — Post-Notice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 for Intended Marriage and Other Forms after notice publication; path-specific timeline gate and certificate schedule.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1382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51382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approved / published notice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7316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5916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0098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70098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430780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timeline (Intended ≥30–≤90d · Other Forms ≥30d)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6032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4632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8814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88814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349496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Objection? → SR enquiry if any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4748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3348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7530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753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68212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Payment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3464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2064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6246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826246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86928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visit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822180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0780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44962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44962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105644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03580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objection → notice removed from portal (Objected); process stops for solemnization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1382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15138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12064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DEO: joint photo + witness capture (e-KYC / manual)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47316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2375916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70098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070098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430780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sign &amp; upload Declaration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66032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4294632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8814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988814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349496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 (Ch. II) / Registration (Ch. III)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474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3348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07530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90753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268212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Certificate: 4th Schedule (Intended) / 5th Schedule (Other Forms)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03464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9" name="Shape 57"/>
          <p:cNvSpPr/>
          <p:nvPr/>
        </p:nvSpPr>
        <p:spPr>
          <a:xfrm>
            <a:off x="8132064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26246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826246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8186928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 signature (DSC)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822180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4" name="Shape 62"/>
          <p:cNvSpPr/>
          <p:nvPr/>
        </p:nvSpPr>
        <p:spPr>
          <a:xfrm>
            <a:off x="10050780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744962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74496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10105644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 — download from portal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EF2F8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85800" y="5468112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always completes In Person at the Sub-Registrar office — no fully-online registration channel. Rejection at SR verification returns to Schedule Visit.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7.IV PARSI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Models &amp;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marriage already solemnized outside the portal by a Parsi priest per the ‘Ashirvad’ ceremony — Kaveri registers the already-certified marriage (priest-certified Schedule II certificate).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54396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048256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 — Online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35915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e-KYC / Face Auth (Bride), upload priest-certified Schedule II certificate, eSign, Payment (post-approval) · Office: Verification, DSC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7356" y="1920240"/>
            <a:ext cx="5454396" cy="1234440"/>
          </a:xfrm>
          <a:prstGeom prst="roundRect">
            <a:avLst>
              <a:gd name="adj" fmla="val 5926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5956" y="2048256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 — Offline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235915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Payment, Appointment Booking, Printout · Office: SR Stage 1, SR→DEO allocation, Certificate upload, SR Stage 2, DSC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CONDENSED 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254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43254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details + e-KYC (Bride); upload Schedule II certificate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31059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9659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45713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45713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14523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SR office (place of solemnization)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3351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62118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8172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817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16982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eSign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597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4578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0631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50631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419442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vs. Schedule II certificate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38437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9667037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53090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55309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21901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→ SR DSC → Register entry (Sec. 6/8) → Certificate issued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CONDENSED FLOW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43254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343254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2064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/ Aadhaar? Y: e-KYC · N: manual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31059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6" name="Shape 44"/>
          <p:cNvSpPr/>
          <p:nvPr/>
        </p:nvSpPr>
        <p:spPr>
          <a:xfrm>
            <a:off x="2759659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45713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45713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2814523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1 → Payment + appointment → Printout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33518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1" name="Shape 49"/>
          <p:cNvSpPr/>
          <p:nvPr/>
        </p:nvSpPr>
        <p:spPr>
          <a:xfrm>
            <a:off x="5062118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8172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948172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116982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allocates DEO; physical signing at SRO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5978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6" name="Shape 54"/>
          <p:cNvSpPr/>
          <p:nvPr/>
        </p:nvSpPr>
        <p:spPr>
          <a:xfrm>
            <a:off x="7364578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0631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50631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7419442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uploads signed certificate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438437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1" name="Shape 59"/>
          <p:cNvSpPr/>
          <p:nvPr/>
        </p:nvSpPr>
        <p:spPr>
          <a:xfrm>
            <a:off x="9667037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53090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55309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9721901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2 → SR DSC → Register entry → Certificate issued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7.V MARRIAGE — NULL &amp; VOID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Endorsement on Court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workflow triggered when a competent court declares a registered marriage void (Sec. 11) or annuls a voidable marriage (Sec. 12). Initiated only on presentation of a certified court order copy — not from citizen self-service or automated checks.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1061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31061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receives certified court order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6674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5274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9135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09135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90138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searches &amp; opens registered marriage record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4748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3348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7209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87209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8212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verifies order particulars vs. register entry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62822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1422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65283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65283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46286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uploads / scans court order copy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1012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if parties or registration number do not match the register entry.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1061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631061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nullity type — Void (Sec.11) / Voidable (Sec.12)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6674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3335274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9135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09135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390138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flags registration Null &amp; Void (endorsement)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474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3348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87209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87209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68212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updates register + certificate status; Form II-A marked invalid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862822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9091422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65283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265283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146286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clean extracts; audit trail recorded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EEF2F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580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33095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(In Person) at the SRO office only — no process diagram, step list is authoritative. Any subsequent certified extract reflects the Null and Void endorsement (Rule 8). Audit trail captures officer, timestamp, court order reference, and prior / new status.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7.VI WHAT IS NEW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Highlights in Kaveri 3.0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services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Notice now available Online and Offline.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9292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92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4780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Authentication added on Online paths.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— Parsi Marriage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registration (Online &amp; Offline) under the Parsi Marriage and Divorce Act, 1936 — not available in Kaveri 2.0.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84564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0868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06356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and Void endorsement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49156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 back-office workflow to record a certified court order (HMA Sec. 11–12).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199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address quality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party/witness capture; MDM-driven address; place of marriage in summary/reports; cross-reference search.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2988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292" y="42199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79292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4780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notifications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497580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fee payment with receipt (Form VI); resilient fallback; SMS + e-Mail across the lifecycle.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08776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42199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373368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Kutumba portal, Civil Registration System, Labor Department.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84564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50800" dist="25400" dir="5400000">
              <a:srgbClr val="9AA7BD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30868" y="42199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30868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06356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experience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249156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bilingual UI (English + Kannada); guided flow with Save/resume; summary review before eSign.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Rectified in Kaveri 3.0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5361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21 As-Is pain points from Kaveri 2.0 are addressed in Kaveri 3.0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404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mobile-friendly</a:t>
            </a:r>
            <a:endParaRPr lang="en-US" sz="103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07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bilingual UI; guided step flow usable on phones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31636" y="2331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4516" y="2404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address on certificate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2807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party address capture — no erroneous sub-district on Form II-A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47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DEO allocation, no reassignment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50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allocates to DEO; officers can reassign without ServiceDesk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31636" y="3474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4516" y="3547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dashboard visibility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6414516" y="3950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/ dashboard for daily registrations, pendency and officer workload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690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notification channels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93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notifications via both SMS and e-Mail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14516" y="469087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missing on digital certificate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6414516" y="5093208"/>
            <a:ext cx="51343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Bride, bridegroom &amp; witness signatures rendered on DSC-signed certificate</a:t>
            </a:r>
            <a:endParaRPr lang="en-US" sz="1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and Sign-Off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2286000"/>
                <a:gridCol w="38679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/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Prashanth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Expert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Prabhakar Naik, Committee members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AIGR Computers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Nandha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5196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document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7548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functional and non-functional requirements, fallback behaviours, risks, and the full requirements-traceability matrix are maintained in FRS_and_NFRS_Marriage_v1.23.docx (FRS-NFRS-K3-MRG-001).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5780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BRD covers the Executive Summary through Section 7.vi (What is new in Kaveri 3.0). Sign-off of both documents together confirms alignment of business objectives, requirements and solution deliverables before 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ln w="31750">
            <a:solidFill>
              <a:srgbClr val="E4C7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— BRD Walkthrough  ·  Kaveri 3.0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(BA): Nandha Kumar     </a:t>
            </a:r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</a:t>
            </a:r>
            <a:pPr algn="ctr"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Prashanth     </a:t>
            </a:r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</a:t>
            </a:r>
            <a:pPr algn="ctr"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Expert: Prabhakar Naik &amp; Committee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ID: BRD-K3-MRG-001  ·  Version 3  ·  04-09-2026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Marriage Registration Module - BRD Walkthrough</dc:title>
  <dc:subject>PptxGenJS Presentation</dc:subject>
  <dc:creator>Kaveri 3.0 Programme</dc:creator>
  <cp:lastModifiedBy>Kaveri 3.0 Programme</cp:lastModifiedBy>
  <cp:revision>1</cp:revision>
  <dcterms:created xsi:type="dcterms:W3CDTF">2026-09-04T13:34:01Z</dcterms:created>
  <dcterms:modified xsi:type="dcterms:W3CDTF">2026-09-04T13:34:01Z</dcterms:modified>
</cp:coreProperties>
</file>