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800" b="1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4800" b="1" dirty="0" smtClean="0">
                <a:solidFill>
                  <a:srgbClr val="FFFFFF"/>
                </a:solidFill>
                <a:latin typeface="Calibri"/>
              </a:rPr>
              <a:t> 2.0</a:t>
            </a:r>
            <a:endParaRPr sz="4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8D0DC"/>
                </a:solidFill>
                <a:latin typeface="Calibri"/>
              </a:rPr>
              <a:t>Karnataka's Digital Property &amp; Document Registration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Department of Stamps &amp; Registration, Government of Karnataka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Architecture  |  Workflow &amp; Integrations  |  Cybersecurity  |  Capacity Building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Four themes covered in this session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71600"/>
            <a:ext cx="868680" cy="868680"/>
          </a:xfrm>
          <a:prstGeom prst="ellipse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71600"/>
            <a:ext cx="9418320" cy="8686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20240" y="1371600"/>
            <a:ext cx="73152" cy="86868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905256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933"/>
                </a:solidFill>
                <a:latin typeface="Calibri"/>
              </a:rPr>
              <a:t>Architecture and Functioning of the Digital Registration Platform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606040"/>
            <a:ext cx="9418320" cy="8686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260604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905256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933"/>
                </a:solidFill>
                <a:latin typeface="Calibri"/>
              </a:rPr>
              <a:t>Workflow Automation and Backend Integration with Revenue &amp; Land Records Systems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40480"/>
            <a:ext cx="868680" cy="868680"/>
          </a:xfrm>
          <a:prstGeom prst="ellipse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840480"/>
            <a:ext cx="9418320" cy="8686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20240" y="3840480"/>
            <a:ext cx="73152" cy="86868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60" y="3840480"/>
            <a:ext cx="905256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933"/>
                </a:solidFill>
                <a:latin typeface="Calibri"/>
              </a:rPr>
              <a:t>Cybersecurity Measures and Data Protection Protocols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74920"/>
            <a:ext cx="868680" cy="868680"/>
          </a:xfrm>
          <a:prstGeom prst="ellipse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5074920"/>
            <a:ext cx="9418320" cy="8686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20240" y="5074920"/>
            <a:ext cx="73152" cy="86868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94560" y="5074920"/>
            <a:ext cx="905256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933"/>
                </a:solidFill>
                <a:latin typeface="Calibri"/>
              </a:rPr>
              <a:t>Capacity Building and Change Management for Field-level Functionaries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2/19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Kaveri 2.0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Online-first, end-to-end registration services for citizens and the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3"/>
                </a:solidFill>
                <a:latin typeface="Calibri"/>
              </a:rPr>
              <a:t>Kaveri 2.0 is the web-based application of the Department of Stamps &amp; Registration that moves registration from counter-based data entry to citizen-driven online applications, with the Sub-Registrar Office (SRO) visit reduced to verification, biometrics and final registration.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611880" cy="73152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6B7A"/>
                </a:solidFill>
                <a:latin typeface="Calibri"/>
              </a:rPr>
              <a:t>Document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Sale, gift, release, settlement, mortgage and other deeds under the Registration 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1488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2148840"/>
            <a:ext cx="3611880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45C26"/>
                </a:solidFill>
                <a:latin typeface="Calibri"/>
              </a:rPr>
              <a:t>Marriage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974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Registration of marriages with online application and SRO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3611880" cy="73152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7A4E"/>
                </a:solidFill>
                <a:latin typeface="Calibri"/>
              </a:rPr>
              <a:t>Encumbrance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974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Form 15 EC generated from Index II data; online EC search (Form 22)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3611880" cy="73152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3F8C"/>
                </a:solidFill>
                <a:latin typeface="Calibri"/>
              </a:rPr>
              <a:t>Certified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976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Certified copies of registered documents for banks, IT dept. and citizens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7490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749040"/>
            <a:ext cx="3611880" cy="73152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38862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3D5C"/>
                </a:solidFill>
                <a:latin typeface="Calibri"/>
              </a:rPr>
              <a:t>Firm Registration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2976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Registration of partnership firms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49040"/>
            <a:ext cx="36118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749040"/>
            <a:ext cx="3611880" cy="73152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38862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6B7A"/>
                </a:solidFill>
                <a:latin typeface="Calibri"/>
              </a:rPr>
              <a:t>Property 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29768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Guidance-value based market valuation, stamp duty &amp; fee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A78"/>
                </a:solidFill>
                <a:latin typeface="Calibri"/>
              </a:rPr>
              <a:t>•  Two user classes: Guest users (stamp duty, guidance value, EC search) and Registered users (OTP-verified account for filing applications).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A78"/>
                </a:solidFill>
                <a:latin typeface="Calibri"/>
              </a:rPr>
              <a:t>•  Department users: Sub-Registrar (SR), First/Second Division Assistants (FDA/SDA), Data Entry Operators (DEO), DR/DIG and head-office administrators.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1A6B7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Architecture and Functioning of the Digital Registration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D0DC"/>
                </a:solidFill>
                <a:latin typeface="Calibri"/>
              </a:rPr>
              <a:t>Layered, microservices-based design  •  API Gateway  •  Containerised deployment  •  Functional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4/19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Layered microservices architecture (per Kaveri 2.0 Software Design Document v2.2)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377440" cy="914400"/>
          </a:xfrm>
          <a:prstGeom prst="rect">
            <a:avLst/>
          </a:prstGeom>
          <a:solidFill>
            <a:srgbClr val="5A6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188720"/>
            <a:ext cx="6492240" cy="9144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0">
                <a:solidFill>
                  <a:srgbClr val="1E2933"/>
                </a:solidFill>
                <a:latin typeface="Calibri"/>
              </a:rPr>
              <a:t>Citizens / Advocates / Document writers  •  SRO staff (SR, FDA, SDA, DEO)  •  DR / DIG / IGR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377440" cy="91440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240280"/>
            <a:ext cx="6492240" cy="9144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0">
                <a:solidFill>
                  <a:srgbClr val="1E2933"/>
                </a:solidFill>
                <a:latin typeface="Calibri"/>
              </a:rPr>
              <a:t>Angular (TypeScript) single-page application  •  Citizen portal &amp; Departmental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2377440" cy="9144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291840"/>
            <a:ext cx="6492240" cy="9144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0">
                <a:solidFill>
                  <a:srgbClr val="1E2933"/>
                </a:solidFill>
                <a:latin typeface="Calibri"/>
              </a:rPr>
              <a:t>Single entry point  •  Reverse proxy / routing  •  AuthN/AuthZ  •  SSL termination  •  Rate limiting  •  Logging &amp; correlation  •  IP allow-listing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2377440" cy="9144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Service &amp; Business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343400"/>
            <a:ext cx="6492240" cy="9144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0">
                <a:solidFill>
                  <a:srgbClr val="1E2933"/>
                </a:solidFill>
                <a:latin typeface="Calibri"/>
              </a:rPr>
              <a:t>ASP.NET Core (C#) microservices per business capability  •  Business workflow, components &amp; entities  •  Service agents for external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2377440" cy="91440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5394960"/>
            <a:ext cx="6492240" cy="9144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0" dirty="0">
                <a:solidFill>
                  <a:srgbClr val="1E2933"/>
                </a:solidFill>
                <a:latin typeface="Calibri"/>
              </a:rPr>
              <a:t>PostgreSQL </a:t>
            </a:r>
            <a:r>
              <a:rPr sz="1300" b="0" dirty="0" smtClean="0">
                <a:solidFill>
                  <a:srgbClr val="1E2933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•  Index II / EC data  •  Object storage for scanned deeds, photos &amp; biometrics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240280"/>
            <a:ext cx="2194560" cy="406908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Cross-cutting</a:t>
            </a:r>
          </a:p>
          <a:p>
            <a:pPr algn="ctr"/>
            <a:endParaRPr sz="1200" b="1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Centralised logging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Exception management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Authentication &amp; authorisation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Caching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188720"/>
            <a:ext cx="2194560" cy="9144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External systems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Bhoomi, e-Swathu, e-Aasthi, Khajane-II, eKYC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5/19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Technology Stack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Open, container-ready stack designed for independent scaling of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237744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3832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Angular component-based SPA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Modules, components, services, dependency injection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Separate citizen and departmental interfaces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Responsive web access for citizens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73152" cy="23774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3D5C"/>
                </a:solidFill>
                <a:latin typeface="Calibri"/>
              </a:rPr>
              <a:t>Back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383280" cy="7489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ASP.NET Core Web APIs in C#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Microservices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 per bounded context</a:t>
            </a:r>
          </a:p>
          <a:p>
            <a:pPr algn="l">
              <a:spcAft>
                <a:spcPts val="400"/>
              </a:spcAft>
            </a:pPr>
            <a:r>
              <a:rPr sz="1200" b="0" dirty="0" smtClean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Synchronous HTTPS + asynchronous messaging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6576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73152" cy="237744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7A4E"/>
                </a:solidFill>
                <a:latin typeface="Calibri"/>
              </a:rPr>
              <a:t>Data &amp;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383280" cy="7489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 smtClean="0">
                <a:solidFill>
                  <a:srgbClr val="1E2933"/>
                </a:solidFill>
                <a:latin typeface="Calibri"/>
              </a:rPr>
              <a:t>PostgreSQL</a:t>
            </a:r>
            <a:endParaRPr sz="1200" b="0" dirty="0">
              <a:solidFill>
                <a:srgbClr val="1E29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 smtClean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Object storage (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Scality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) for images &amp; scans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Separate reporting / search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73152" cy="237744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79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45C26"/>
                </a:solidFill>
                <a:latin typeface="Calibri"/>
              </a:rPr>
              <a:t>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39"/>
            <a:ext cx="5303520" cy="9848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Services packaged as Docker container images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Independent deployment &amp; rollback per service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Horizontal scale-out of high-load services </a:t>
            </a:r>
            <a:endParaRPr lang="en-IN" sz="1200" b="0" dirty="0" smtClean="0">
              <a:solidFill>
                <a:srgbClr val="1E2933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 smtClean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UAT and Production environments with versioned releases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553212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49039"/>
            <a:ext cx="73152" cy="237744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840479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3F8C"/>
                </a:solidFill>
                <a:latin typeface="Calibri"/>
              </a:rPr>
              <a:t>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39"/>
            <a:ext cx="5257800" cy="7489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Separation of concerns, single responsibility</a:t>
            </a:r>
          </a:p>
          <a:p>
            <a:pPr algn="l">
              <a:spcAft>
                <a:spcPts val="400"/>
              </a:spcAft>
            </a:pPr>
            <a:r>
              <a:rPr sz="1200" b="0" dirty="0" smtClean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Fault isolation between services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 smtClean="0">
                <a:solidFill>
                  <a:srgbClr val="1E2933"/>
                </a:solidFill>
                <a:latin typeface="Calibri"/>
              </a:rPr>
              <a:t>QA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: unit tests, </a:t>
            </a:r>
            <a:r>
              <a:rPr sz="1200" b="0" dirty="0" smtClean="0">
                <a:solidFill>
                  <a:srgbClr val="1E2933"/>
                </a:solidFill>
                <a:latin typeface="Calibri"/>
              </a:rPr>
              <a:t>code 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6/19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Functional Modules of Kaveri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Citizen-facing and departmental modules that together make up the registration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32120" cy="50292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Citizen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User Registration &amp; Login (OTP)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3431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Document Info &amp; Property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9662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Property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Market Valuation &amp; Fee Calculation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1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Party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662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Document for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Payment (Khajane-II / e-Stamp)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1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Schedule Appointment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2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1A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EC Search &amp; Certified Copy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88720"/>
            <a:ext cx="5532120" cy="5029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Departmental Portal (SRO)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Departmental Login (Biometric)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Application Allocation (FIFO) to FDA/SDA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84662" y="18288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SR Review &amp; Remarks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Allocation to 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Party Verification: eKYC, Photo, Biometric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84662" y="27432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Document Scanning &amp; 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SR Digital Signature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8431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EC (Form 15) &amp; Acknowledgement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84662" y="3657600"/>
            <a:ext cx="1783080" cy="822960"/>
          </a:xfrm>
          <a:prstGeom prst="rect">
            <a:avLst/>
          </a:prstGeom>
          <a:solidFill>
            <a:srgbClr val="F0F4F7"/>
          </a:solidFill>
          <a:ln>
            <a:solidFill>
              <a:srgbClr val="0B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E2933"/>
                </a:solidFill>
                <a:latin typeface="Calibri"/>
              </a:rPr>
              <a:t>Court Order / Litigation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Property types supported: Agricultural (Bhoomi), Non-agricultural rural (e-Swathu), urban (e-Aasthi), BBMP, BDA, UPOR and 'Others'.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Multi-property and mixed transactions (e.g., Bhoomi + e-Aasthi) are handled within one application.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Rule-driven article selection determines stamp duty, registration fee, cess, surcharge, scanning and mutation fee.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7/19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Workflow Automation and Backend Integration with Revenue &amp; Land Records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D0DC"/>
                </a:solidFill>
                <a:latin typeface="Calibri"/>
              </a:rPr>
              <a:t>End-to-end registration workflow  •  Bhoomi / e-Swathu / e-Aasthi / UPOR  •  Khajane-II  •  eKYC  •  Mutation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8/19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End-to-End Document Registration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From online application to registered document and Encumbrance Certificate</a:t>
            </a:r>
          </a:p>
        </p:txBody>
      </p:sp>
      <p:sp>
        <p:nvSpPr>
          <p:cNvPr id="6" name="Pentagon 5"/>
          <p:cNvSpPr/>
          <p:nvPr/>
        </p:nvSpPr>
        <p:spPr>
          <a:xfrm>
            <a:off x="365760" y="1371600"/>
            <a:ext cx="1336509" cy="1143000"/>
          </a:xfrm>
          <a:prstGeom prst="homePlate">
            <a:avLst>
              <a:gd name="adj" fmla="val 22000"/>
            </a:avLst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03932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Online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Citizen logs in, selects article &amp; document type</a:t>
            </a:r>
          </a:p>
        </p:txBody>
      </p:sp>
      <p:sp>
        <p:nvSpPr>
          <p:cNvPr id="9" name="Chevron 8"/>
          <p:cNvSpPr/>
          <p:nvPr/>
        </p:nvSpPr>
        <p:spPr>
          <a:xfrm>
            <a:off x="1811997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3457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Property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1997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Auto-fetch from Bhoomi / e-Swathu / e-Aasthi; restriction &amp; litigation check</a:t>
            </a:r>
          </a:p>
        </p:txBody>
      </p:sp>
      <p:sp>
        <p:nvSpPr>
          <p:cNvPr id="12" name="Chevron 11"/>
          <p:cNvSpPr/>
          <p:nvPr/>
        </p:nvSpPr>
        <p:spPr>
          <a:xfrm>
            <a:off x="3258234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9694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Valuation &amp;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234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Guidance value, stamp duty, registration fee auto-computed</a:t>
            </a:r>
          </a:p>
        </p:txBody>
      </p:sp>
      <p:sp>
        <p:nvSpPr>
          <p:cNvPr id="15" name="Chevron 14"/>
          <p:cNvSpPr/>
          <p:nvPr/>
        </p:nvSpPr>
        <p:spPr>
          <a:xfrm>
            <a:off x="4704471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5931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SRO Pre-Scrutiny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4471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SR allocates to FDA/SDA (FIFO); SR approves or returns with remarks</a:t>
            </a:r>
          </a:p>
        </p:txBody>
      </p:sp>
      <p:sp>
        <p:nvSpPr>
          <p:cNvPr id="18" name="Chevron 17"/>
          <p:cNvSpPr/>
          <p:nvPr/>
        </p:nvSpPr>
        <p:spPr>
          <a:xfrm>
            <a:off x="6150708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2168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0708" y="2606040"/>
            <a:ext cx="1336509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dirty="0" err="1">
                <a:solidFill>
                  <a:srgbClr val="1E2933"/>
                </a:solidFill>
                <a:latin typeface="Calibri"/>
              </a:rPr>
              <a:t>Khajane</a:t>
            </a:r>
            <a:r>
              <a:rPr sz="1100" b="0" dirty="0">
                <a:solidFill>
                  <a:srgbClr val="1E2933"/>
                </a:solidFill>
                <a:latin typeface="Calibri"/>
              </a:rPr>
              <a:t>-II </a:t>
            </a:r>
            <a:r>
              <a:rPr sz="1100" b="0" dirty="0" smtClean="0">
                <a:solidFill>
                  <a:srgbClr val="1E2933"/>
                </a:solidFill>
                <a:latin typeface="Calibri"/>
              </a:rPr>
              <a:t>challan</a:t>
            </a:r>
            <a:endParaRPr sz="1100" b="0" dirty="0">
              <a:solidFill>
                <a:srgbClr val="1E2933"/>
              </a:solidFill>
              <a:latin typeface="Calibri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596945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8405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Book 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6945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Appointment booked at SRO; token generated</a:t>
            </a:r>
          </a:p>
        </p:txBody>
      </p:sp>
      <p:sp>
        <p:nvSpPr>
          <p:cNvPr id="24" name="Chevron 23"/>
          <p:cNvSpPr/>
          <p:nvPr/>
        </p:nvSpPr>
        <p:spPr>
          <a:xfrm>
            <a:off x="9043182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4642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Registration at SRO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182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DEO: eKYC, photo, biometrics; scan &amp; upload</a:t>
            </a:r>
          </a:p>
        </p:txBody>
      </p:sp>
      <p:sp>
        <p:nvSpPr>
          <p:cNvPr id="27" name="Chevron 26"/>
          <p:cNvSpPr/>
          <p:nvPr/>
        </p:nvSpPr>
        <p:spPr>
          <a:xfrm>
            <a:off x="10489419" y="1371600"/>
            <a:ext cx="1336509" cy="1143000"/>
          </a:xfrm>
          <a:prstGeom prst="chevron">
            <a:avLst>
              <a:gd name="adj" fmla="val 22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40879" y="1371600"/>
            <a:ext cx="83358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Sign &amp; 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9419" y="2606040"/>
            <a:ext cx="133650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SR digitally signs; Index II, EC Form 15, acknowledgement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10881360" cy="5693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Pre-registration scrutiny happens online, so the SRO visit is limited to identity verification, admission of execution and signing.</a:t>
            </a:r>
          </a:p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The applicant sees only the SR's decision and remarks;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9/19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Backend Integration with Revenue, Land Records &amp; Payment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Kaveri 2.0 validates data at source instead of relying on manual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237744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Bhoomi (Revenue Dept.)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2120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Agricultural land search by district/taluk/hobli/village/survey no.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Owner, extent, hissa and Pyki / 11E sketch 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Restriction flag blocks registration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Mutation data flows back to land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73152" cy="237744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7A4E"/>
                </a:solidFill>
                <a:latin typeface="Calibri"/>
              </a:rPr>
              <a:t>e-Swathu / e-Aasthi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2120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e-Swathu: Gram Panchayat properties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e-Aasthi: urban local body properties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Search by location &amp; PID; property PDF shown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BBMP, BDA, UPOR and 'Others' handled separately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54864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73152" cy="237744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21208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 smtClean="0">
                <a:solidFill>
                  <a:srgbClr val="C45C26"/>
                </a:solidFill>
                <a:latin typeface="Calibri"/>
              </a:rPr>
              <a:t>Khajane</a:t>
            </a:r>
            <a:endParaRPr sz="1500" b="1" dirty="0">
              <a:solidFill>
                <a:srgbClr val="C45C26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212080" cy="79508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Challan number, amount and date verified online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Deficit amount prompts an additional challan</a:t>
            </a:r>
          </a:p>
          <a:p>
            <a:pPr algn="l">
              <a:spcAft>
                <a:spcPts val="400"/>
              </a:spcAft>
            </a:pPr>
            <a:r>
              <a:rPr sz="1300" b="0" dirty="0" smtClean="0">
                <a:solidFill>
                  <a:srgbClr val="1E2933"/>
                </a:solidFill>
                <a:latin typeface="Calibri"/>
              </a:rPr>
              <a:t>•  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Payment unlocks appointment booking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49040"/>
            <a:ext cx="5486400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3749040"/>
            <a:ext cx="73152" cy="237744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3F8C"/>
                </a:solidFill>
                <a:latin typeface="Calibri"/>
              </a:rPr>
              <a:t>Identity &amp;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2120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1E2933"/>
                </a:solidFill>
                <a:latin typeface="Calibri"/>
              </a:rPr>
              <a:t>Aadhaar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-based </a:t>
            </a:r>
            <a:r>
              <a:rPr sz="1300" b="0" dirty="0" err="1">
                <a:solidFill>
                  <a:srgbClr val="1E2933"/>
                </a:solidFill>
                <a:latin typeface="Calibri"/>
              </a:rPr>
              <a:t>eKYC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 for presenter, executants, claimants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Photo and fingerprint biometrics captured at SRO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Mobile / email OTP for citizen accounts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SMS / email alerts at each workflow 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10/19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the Workflow Automates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Rules and checks that were earlier manual are now enforced by the system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822960" cy="822960"/>
          </a:xfrm>
          <a:prstGeom prst="ellipse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18872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29844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6B7A"/>
                </a:solidFill>
                <a:latin typeface="Calibri"/>
              </a:rPr>
              <a:t>Property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Ownership, extent and restrictions validated against the source land record</a:t>
            </a:r>
          </a:p>
        </p:txBody>
      </p:sp>
      <p:sp>
        <p:nvSpPr>
          <p:cNvPr id="10" name="Oval 9"/>
          <p:cNvSpPr/>
          <p:nvPr/>
        </p:nvSpPr>
        <p:spPr>
          <a:xfrm>
            <a:off x="6126480" y="1463040"/>
            <a:ext cx="822960" cy="822960"/>
          </a:xfrm>
          <a:prstGeom prst="ellipse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18872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29844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45C26"/>
                </a:solidFill>
                <a:latin typeface="Calibri"/>
              </a:rPr>
              <a:t>Litigation / court-order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429768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Applications </a:t>
            </a:r>
            <a:r>
              <a:rPr lang="en-IN" sz="1300" b="0" dirty="0" smtClean="0">
                <a:solidFill>
                  <a:srgbClr val="1E2933"/>
                </a:solidFill>
                <a:latin typeface="Calibri"/>
              </a:rPr>
              <a:t>displays/court-order,</a:t>
            </a:r>
            <a:r>
              <a:rPr sz="1300" b="0" dirty="0" smtClean="0">
                <a:solidFill>
                  <a:srgbClr val="1E2933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if an attachment or court order is recorded against the property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54680"/>
            <a:ext cx="822960" cy="822960"/>
          </a:xfrm>
          <a:prstGeom prst="ellipse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288036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99008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7A4E"/>
                </a:solidFill>
                <a:latin typeface="Calibri"/>
              </a:rPr>
              <a:t>Fee computation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8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Duty = Govt. duty + surcharge + cess + scanning fee + mutation fee − adjustments, plus registration fee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3154680"/>
            <a:ext cx="822960" cy="82296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88036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299008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3D5C"/>
                </a:solidFill>
                <a:latin typeface="Calibri"/>
              </a:rPr>
              <a:t>Work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8328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FIFO-based allocation of applications to FDA/SDA and slot-based allocation to DEOs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846320"/>
            <a:ext cx="822960" cy="822960"/>
          </a:xfrm>
          <a:prstGeom prst="ellipse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457200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468172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3F8C"/>
                </a:solidFill>
                <a:latin typeface="Calibri"/>
              </a:rPr>
              <a:t>Payment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7492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Online challan verification removes manual cross-checking of receipts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4846320"/>
            <a:ext cx="822960" cy="822960"/>
          </a:xfrm>
          <a:prstGeom prst="ellipse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572000"/>
            <a:ext cx="4526280" cy="14630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0" y="4681728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6B7A"/>
                </a:solidFill>
                <a:latin typeface="Calibri"/>
              </a:rPr>
              <a:t>Record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07492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Index II update, EC (Form 15), endorsements and acknowledgement produced automatically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11/19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1B7A4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Cybersecurity Measures and Data Protection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D0DC"/>
                </a:solidFill>
                <a:latin typeface="Calibri"/>
              </a:rPr>
              <a:t>Identity &amp; access  •  Application &amp; network security  •  Data protection  •  Threat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12/19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Security Controls Across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Defence in depth: identity, application, transport and data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24688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246888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7A4E"/>
                </a:solidFill>
                <a:latin typeface="Calibri"/>
              </a:rPr>
              <a:t>Identity &amp;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38328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Citizen accounts verified by mobile &amp; email OTP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Departmental login: credentials + biometric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Role-based access (SR, FDA, SDA, DEO, DR, admin)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Office-level data segregation per SRO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24688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73152" cy="246888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A6B7A"/>
                </a:solidFill>
                <a:latin typeface="Calibri"/>
              </a:rPr>
              <a:t>Application &amp;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Only the API Gateway is exposed; services stay internal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Centralised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AuthN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AuthZ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 at the gateway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Rate limiting, throttling, IP allow-listing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Input validation and exception handling in every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657600" cy="246888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73152" cy="2468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3D5C"/>
                </a:solidFill>
                <a:latin typeface="Calibri"/>
              </a:rPr>
              <a:t>Transport &amp;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38328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HTTPS / TLS for all client traffic (SSL termination)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TLS-capable PostgreSQL connections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SR digitally signs scanned deeds &amp; annexures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1E2933"/>
                </a:solidFill>
                <a:latin typeface="Calibri"/>
              </a:rPr>
              <a:t>eKYC</a:t>
            </a:r>
            <a:r>
              <a:rPr sz="1200" b="0" dirty="0">
                <a:solidFill>
                  <a:srgbClr val="1E2933"/>
                </a:solidFill>
                <a:latin typeface="Calibri"/>
              </a:rPr>
              <a:t> + biometrics establish party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73152" cy="228600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3F8C"/>
                </a:solidFill>
                <a:latin typeface="Calibri"/>
              </a:rPr>
              <a:t>Operational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1E2933"/>
                </a:solidFill>
                <a:latin typeface="Calibri"/>
              </a:rPr>
              <a:t>Centralised</a:t>
            </a:r>
            <a:r>
              <a:rPr sz="1300" b="0" dirty="0">
                <a:solidFill>
                  <a:srgbClr val="1E2933"/>
                </a:solidFill>
                <a:latin typeface="Calibri"/>
              </a:rPr>
              <a:t>, correlated logging across layers for audit trails and incident investigation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Controlled release management: UAT sign-off and versioned production releases with release notes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Security vulnerabilities, OS and hardware patches tracked as part of runtime-environment hardening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E2933"/>
                </a:solidFill>
                <a:latin typeface="Calibri"/>
              </a:rPr>
              <a:t>•  Separation of duties: FDA/SDA scrutiny, DEO data capture and SR approval are distinct roles in the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13/19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5B3F8C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Capacity Building and Change Management Strategies for Field-level Functionaries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D0DC"/>
                </a:solidFill>
                <a:latin typeface="Calibri"/>
              </a:rPr>
              <a:t>Stakeholder roles  •  Training approach  •  Rollout &amp; hand-holding  •  Sustaining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15/19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Who Needs to Be Trained, and on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Role-based capacity building aligned to the Kaveri 2.0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176272" cy="6400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Sub-Registrar (SR)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76272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993392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Biometric login, application allocation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Review &amp; remarks, approval / rejection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Digital signing, court-order entry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Emergency slot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1188720"/>
            <a:ext cx="2176272" cy="64008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FDA / SDA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828800"/>
            <a:ext cx="2176272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1920240"/>
            <a:ext cx="1993392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FIFO work queue handling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Scrutiny of deed, parties, schedule, valuation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Verifying document summary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Internal remarks to SR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2624" y="1188720"/>
            <a:ext cx="2176272" cy="6400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Entry Operator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1828800"/>
            <a:ext cx="2176272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1920240"/>
            <a:ext cx="1993392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Party appearance &amp; eKYC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Photo and fingerprint capture standards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Scanning, re-scanning &amp; upload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Offline payment entry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0336" y="1188720"/>
            <a:ext cx="2176272" cy="64008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 / DIG /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1828800"/>
            <a:ext cx="2176272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51776" y="1920240"/>
            <a:ext cx="1993392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Monitoring dashboards &amp; reports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User &amp; office management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Escalations and exceptions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Audit and compliance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8048" y="1188720"/>
            <a:ext cx="2176272" cy="64008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Citizens &amp; Document Writers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8048" y="1828800"/>
            <a:ext cx="2176272" cy="237744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9488" y="1920240"/>
            <a:ext cx="1993392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Account creation &amp; online application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Property search &amp; fee payment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Appointment booking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Handling SR remarks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3D5C"/>
                </a:solidFill>
                <a:latin typeface="Calibri"/>
              </a:rPr>
              <a:t>Training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Train-the-trainer model: master trainers per district cascade training to every SRO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Hands-on sessions in a UAT / sandbox environment using real-life deed scenarios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Role-wise SOPs, quick-reference guides, video tutorials and Kannada-language material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3"/>
                </a:solidFill>
                <a:latin typeface="Calibri"/>
              </a:rPr>
              <a:t>•  Refresher training delivered alongside each release using release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16/19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Change Management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Moving field offices from counter-based data entry to an online-first workflow</a:t>
            </a:r>
          </a:p>
        </p:txBody>
      </p:sp>
      <p:sp>
        <p:nvSpPr>
          <p:cNvPr id="6" name="Pentagon 5"/>
          <p:cNvSpPr/>
          <p:nvPr/>
        </p:nvSpPr>
        <p:spPr>
          <a:xfrm>
            <a:off x="365760" y="1325880"/>
            <a:ext cx="2204252" cy="1005840"/>
          </a:xfrm>
          <a:prstGeom prst="homePlate">
            <a:avLst>
              <a:gd name="adj" fmla="val 22000"/>
            </a:avLst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937248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2204252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Communicate why: transparency, fewer visits, faster registration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679740" y="1325880"/>
            <a:ext cx="2204252" cy="1005840"/>
          </a:xfrm>
          <a:prstGeom prst="chevron">
            <a:avLst>
              <a:gd name="adj" fmla="val 22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01024" y="1325880"/>
            <a:ext cx="1761684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740" y="2423160"/>
            <a:ext cx="2204252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Go-live in select SROs; capture issues early</a:t>
            </a:r>
          </a:p>
        </p:txBody>
      </p:sp>
      <p:sp>
        <p:nvSpPr>
          <p:cNvPr id="12" name="Chevron 11"/>
          <p:cNvSpPr/>
          <p:nvPr/>
        </p:nvSpPr>
        <p:spPr>
          <a:xfrm>
            <a:off x="4993720" y="1325880"/>
            <a:ext cx="2204252" cy="1005840"/>
          </a:xfrm>
          <a:prstGeom prst="chevron">
            <a:avLst>
              <a:gd name="adj" fmla="val 22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5004" y="1325880"/>
            <a:ext cx="1761684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Hand-holding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3720" y="2423160"/>
            <a:ext cx="2204252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On-site support teams &amp; helpdesk during rollout</a:t>
            </a:r>
          </a:p>
        </p:txBody>
      </p:sp>
      <p:sp>
        <p:nvSpPr>
          <p:cNvPr id="15" name="Chevron 14"/>
          <p:cNvSpPr/>
          <p:nvPr/>
        </p:nvSpPr>
        <p:spPr>
          <a:xfrm>
            <a:off x="7307700" y="1325880"/>
            <a:ext cx="2204252" cy="1005840"/>
          </a:xfrm>
          <a:prstGeom prst="chevron">
            <a:avLst>
              <a:gd name="adj" fmla="val 22000"/>
            </a:avLst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8984" y="1325880"/>
            <a:ext cx="1761684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Statewide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7700" y="2423160"/>
            <a:ext cx="2204252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Phased extension district by district</a:t>
            </a:r>
          </a:p>
        </p:txBody>
      </p:sp>
      <p:sp>
        <p:nvSpPr>
          <p:cNvPr id="18" name="Chevron 17"/>
          <p:cNvSpPr/>
          <p:nvPr/>
        </p:nvSpPr>
        <p:spPr>
          <a:xfrm>
            <a:off x="9621680" y="1325880"/>
            <a:ext cx="2204252" cy="1005840"/>
          </a:xfrm>
          <a:prstGeom prst="chevron">
            <a:avLst>
              <a:gd name="adj" fmla="val 22000"/>
            </a:avLst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42964" y="1325880"/>
            <a:ext cx="1761684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Reinforce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1680" y="2423160"/>
            <a:ext cx="2204252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3"/>
                </a:solidFill>
                <a:latin typeface="Calibri"/>
              </a:rPr>
              <a:t>Monitor KPIs, recognise champions, refine SOPs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5532120" cy="22860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73152" cy="2286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45C26"/>
                </a:solidFill>
                <a:latin typeface="Calibri"/>
              </a:rPr>
              <a:t>Addressing Resistance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5257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Involve SRs and staff in UAT and feedback loops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Designate SRO-level Kaveri champions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Clear escalation path via helpdesk and release fixes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Show time savings from online pre-scrutiny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840480"/>
            <a:ext cx="5532120" cy="228600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840480"/>
            <a:ext cx="73152" cy="228600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393192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7A4E"/>
                </a:solidFill>
                <a:latin typeface="Calibri"/>
              </a:rPr>
              <a:t>Measuring Adoption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97680"/>
            <a:ext cx="52578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Share of applications filed online by citizens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Turnaround time: submission to registration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Applications returned with SR remarks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3"/>
                </a:solidFill>
                <a:latin typeface="Calibri"/>
              </a:rPr>
              <a:t>•  Helpdesk tickets and recurring issues per release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17/19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D0DC"/>
                </a:solidFill>
                <a:latin typeface="Calibri"/>
              </a:rPr>
              <a:t>Kaveri 2.0 in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017520" cy="1051560"/>
          </a:xfrm>
          <a:prstGeom prst="rect">
            <a:avLst/>
          </a:prstGeom>
          <a:solidFill>
            <a:srgbClr val="1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Modern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234440"/>
            <a:ext cx="8138160" cy="105156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933"/>
                </a:solidFill>
                <a:latin typeface="Calibri"/>
              </a:rPr>
              <a:t>Layered microservices behind an API Gateway, Angular front end, PostgreSQL and containerised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017520" cy="105156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Connected government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468880"/>
            <a:ext cx="8138160" cy="105156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933"/>
                </a:solidFill>
                <a:latin typeface="Calibri"/>
              </a:rPr>
              <a:t>Property, payment and identity data validated at source through Bhoomi, e-Swathu, e-Aasthi, Khajane-II and eKYC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3017520" cy="1051560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Secure by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703320"/>
            <a:ext cx="8138160" cy="105156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933"/>
                </a:solidFill>
                <a:latin typeface="Calibri"/>
              </a:rPr>
              <a:t>OTP, biometrics, role-based access, digital signatures, TLS and centralised audit logging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3017520" cy="105156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People-centred 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937760"/>
            <a:ext cx="8138160" cy="1051560"/>
          </a:xfrm>
          <a:prstGeom prst="rect">
            <a:avLst/>
          </a:prstGeom>
          <a:solidFill>
            <a:srgbClr val="F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933"/>
                </a:solidFill>
                <a:latin typeface="Calibri"/>
              </a:rPr>
              <a:t>Role-based training, phased rollout and continuous feedback drive field-level adoption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61153"/>
            <a:ext cx="9144000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000" b="0" dirty="0" err="1" smtClean="0">
                <a:solidFill>
                  <a:srgbClr val="FFFFFF"/>
                </a:solidFill>
                <a:latin typeface="Calibri"/>
              </a:rPr>
              <a:t>Kaveri</a:t>
            </a:r>
            <a:r>
              <a:rPr lang="en-IN" sz="1000" b="0" dirty="0" smtClean="0">
                <a:solidFill>
                  <a:srgbClr val="FFFFFF"/>
                </a:solidFill>
                <a:latin typeface="Calibri"/>
              </a:rPr>
              <a:t> 2.0</a:t>
            </a:r>
            <a:r>
              <a:rPr sz="1000" b="0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|  Department of Stamps &amp; Registration, Government of Karnataka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18/19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B8D0D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Department of Stamps &amp; Registration, Government of Karnataka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2020</Words>
  <Application>Microsoft Office PowerPoint</Application>
  <PresentationFormat>Widescreen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7</cp:revision>
  <dcterms:created xsi:type="dcterms:W3CDTF">2013-01-27T09:14:16Z</dcterms:created>
  <dcterms:modified xsi:type="dcterms:W3CDTF">2026-09-28T07:28:28Z</dcterms:modified>
  <cp:category/>
</cp:coreProperties>
</file>